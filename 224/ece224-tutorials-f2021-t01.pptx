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7"/>
  </p:notesMasterIdLst>
  <p:handoutMasterIdLst>
    <p:handoutMasterId r:id="rId68"/>
  </p:handoutMasterIdLst>
  <p:sldIdLst>
    <p:sldId id="1382" r:id="rId2"/>
    <p:sldId id="1472" r:id="rId3"/>
    <p:sldId id="1473" r:id="rId4"/>
    <p:sldId id="1475" r:id="rId5"/>
    <p:sldId id="1474" r:id="rId6"/>
    <p:sldId id="1466" r:id="rId7"/>
    <p:sldId id="1467" r:id="rId8"/>
    <p:sldId id="1468" r:id="rId9"/>
    <p:sldId id="1469" r:id="rId10"/>
    <p:sldId id="1470" r:id="rId11"/>
    <p:sldId id="1471" r:id="rId12"/>
    <p:sldId id="1462" r:id="rId13"/>
    <p:sldId id="1444" r:id="rId14"/>
    <p:sldId id="1463" r:id="rId15"/>
    <p:sldId id="1464" r:id="rId16"/>
    <p:sldId id="1465" r:id="rId17"/>
    <p:sldId id="1406" r:id="rId18"/>
    <p:sldId id="1392" r:id="rId19"/>
    <p:sldId id="1407" r:id="rId20"/>
    <p:sldId id="1408" r:id="rId21"/>
    <p:sldId id="1409" r:id="rId22"/>
    <p:sldId id="1410" r:id="rId23"/>
    <p:sldId id="1411" r:id="rId24"/>
    <p:sldId id="1412" r:id="rId25"/>
    <p:sldId id="1413" r:id="rId26"/>
    <p:sldId id="1414" r:id="rId27"/>
    <p:sldId id="1415" r:id="rId28"/>
    <p:sldId id="1416" r:id="rId29"/>
    <p:sldId id="1417" r:id="rId30"/>
    <p:sldId id="1418" r:id="rId31"/>
    <p:sldId id="1419" r:id="rId32"/>
    <p:sldId id="1420" r:id="rId33"/>
    <p:sldId id="1421" r:id="rId34"/>
    <p:sldId id="1398" r:id="rId35"/>
    <p:sldId id="1423" r:id="rId36"/>
    <p:sldId id="1454" r:id="rId37"/>
    <p:sldId id="1455" r:id="rId38"/>
    <p:sldId id="1456" r:id="rId39"/>
    <p:sldId id="1399" r:id="rId40"/>
    <p:sldId id="1424" r:id="rId41"/>
    <p:sldId id="1425" r:id="rId42"/>
    <p:sldId id="1401" r:id="rId43"/>
    <p:sldId id="1426" r:id="rId44"/>
    <p:sldId id="1427" r:id="rId45"/>
    <p:sldId id="1428" r:id="rId46"/>
    <p:sldId id="1429" r:id="rId47"/>
    <p:sldId id="1430" r:id="rId48"/>
    <p:sldId id="1431" r:id="rId49"/>
    <p:sldId id="1432" r:id="rId50"/>
    <p:sldId id="1433" r:id="rId51"/>
    <p:sldId id="1435" r:id="rId52"/>
    <p:sldId id="1434" r:id="rId53"/>
    <p:sldId id="1445" r:id="rId54"/>
    <p:sldId id="1446" r:id="rId55"/>
    <p:sldId id="1447" r:id="rId56"/>
    <p:sldId id="1448" r:id="rId57"/>
    <p:sldId id="1400" r:id="rId58"/>
    <p:sldId id="1449" r:id="rId59"/>
    <p:sldId id="1450" r:id="rId60"/>
    <p:sldId id="1451" r:id="rId61"/>
    <p:sldId id="1452" r:id="rId62"/>
    <p:sldId id="1453" r:id="rId63"/>
    <p:sldId id="1397" r:id="rId64"/>
    <p:sldId id="1404" r:id="rId65"/>
    <p:sldId id="1405" r:id="rId66"/>
  </p:sldIdLst>
  <p:sldSz cx="9144000" cy="6858000" type="screen4x3"/>
  <p:notesSz cx="7315200" cy="9601200"/>
  <p:custDataLst>
    <p:tags r:id="rId69"/>
  </p:custDataLst>
  <p:defaultTextStyle>
    <a:defPPr>
      <a:defRPr lang="en-US"/>
    </a:defPPr>
    <a:lvl1pPr algn="l" rtl="0" fontAlgn="base">
      <a:spcBef>
        <a:spcPct val="0"/>
      </a:spcBef>
      <a:spcAft>
        <a:spcPct val="0"/>
      </a:spcAft>
      <a:defRPr sz="1400" kern="1200">
        <a:solidFill>
          <a:schemeClr val="tx1"/>
        </a:solidFill>
        <a:latin typeface="Times New Roman" pitchFamily="18" charset="0"/>
        <a:ea typeface="+mn-ea"/>
        <a:cs typeface="+mn-cs"/>
      </a:defRPr>
    </a:lvl1pPr>
    <a:lvl2pPr marL="457200" algn="l" rtl="0" fontAlgn="base">
      <a:spcBef>
        <a:spcPct val="0"/>
      </a:spcBef>
      <a:spcAft>
        <a:spcPct val="0"/>
      </a:spcAft>
      <a:defRPr sz="1400" kern="1200">
        <a:solidFill>
          <a:schemeClr val="tx1"/>
        </a:solidFill>
        <a:latin typeface="Times New Roman" pitchFamily="18" charset="0"/>
        <a:ea typeface="+mn-ea"/>
        <a:cs typeface="+mn-cs"/>
      </a:defRPr>
    </a:lvl2pPr>
    <a:lvl3pPr marL="914400" algn="l" rtl="0" fontAlgn="base">
      <a:spcBef>
        <a:spcPct val="0"/>
      </a:spcBef>
      <a:spcAft>
        <a:spcPct val="0"/>
      </a:spcAft>
      <a:defRPr sz="1400" kern="1200">
        <a:solidFill>
          <a:schemeClr val="tx1"/>
        </a:solidFill>
        <a:latin typeface="Times New Roman" pitchFamily="18" charset="0"/>
        <a:ea typeface="+mn-ea"/>
        <a:cs typeface="+mn-cs"/>
      </a:defRPr>
    </a:lvl3pPr>
    <a:lvl4pPr marL="1371600" algn="l" rtl="0" fontAlgn="base">
      <a:spcBef>
        <a:spcPct val="0"/>
      </a:spcBef>
      <a:spcAft>
        <a:spcPct val="0"/>
      </a:spcAft>
      <a:defRPr sz="1400" kern="1200">
        <a:solidFill>
          <a:schemeClr val="tx1"/>
        </a:solidFill>
        <a:latin typeface="Times New Roman" pitchFamily="18" charset="0"/>
        <a:ea typeface="+mn-ea"/>
        <a:cs typeface="+mn-cs"/>
      </a:defRPr>
    </a:lvl4pPr>
    <a:lvl5pPr marL="1828800" algn="l" rtl="0" fontAlgn="base">
      <a:spcBef>
        <a:spcPct val="0"/>
      </a:spcBef>
      <a:spcAft>
        <a:spcPct val="0"/>
      </a:spcAft>
      <a:defRPr sz="1400" kern="1200">
        <a:solidFill>
          <a:schemeClr val="tx1"/>
        </a:solidFill>
        <a:latin typeface="Times New Roman" pitchFamily="18" charset="0"/>
        <a:ea typeface="+mn-ea"/>
        <a:cs typeface="+mn-cs"/>
      </a:defRPr>
    </a:lvl5pPr>
    <a:lvl6pPr marL="2286000" algn="l" defTabSz="914400" rtl="0" eaLnBrk="1" latinLnBrk="0" hangingPunct="1">
      <a:defRPr sz="1400" kern="1200">
        <a:solidFill>
          <a:schemeClr val="tx1"/>
        </a:solidFill>
        <a:latin typeface="Times New Roman" pitchFamily="18" charset="0"/>
        <a:ea typeface="+mn-ea"/>
        <a:cs typeface="+mn-cs"/>
      </a:defRPr>
    </a:lvl6pPr>
    <a:lvl7pPr marL="2743200" algn="l" defTabSz="914400" rtl="0" eaLnBrk="1" latinLnBrk="0" hangingPunct="1">
      <a:defRPr sz="1400" kern="1200">
        <a:solidFill>
          <a:schemeClr val="tx1"/>
        </a:solidFill>
        <a:latin typeface="Times New Roman" pitchFamily="18" charset="0"/>
        <a:ea typeface="+mn-ea"/>
        <a:cs typeface="+mn-cs"/>
      </a:defRPr>
    </a:lvl7pPr>
    <a:lvl8pPr marL="3200400" algn="l" defTabSz="914400" rtl="0" eaLnBrk="1" latinLnBrk="0" hangingPunct="1">
      <a:defRPr sz="1400" kern="1200">
        <a:solidFill>
          <a:schemeClr val="tx1"/>
        </a:solidFill>
        <a:latin typeface="Times New Roman" pitchFamily="18" charset="0"/>
        <a:ea typeface="+mn-ea"/>
        <a:cs typeface="+mn-cs"/>
      </a:defRPr>
    </a:lvl8pPr>
    <a:lvl9pPr marL="3657600" algn="l" defTabSz="914400" rtl="0" eaLnBrk="1" latinLnBrk="0" hangingPunct="1">
      <a:defRPr sz="1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7979"/>
    <a:srgbClr val="0066CC"/>
    <a:srgbClr val="CCECFF"/>
    <a:srgbClr val="66CCFF"/>
    <a:srgbClr val="FF0000"/>
    <a:srgbClr val="0033CC"/>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17" autoAdjust="0"/>
  </p:normalViewPr>
  <p:slideViewPr>
    <p:cSldViewPr showGuides="1">
      <p:cViewPr varScale="1">
        <p:scale>
          <a:sx n="130" d="100"/>
          <a:sy n="130" d="100"/>
        </p:scale>
        <p:origin x="1056" y="126"/>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78948"/>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gs" Target="tags/tag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23970"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723971" name="Rectangle 3"/>
          <p:cNvSpPr>
            <a:spLocks noGrp="1" noChangeArrowheads="1"/>
          </p:cNvSpPr>
          <p:nvPr>
            <p:ph type="dt" sz="quarter" idx="1"/>
          </p:nvPr>
        </p:nvSpPr>
        <p:spPr bwMode="auto">
          <a:xfrm>
            <a:off x="4143375" y="0"/>
            <a:ext cx="3170238" cy="4794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723972" name="Rectangle 4"/>
          <p:cNvSpPr>
            <a:spLocks noGrp="1" noChangeArrowheads="1"/>
          </p:cNvSpPr>
          <p:nvPr>
            <p:ph type="ftr" sz="quarter" idx="2"/>
          </p:nvPr>
        </p:nvSpPr>
        <p:spPr bwMode="auto">
          <a:xfrm>
            <a:off x="0" y="9120188"/>
            <a:ext cx="3170238" cy="4794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723973" name="Rectangle 5"/>
          <p:cNvSpPr>
            <a:spLocks noGrp="1" noChangeArrowheads="1"/>
          </p:cNvSpPr>
          <p:nvPr>
            <p:ph type="sldNum" sz="quarter" idx="3"/>
          </p:nvPr>
        </p:nvSpPr>
        <p:spPr bwMode="auto">
          <a:xfrm>
            <a:off x="4143375" y="9120188"/>
            <a:ext cx="3170238" cy="4794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889BA068-2D56-4CAA-AAFA-C0750AD31546}" type="slidenum">
              <a:rPr lang="en-US"/>
              <a:pPr>
                <a:defRPr/>
              </a:pPr>
              <a:t>‹#›</a:t>
            </a:fld>
            <a:endParaRPr lang="en-US"/>
          </a:p>
        </p:txBody>
      </p:sp>
    </p:spTree>
    <p:extLst>
      <p:ext uri="{BB962C8B-B14F-4D97-AF65-F5344CB8AC3E}">
        <p14:creationId xmlns:p14="http://schemas.microsoft.com/office/powerpoint/2010/main" val="170114107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defTabSz="966788">
              <a:defRPr sz="1300"/>
            </a:lvl1pPr>
          </a:lstStyle>
          <a:p>
            <a:pPr>
              <a:defRPr/>
            </a:pPr>
            <a:endParaRPr lang="en-US"/>
          </a:p>
        </p:txBody>
      </p:sp>
      <p:sp>
        <p:nvSpPr>
          <p:cNvPr id="11267" name="Rectangle 3"/>
          <p:cNvSpPr>
            <a:spLocks noGrp="1" noChangeArrowheads="1"/>
          </p:cNvSpPr>
          <p:nvPr>
            <p:ph type="dt" idx="1"/>
          </p:nvPr>
        </p:nvSpPr>
        <p:spPr bwMode="auto">
          <a:xfrm>
            <a:off x="4143375"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defTabSz="966788">
              <a:defRPr sz="1300"/>
            </a:lvl1pPr>
          </a:lstStyle>
          <a:p>
            <a:pPr>
              <a:defRPr/>
            </a:pPr>
            <a:endParaRPr lang="en-US"/>
          </a:p>
        </p:txBody>
      </p:sp>
      <p:sp>
        <p:nvSpPr>
          <p:cNvPr id="568324"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p:spPr>
      </p:sp>
      <p:sp>
        <p:nvSpPr>
          <p:cNvPr id="11269" name="Rectangle 5"/>
          <p:cNvSpPr>
            <a:spLocks noGrp="1" noChangeArrowheads="1"/>
          </p:cNvSpPr>
          <p:nvPr>
            <p:ph type="body" sz="quarter" idx="3"/>
          </p:nvPr>
        </p:nvSpPr>
        <p:spPr bwMode="auto">
          <a:xfrm>
            <a:off x="731839" y="4560889"/>
            <a:ext cx="5851525" cy="4319587"/>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270" name="Rectangle 6"/>
          <p:cNvSpPr>
            <a:spLocks noGrp="1" noChangeArrowheads="1"/>
          </p:cNvSpPr>
          <p:nvPr>
            <p:ph type="ftr" sz="quarter" idx="4"/>
          </p:nvPr>
        </p:nvSpPr>
        <p:spPr bwMode="auto">
          <a:xfrm>
            <a:off x="0" y="9120188"/>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defTabSz="966788">
              <a:defRPr sz="1300"/>
            </a:lvl1pPr>
          </a:lstStyle>
          <a:p>
            <a:pPr>
              <a:defRPr/>
            </a:pPr>
            <a:endParaRPr lang="en-US"/>
          </a:p>
        </p:txBody>
      </p:sp>
      <p:sp>
        <p:nvSpPr>
          <p:cNvPr id="11271" name="Rectangle 7"/>
          <p:cNvSpPr>
            <a:spLocks noGrp="1" noChangeArrowheads="1"/>
          </p:cNvSpPr>
          <p:nvPr>
            <p:ph type="sldNum" sz="quarter" idx="5"/>
          </p:nvPr>
        </p:nvSpPr>
        <p:spPr bwMode="auto">
          <a:xfrm>
            <a:off x="4143375" y="9120188"/>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defTabSz="966788">
              <a:defRPr sz="1300"/>
            </a:lvl1pPr>
          </a:lstStyle>
          <a:p>
            <a:pPr>
              <a:defRPr/>
            </a:pPr>
            <a:fld id="{CAAE4489-E483-4701-872B-C98C7E5C753E}" type="slidenum">
              <a:rPr lang="en-US"/>
              <a:pPr>
                <a:defRPr/>
              </a:pPr>
              <a:t>‹#›</a:t>
            </a:fld>
            <a:endParaRPr lang="en-US"/>
          </a:p>
        </p:txBody>
      </p:sp>
    </p:spTree>
    <p:extLst>
      <p:ext uri="{BB962C8B-B14F-4D97-AF65-F5344CB8AC3E}">
        <p14:creationId xmlns:p14="http://schemas.microsoft.com/office/powerpoint/2010/main" val="4786455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pPr>
              <a:defRPr/>
            </a:pPr>
            <a:fld id="{CAAE4489-E483-4701-872B-C98C7E5C753E}" type="slidenum">
              <a:rPr lang="en-US" smtClean="0"/>
              <a:pPr>
                <a:defRPr/>
              </a:pPr>
              <a:t>1</a:t>
            </a:fld>
            <a:endParaRPr lang="en-US"/>
          </a:p>
        </p:txBody>
      </p:sp>
    </p:spTree>
    <p:extLst>
      <p:ext uri="{BB962C8B-B14F-4D97-AF65-F5344CB8AC3E}">
        <p14:creationId xmlns:p14="http://schemas.microsoft.com/office/powerpoint/2010/main" val="409925367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244" name="Rectangle 4"/>
          <p:cNvSpPr>
            <a:spLocks noGrp="1" noChangeArrowheads="1"/>
          </p:cNvSpPr>
          <p:nvPr>
            <p:ph type="ctrTitle"/>
          </p:nvPr>
        </p:nvSpPr>
        <p:spPr>
          <a:xfrm>
            <a:off x="685800" y="1219201"/>
            <a:ext cx="7772400" cy="1470025"/>
          </a:xfrm>
        </p:spPr>
        <p:txBody>
          <a:bodyPr/>
          <a:lstStyle>
            <a:lvl1pPr>
              <a:defRPr sz="3200" baseline="0">
                <a:solidFill>
                  <a:schemeClr val="accent6"/>
                </a:solidFill>
                <a:effectLst/>
              </a:defRPr>
            </a:lvl1pPr>
          </a:lstStyle>
          <a:p>
            <a:r>
              <a:rPr lang="en-US" dirty="0"/>
              <a:t>Click to edit Master title style</a:t>
            </a:r>
          </a:p>
        </p:txBody>
      </p:sp>
      <p:sp>
        <p:nvSpPr>
          <p:cNvPr id="10245" name="Rectangle 5"/>
          <p:cNvSpPr>
            <a:spLocks noGrp="1" noChangeArrowheads="1"/>
          </p:cNvSpPr>
          <p:nvPr>
            <p:ph type="subTitle" idx="1"/>
          </p:nvPr>
        </p:nvSpPr>
        <p:spPr>
          <a:xfrm>
            <a:off x="1295400" y="3048000"/>
            <a:ext cx="6477000" cy="1752600"/>
          </a:xfrm>
        </p:spPr>
        <p:txBody>
          <a:bodyPr/>
          <a:lstStyle>
            <a:lvl1pPr marL="0" indent="0" algn="ctr">
              <a:buFontTx/>
              <a:buNone/>
              <a:defRPr sz="2400" b="1">
                <a:effectLst/>
                <a:latin typeface="Calibri" pitchFamily="34" charset="0"/>
                <a:cs typeface="Gotham Medium" pitchFamily="50" charset="0"/>
              </a:defRPr>
            </a:lvl1pPr>
          </a:lstStyle>
          <a:p>
            <a:r>
              <a:rPr lang="en-US" dirty="0"/>
              <a:t>Click to edit Master subtitle style</a:t>
            </a:r>
          </a:p>
        </p:txBody>
      </p:sp>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627807" y="344666"/>
            <a:ext cx="3888386" cy="317143"/>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800">
                <a:solidFill>
                  <a:schemeClr val="accent6"/>
                </a:solidFill>
                <a:latin typeface="Calibri" pitchFamily="34" charset="0"/>
              </a:defRPr>
            </a:lvl1pPr>
          </a:lstStyle>
          <a:p>
            <a:r>
              <a:rPr lang="en-US" dirty="0"/>
              <a:t>Click to edit Master title style</a:t>
            </a:r>
          </a:p>
        </p:txBody>
      </p:sp>
      <p:sp>
        <p:nvSpPr>
          <p:cNvPr id="3" name="Content Placeholder 2"/>
          <p:cNvSpPr>
            <a:spLocks noGrp="1"/>
          </p:cNvSpPr>
          <p:nvPr>
            <p:ph idx="1"/>
          </p:nvPr>
        </p:nvSpPr>
        <p:spPr/>
        <p:txBody>
          <a:bodyPr/>
          <a:lstStyle>
            <a:lvl2pPr>
              <a:spcBef>
                <a:spcPts val="1200"/>
              </a:spcBef>
              <a:spcAft>
                <a:spcPts val="600"/>
              </a:spcAft>
              <a:defRPr/>
            </a:lvl2pPr>
            <a:lvl3pPr>
              <a:spcBef>
                <a:spcPts val="600"/>
              </a:spcBef>
              <a:spcAft>
                <a:spcPts val="600"/>
              </a:spcAft>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5"/>
          <p:cNvSpPr>
            <a:spLocks noGrp="1" noChangeArrowheads="1"/>
          </p:cNvSpPr>
          <p:nvPr>
            <p:ph type="ftr" sz="quarter" idx="10"/>
          </p:nvPr>
        </p:nvSpPr>
        <p:spPr>
          <a:ln/>
        </p:spPr>
        <p:txBody>
          <a:bodyPr/>
          <a:lstStyle>
            <a:lvl1pPr>
              <a:defRPr sz="1200">
                <a:solidFill>
                  <a:schemeClr val="accent6"/>
                </a:solidFill>
                <a:latin typeface="+mn-lt"/>
              </a:defRPr>
            </a:lvl1pPr>
          </a:lstStyle>
          <a:p>
            <a:pPr>
              <a:defRPr/>
            </a:pPr>
            <a:r>
              <a:rPr lang="fr-FR"/>
              <a:t>ECE 224 Tutorial</a:t>
            </a:r>
            <a:endParaRPr lang="en-US" dirty="0"/>
          </a:p>
        </p:txBody>
      </p:sp>
      <p:sp>
        <p:nvSpPr>
          <p:cNvPr id="5" name="Rectangle 6"/>
          <p:cNvSpPr>
            <a:spLocks noGrp="1" noChangeArrowheads="1"/>
          </p:cNvSpPr>
          <p:nvPr>
            <p:ph type="sldNum" sz="quarter" idx="11"/>
          </p:nvPr>
        </p:nvSpPr>
        <p:spPr>
          <a:ln/>
        </p:spPr>
        <p:txBody>
          <a:bodyPr/>
          <a:lstStyle>
            <a:lvl1pPr>
              <a:defRPr sz="1200">
                <a:solidFill>
                  <a:schemeClr val="accent6"/>
                </a:solidFill>
                <a:latin typeface="+mn-lt"/>
              </a:defRPr>
            </a:lvl1pPr>
          </a:lstStyle>
          <a:p>
            <a:pPr>
              <a:defRPr/>
            </a:pPr>
            <a:fld id="{72682330-DDB7-47C0-8BEC-295D3A41AB1F}" type="slidenum">
              <a:rPr lang="en-US" smtClean="0"/>
              <a:pPr>
                <a:defRPr/>
              </a:pPr>
              <a:t>‹#›</a:t>
            </a:fld>
            <a:endParaRPr lang="en-US" dirty="0"/>
          </a:p>
        </p:txBody>
      </p:sp>
      <p:sp>
        <p:nvSpPr>
          <p:cNvPr id="6" name="Rectangle 4"/>
          <p:cNvSpPr>
            <a:spLocks noGrp="1" noChangeArrowheads="1"/>
          </p:cNvSpPr>
          <p:nvPr>
            <p:ph type="dt" sz="half" idx="12"/>
          </p:nvPr>
        </p:nvSpPr>
        <p:spPr>
          <a:ln/>
        </p:spPr>
        <p:txBody>
          <a:bodyPr/>
          <a:lstStyle>
            <a:lvl1pPr>
              <a:defRPr sz="1200">
                <a:solidFill>
                  <a:schemeClr val="accent6"/>
                </a:solidFill>
                <a:latin typeface="+mn-lt"/>
              </a:defRPr>
            </a:lvl1pPr>
          </a:lstStyle>
          <a:p>
            <a:pPr>
              <a:defRPr/>
            </a:pPr>
            <a:r>
              <a:rPr lang="en-US"/>
              <a:t>Fall 2021</a:t>
            </a:r>
            <a:endParaRPr lang="en-CA"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solidFill>
                  <a:schemeClr val="accent6"/>
                </a:solidFill>
              </a:defRPr>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sp>
        <p:nvSpPr>
          <p:cNvPr id="4" name="Rectangle 5"/>
          <p:cNvSpPr>
            <a:spLocks noGrp="1" noChangeArrowheads="1"/>
          </p:cNvSpPr>
          <p:nvPr>
            <p:ph type="ftr" sz="quarter" idx="10"/>
          </p:nvPr>
        </p:nvSpPr>
        <p:spPr>
          <a:ln/>
        </p:spPr>
        <p:txBody>
          <a:bodyPr/>
          <a:lstStyle>
            <a:lvl1pPr>
              <a:defRPr b="0">
                <a:solidFill>
                  <a:schemeClr val="accent6"/>
                </a:solidFill>
              </a:defRPr>
            </a:lvl1pPr>
          </a:lstStyle>
          <a:p>
            <a:pPr>
              <a:defRPr/>
            </a:pPr>
            <a:r>
              <a:rPr lang="fr-FR"/>
              <a:t>ECE 224 Tutorial</a:t>
            </a:r>
            <a:endParaRPr lang="en-US" dirty="0"/>
          </a:p>
        </p:txBody>
      </p:sp>
      <p:sp>
        <p:nvSpPr>
          <p:cNvPr id="5" name="Rectangle 6"/>
          <p:cNvSpPr>
            <a:spLocks noGrp="1" noChangeArrowheads="1"/>
          </p:cNvSpPr>
          <p:nvPr>
            <p:ph type="sldNum" sz="quarter" idx="11"/>
          </p:nvPr>
        </p:nvSpPr>
        <p:spPr>
          <a:ln/>
        </p:spPr>
        <p:txBody>
          <a:bodyPr/>
          <a:lstStyle>
            <a:lvl1pPr>
              <a:defRPr>
                <a:solidFill>
                  <a:schemeClr val="accent6"/>
                </a:solidFill>
              </a:defRPr>
            </a:lvl1pPr>
          </a:lstStyle>
          <a:p>
            <a:pPr>
              <a:defRPr/>
            </a:pPr>
            <a:fld id="{DE9D14F1-B1A7-4418-9897-2DF4471C4C43}" type="slidenum">
              <a:rPr lang="en-US" smtClean="0"/>
              <a:pPr>
                <a:defRPr/>
              </a:pPr>
              <a:t>‹#›</a:t>
            </a:fld>
            <a:endParaRPr lang="en-US" dirty="0"/>
          </a:p>
        </p:txBody>
      </p:sp>
      <p:sp>
        <p:nvSpPr>
          <p:cNvPr id="6" name="Rectangle 4"/>
          <p:cNvSpPr>
            <a:spLocks noGrp="1" noChangeArrowheads="1"/>
          </p:cNvSpPr>
          <p:nvPr>
            <p:ph type="dt" sz="half" idx="12"/>
          </p:nvPr>
        </p:nvSpPr>
        <p:spPr>
          <a:ln/>
        </p:spPr>
        <p:txBody>
          <a:bodyPr/>
          <a:lstStyle>
            <a:lvl1pPr>
              <a:defRPr b="0">
                <a:solidFill>
                  <a:schemeClr val="accent6"/>
                </a:solidFill>
              </a:defRPr>
            </a:lvl1pPr>
          </a:lstStyle>
          <a:p>
            <a:pPr>
              <a:defRPr/>
            </a:pPr>
            <a:r>
              <a:rPr lang="en-US"/>
              <a:t>Fall 2021</a:t>
            </a:r>
            <a:endParaRPr lang="en-CA"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6"/>
                </a:solidFill>
              </a:defRPr>
            </a:lvl1pPr>
          </a:lstStyle>
          <a:p>
            <a:r>
              <a:rPr lang="en-US" dirty="0"/>
              <a:t>Click to edit Master title style</a:t>
            </a:r>
          </a:p>
        </p:txBody>
      </p:sp>
      <p:sp>
        <p:nvSpPr>
          <p:cNvPr id="3" name="Content Placeholder 2"/>
          <p:cNvSpPr>
            <a:spLocks noGrp="1"/>
          </p:cNvSpPr>
          <p:nvPr>
            <p:ph sz="half" idx="1"/>
          </p:nvPr>
        </p:nvSpPr>
        <p:spPr>
          <a:xfrm>
            <a:off x="304800" y="1066800"/>
            <a:ext cx="4191000" cy="5105400"/>
          </a:xfrm>
        </p:spPr>
        <p:txBody>
          <a:bodyPr/>
          <a:lstStyle>
            <a:lvl1pPr>
              <a:defRPr sz="2000"/>
            </a:lvl1pPr>
            <a:lvl2pPr>
              <a:defRPr sz="1800"/>
            </a:lvl2pPr>
            <a:lvl3pPr>
              <a:defRPr sz="1400"/>
            </a:lvl3pPr>
            <a:lvl4pPr>
              <a:defRPr sz="1400"/>
            </a:lvl4pPr>
            <a:lvl5pPr>
              <a:defRPr sz="14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066800"/>
            <a:ext cx="4191000" cy="5105400"/>
          </a:xfrm>
        </p:spPr>
        <p:txBody>
          <a:bodyPr/>
          <a:lstStyle>
            <a:lvl1pPr>
              <a:defRPr sz="2000"/>
            </a:lvl1pPr>
            <a:lvl2pPr>
              <a:defRPr sz="1800"/>
            </a:lvl2pPr>
            <a:lvl3pPr>
              <a:defRPr sz="1400"/>
            </a:lvl3pPr>
            <a:lvl4pPr>
              <a:defRPr sz="1400"/>
            </a:lvl4pPr>
            <a:lvl5pPr>
              <a:defRPr sz="14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5"/>
          <p:cNvSpPr>
            <a:spLocks noGrp="1" noChangeArrowheads="1"/>
          </p:cNvSpPr>
          <p:nvPr>
            <p:ph type="ftr" sz="quarter" idx="10"/>
          </p:nvPr>
        </p:nvSpPr>
        <p:spPr>
          <a:ln/>
        </p:spPr>
        <p:txBody>
          <a:bodyPr/>
          <a:lstStyle>
            <a:lvl1pPr>
              <a:defRPr>
                <a:solidFill>
                  <a:schemeClr val="accent6"/>
                </a:solidFill>
              </a:defRPr>
            </a:lvl1pPr>
          </a:lstStyle>
          <a:p>
            <a:pPr>
              <a:defRPr/>
            </a:pPr>
            <a:r>
              <a:rPr lang="fr-FR"/>
              <a:t>ECE 224 Tutorial</a:t>
            </a:r>
            <a:endParaRPr lang="en-US" dirty="0"/>
          </a:p>
        </p:txBody>
      </p:sp>
      <p:sp>
        <p:nvSpPr>
          <p:cNvPr id="6" name="Rectangle 6"/>
          <p:cNvSpPr>
            <a:spLocks noGrp="1" noChangeArrowheads="1"/>
          </p:cNvSpPr>
          <p:nvPr>
            <p:ph type="sldNum" sz="quarter" idx="11"/>
          </p:nvPr>
        </p:nvSpPr>
        <p:spPr>
          <a:ln/>
        </p:spPr>
        <p:txBody>
          <a:bodyPr/>
          <a:lstStyle>
            <a:lvl1pPr>
              <a:defRPr>
                <a:solidFill>
                  <a:schemeClr val="accent6"/>
                </a:solidFill>
              </a:defRPr>
            </a:lvl1pPr>
          </a:lstStyle>
          <a:p>
            <a:pPr>
              <a:defRPr/>
            </a:pPr>
            <a:fld id="{D87C2277-AF9F-43F8-BB3A-5FDDC694E9A3}" type="slidenum">
              <a:rPr lang="en-US" smtClean="0"/>
              <a:pPr>
                <a:defRPr/>
              </a:pPr>
              <a:t>‹#›</a:t>
            </a:fld>
            <a:endParaRPr lang="en-US" dirty="0"/>
          </a:p>
        </p:txBody>
      </p:sp>
      <p:sp>
        <p:nvSpPr>
          <p:cNvPr id="7" name="Rectangle 4"/>
          <p:cNvSpPr>
            <a:spLocks noGrp="1" noChangeArrowheads="1"/>
          </p:cNvSpPr>
          <p:nvPr>
            <p:ph type="dt" sz="half" idx="12"/>
          </p:nvPr>
        </p:nvSpPr>
        <p:spPr>
          <a:ln/>
        </p:spPr>
        <p:txBody>
          <a:bodyPr/>
          <a:lstStyle>
            <a:lvl1pPr>
              <a:defRPr>
                <a:solidFill>
                  <a:schemeClr val="accent6"/>
                </a:solidFill>
              </a:defRPr>
            </a:lvl1pPr>
          </a:lstStyle>
          <a:p>
            <a:pPr>
              <a:defRPr/>
            </a:pPr>
            <a:r>
              <a:rPr lang="en-US"/>
              <a:t>Fall 2021</a:t>
            </a:r>
            <a:endParaRPr lang="en-CA"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6"/>
                </a:solidFill>
              </a:defRPr>
            </a:lvl1pPr>
          </a:lstStyle>
          <a:p>
            <a:r>
              <a:rPr lang="en-US" dirty="0"/>
              <a:t>Click to edit Master title style</a:t>
            </a:r>
          </a:p>
        </p:txBody>
      </p:sp>
      <p:sp>
        <p:nvSpPr>
          <p:cNvPr id="3" name="Rectangle 5"/>
          <p:cNvSpPr>
            <a:spLocks noGrp="1" noChangeArrowheads="1"/>
          </p:cNvSpPr>
          <p:nvPr>
            <p:ph type="ftr" sz="quarter" idx="10"/>
          </p:nvPr>
        </p:nvSpPr>
        <p:spPr>
          <a:ln/>
        </p:spPr>
        <p:txBody>
          <a:bodyPr/>
          <a:lstStyle>
            <a:lvl1pPr>
              <a:defRPr>
                <a:solidFill>
                  <a:schemeClr val="accent6"/>
                </a:solidFill>
              </a:defRPr>
            </a:lvl1pPr>
          </a:lstStyle>
          <a:p>
            <a:pPr>
              <a:defRPr/>
            </a:pPr>
            <a:r>
              <a:rPr lang="fr-FR"/>
              <a:t>ECE 224 Tutorial</a:t>
            </a:r>
            <a:endParaRPr lang="en-US" dirty="0"/>
          </a:p>
        </p:txBody>
      </p:sp>
      <p:sp>
        <p:nvSpPr>
          <p:cNvPr id="4" name="Rectangle 6"/>
          <p:cNvSpPr>
            <a:spLocks noGrp="1" noChangeArrowheads="1"/>
          </p:cNvSpPr>
          <p:nvPr>
            <p:ph type="sldNum" sz="quarter" idx="11"/>
          </p:nvPr>
        </p:nvSpPr>
        <p:spPr>
          <a:ln/>
        </p:spPr>
        <p:txBody>
          <a:bodyPr/>
          <a:lstStyle>
            <a:lvl1pPr>
              <a:defRPr>
                <a:solidFill>
                  <a:schemeClr val="accent6"/>
                </a:solidFill>
              </a:defRPr>
            </a:lvl1pPr>
          </a:lstStyle>
          <a:p>
            <a:pPr>
              <a:defRPr/>
            </a:pPr>
            <a:fld id="{89022FAB-E9B4-4184-AA05-727FDA5952A5}" type="slidenum">
              <a:rPr lang="en-US" smtClean="0"/>
              <a:pPr>
                <a:defRPr/>
              </a:pPr>
              <a:t>‹#›</a:t>
            </a:fld>
            <a:endParaRPr lang="en-US" dirty="0"/>
          </a:p>
        </p:txBody>
      </p:sp>
      <p:sp>
        <p:nvSpPr>
          <p:cNvPr id="5" name="Rectangle 4"/>
          <p:cNvSpPr>
            <a:spLocks noGrp="1" noChangeArrowheads="1"/>
          </p:cNvSpPr>
          <p:nvPr>
            <p:ph type="dt" sz="half" idx="12"/>
          </p:nvPr>
        </p:nvSpPr>
        <p:spPr>
          <a:ln/>
        </p:spPr>
        <p:txBody>
          <a:bodyPr/>
          <a:lstStyle>
            <a:lvl1pPr>
              <a:defRPr>
                <a:solidFill>
                  <a:schemeClr val="accent6"/>
                </a:solidFill>
              </a:defRPr>
            </a:lvl1pPr>
          </a:lstStyle>
          <a:p>
            <a:pPr>
              <a:defRPr/>
            </a:pPr>
            <a:r>
              <a:rPr lang="en-US"/>
              <a:t>Fall 2021</a:t>
            </a:r>
            <a:endParaRPr lang="en-CA"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solidFill>
                  <a:schemeClr val="accent6"/>
                </a:solidFill>
              </a:defRPr>
            </a:lvl1pPr>
          </a:lstStyle>
          <a:p>
            <a:pPr>
              <a:defRPr/>
            </a:pPr>
            <a:r>
              <a:rPr lang="fr-FR"/>
              <a:t>ECE 224 Tutorial</a:t>
            </a:r>
            <a:endParaRPr lang="en-US" dirty="0"/>
          </a:p>
        </p:txBody>
      </p:sp>
      <p:sp>
        <p:nvSpPr>
          <p:cNvPr id="3" name="Rectangle 6"/>
          <p:cNvSpPr>
            <a:spLocks noGrp="1" noChangeArrowheads="1"/>
          </p:cNvSpPr>
          <p:nvPr>
            <p:ph type="sldNum" sz="quarter" idx="11"/>
          </p:nvPr>
        </p:nvSpPr>
        <p:spPr>
          <a:ln/>
        </p:spPr>
        <p:txBody>
          <a:bodyPr/>
          <a:lstStyle>
            <a:lvl1pPr>
              <a:defRPr>
                <a:solidFill>
                  <a:schemeClr val="accent6"/>
                </a:solidFill>
              </a:defRPr>
            </a:lvl1pPr>
          </a:lstStyle>
          <a:p>
            <a:pPr>
              <a:defRPr/>
            </a:pPr>
            <a:fld id="{84D695AA-B276-4DB6-82D9-604C25277B59}" type="slidenum">
              <a:rPr lang="en-US" smtClean="0"/>
              <a:pPr>
                <a:defRPr/>
              </a:pPr>
              <a:t>‹#›</a:t>
            </a:fld>
            <a:endParaRPr lang="en-US" dirty="0"/>
          </a:p>
        </p:txBody>
      </p:sp>
      <p:sp>
        <p:nvSpPr>
          <p:cNvPr id="4" name="Rectangle 4"/>
          <p:cNvSpPr>
            <a:spLocks noGrp="1" noChangeArrowheads="1"/>
          </p:cNvSpPr>
          <p:nvPr>
            <p:ph type="dt" sz="half" idx="12"/>
          </p:nvPr>
        </p:nvSpPr>
        <p:spPr>
          <a:ln/>
        </p:spPr>
        <p:txBody>
          <a:bodyPr/>
          <a:lstStyle>
            <a:lvl1pPr>
              <a:defRPr>
                <a:solidFill>
                  <a:schemeClr val="accent6"/>
                </a:solidFill>
              </a:defRPr>
            </a:lvl1pPr>
          </a:lstStyle>
          <a:p>
            <a:pPr>
              <a:defRPr/>
            </a:pPr>
            <a:r>
              <a:rPr lang="en-US"/>
              <a:t>Fall 2021</a:t>
            </a:r>
            <a:endParaRPr lang="en-CA"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534400" cy="609600"/>
          </a:xfrm>
        </p:spPr>
        <p:txBody>
          <a:bodyPr/>
          <a:lstStyle>
            <a:lvl1pPr>
              <a:defRPr>
                <a:solidFill>
                  <a:schemeClr val="accent6"/>
                </a:solidFill>
              </a:defRPr>
            </a:lvl1pPr>
          </a:lstStyle>
          <a:p>
            <a:r>
              <a:rPr lang="en-US" dirty="0"/>
              <a:t>Click to edit Master title style</a:t>
            </a:r>
          </a:p>
        </p:txBody>
      </p:sp>
      <p:sp>
        <p:nvSpPr>
          <p:cNvPr id="3" name="Table Placeholder 2"/>
          <p:cNvSpPr>
            <a:spLocks noGrp="1"/>
          </p:cNvSpPr>
          <p:nvPr>
            <p:ph type="tbl" idx="1"/>
          </p:nvPr>
        </p:nvSpPr>
        <p:spPr>
          <a:xfrm>
            <a:off x="304800" y="1066800"/>
            <a:ext cx="8534400" cy="5105400"/>
          </a:xfrm>
        </p:spPr>
        <p:txBody>
          <a:bodyPr/>
          <a:lstStyle/>
          <a:p>
            <a:pPr lvl="0"/>
            <a:endParaRPr lang="en-US" noProof="0"/>
          </a:p>
        </p:txBody>
      </p:sp>
      <p:sp>
        <p:nvSpPr>
          <p:cNvPr id="4" name="Rectangle 5"/>
          <p:cNvSpPr>
            <a:spLocks noGrp="1" noChangeArrowheads="1"/>
          </p:cNvSpPr>
          <p:nvPr>
            <p:ph type="ftr" sz="quarter" idx="10"/>
          </p:nvPr>
        </p:nvSpPr>
        <p:spPr>
          <a:ln/>
        </p:spPr>
        <p:txBody>
          <a:bodyPr/>
          <a:lstStyle>
            <a:lvl1pPr>
              <a:defRPr>
                <a:solidFill>
                  <a:schemeClr val="accent6"/>
                </a:solidFill>
              </a:defRPr>
            </a:lvl1pPr>
          </a:lstStyle>
          <a:p>
            <a:pPr>
              <a:defRPr/>
            </a:pPr>
            <a:r>
              <a:rPr lang="fr-FR"/>
              <a:t>ECE 224 Tutorial</a:t>
            </a:r>
            <a:endParaRPr lang="en-US" dirty="0"/>
          </a:p>
        </p:txBody>
      </p:sp>
      <p:sp>
        <p:nvSpPr>
          <p:cNvPr id="5" name="Rectangle 6"/>
          <p:cNvSpPr>
            <a:spLocks noGrp="1" noChangeArrowheads="1"/>
          </p:cNvSpPr>
          <p:nvPr>
            <p:ph type="sldNum" sz="quarter" idx="11"/>
          </p:nvPr>
        </p:nvSpPr>
        <p:spPr>
          <a:ln/>
        </p:spPr>
        <p:txBody>
          <a:bodyPr/>
          <a:lstStyle>
            <a:lvl1pPr>
              <a:defRPr>
                <a:solidFill>
                  <a:schemeClr val="accent6"/>
                </a:solidFill>
              </a:defRPr>
            </a:lvl1pPr>
          </a:lstStyle>
          <a:p>
            <a:pPr>
              <a:defRPr/>
            </a:pPr>
            <a:fld id="{140FC23E-14FC-4DE4-AA20-1C420702021B}" type="slidenum">
              <a:rPr lang="en-US" smtClean="0"/>
              <a:pPr>
                <a:defRPr/>
              </a:pPr>
              <a:t>‹#›</a:t>
            </a:fld>
            <a:endParaRPr lang="en-US" dirty="0"/>
          </a:p>
        </p:txBody>
      </p:sp>
      <p:sp>
        <p:nvSpPr>
          <p:cNvPr id="6" name="Rectangle 4"/>
          <p:cNvSpPr>
            <a:spLocks noGrp="1" noChangeArrowheads="1"/>
          </p:cNvSpPr>
          <p:nvPr>
            <p:ph type="dt" sz="half" idx="12"/>
          </p:nvPr>
        </p:nvSpPr>
        <p:spPr>
          <a:ln/>
        </p:spPr>
        <p:txBody>
          <a:bodyPr/>
          <a:lstStyle>
            <a:lvl1pPr>
              <a:defRPr>
                <a:solidFill>
                  <a:schemeClr val="accent6"/>
                </a:solidFill>
              </a:defRPr>
            </a:lvl1pPr>
          </a:lstStyle>
          <a:p>
            <a:pPr>
              <a:defRPr/>
            </a:pPr>
            <a:r>
              <a:rPr lang="en-US"/>
              <a:t>Fall 2021</a:t>
            </a:r>
            <a:endParaRPr lang="en-CA"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534400" cy="609600"/>
          </a:xfrm>
        </p:spPr>
        <p:txBody>
          <a:bodyPr/>
          <a:lstStyle>
            <a:lvl1pPr>
              <a:defRPr>
                <a:solidFill>
                  <a:schemeClr val="accent6"/>
                </a:solidFill>
              </a:defRPr>
            </a:lvl1pPr>
          </a:lstStyle>
          <a:p>
            <a:r>
              <a:rPr lang="en-US" dirty="0"/>
              <a:t>Click to edit Master title style</a:t>
            </a:r>
          </a:p>
        </p:txBody>
      </p:sp>
      <p:sp>
        <p:nvSpPr>
          <p:cNvPr id="3" name="Text Placeholder 2"/>
          <p:cNvSpPr>
            <a:spLocks noGrp="1"/>
          </p:cNvSpPr>
          <p:nvPr>
            <p:ph type="body" sz="half" idx="1"/>
          </p:nvPr>
        </p:nvSpPr>
        <p:spPr>
          <a:xfrm>
            <a:off x="304800" y="1066800"/>
            <a:ext cx="41910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066800"/>
            <a:ext cx="41910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0"/>
          </p:nvPr>
        </p:nvSpPr>
        <p:spPr>
          <a:ln/>
        </p:spPr>
        <p:txBody>
          <a:bodyPr/>
          <a:lstStyle>
            <a:lvl1pPr>
              <a:defRPr>
                <a:solidFill>
                  <a:schemeClr val="accent6"/>
                </a:solidFill>
              </a:defRPr>
            </a:lvl1pPr>
          </a:lstStyle>
          <a:p>
            <a:pPr>
              <a:defRPr/>
            </a:pPr>
            <a:r>
              <a:rPr lang="fr-FR"/>
              <a:t>ECE 224 Tutorial</a:t>
            </a:r>
            <a:endParaRPr lang="en-US" dirty="0"/>
          </a:p>
        </p:txBody>
      </p:sp>
      <p:sp>
        <p:nvSpPr>
          <p:cNvPr id="6" name="Rectangle 6"/>
          <p:cNvSpPr>
            <a:spLocks noGrp="1" noChangeArrowheads="1"/>
          </p:cNvSpPr>
          <p:nvPr>
            <p:ph type="sldNum" sz="quarter" idx="11"/>
          </p:nvPr>
        </p:nvSpPr>
        <p:spPr>
          <a:ln/>
        </p:spPr>
        <p:txBody>
          <a:bodyPr/>
          <a:lstStyle>
            <a:lvl1pPr>
              <a:defRPr>
                <a:solidFill>
                  <a:schemeClr val="accent6"/>
                </a:solidFill>
              </a:defRPr>
            </a:lvl1pPr>
          </a:lstStyle>
          <a:p>
            <a:pPr>
              <a:defRPr/>
            </a:pPr>
            <a:fld id="{96BF1B5D-7A01-4D88-8FA7-C781439A4369}" type="slidenum">
              <a:rPr lang="en-US" smtClean="0"/>
              <a:pPr>
                <a:defRPr/>
              </a:pPr>
              <a:t>‹#›</a:t>
            </a:fld>
            <a:endParaRPr lang="en-US" dirty="0"/>
          </a:p>
        </p:txBody>
      </p:sp>
      <p:sp>
        <p:nvSpPr>
          <p:cNvPr id="7" name="Rectangle 4"/>
          <p:cNvSpPr>
            <a:spLocks noGrp="1" noChangeArrowheads="1"/>
          </p:cNvSpPr>
          <p:nvPr>
            <p:ph type="dt" sz="half" idx="12"/>
          </p:nvPr>
        </p:nvSpPr>
        <p:spPr>
          <a:ln/>
        </p:spPr>
        <p:txBody>
          <a:bodyPr/>
          <a:lstStyle>
            <a:lvl1pPr>
              <a:defRPr>
                <a:solidFill>
                  <a:schemeClr val="accent6"/>
                </a:solidFill>
              </a:defRPr>
            </a:lvl1pPr>
          </a:lstStyle>
          <a:p>
            <a:pPr>
              <a:defRPr/>
            </a:pPr>
            <a:r>
              <a:rPr lang="en-US"/>
              <a:t>Fall 2021</a:t>
            </a:r>
            <a:endParaRPr lang="en-CA"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534400" cy="609600"/>
          </a:xfrm>
        </p:spPr>
        <p:txBody>
          <a:bodyPr/>
          <a:lstStyle>
            <a:lvl1pPr>
              <a:defRPr>
                <a:solidFill>
                  <a:schemeClr val="accent6"/>
                </a:solidFill>
              </a:defRPr>
            </a:lvl1pPr>
          </a:lstStyle>
          <a:p>
            <a:r>
              <a:rPr lang="en-US" dirty="0"/>
              <a:t>Click to edit Master title style</a:t>
            </a:r>
          </a:p>
        </p:txBody>
      </p:sp>
      <p:sp>
        <p:nvSpPr>
          <p:cNvPr id="3" name="Text Placeholder 2"/>
          <p:cNvSpPr>
            <a:spLocks noGrp="1"/>
          </p:cNvSpPr>
          <p:nvPr>
            <p:ph type="body" sz="half" idx="1"/>
          </p:nvPr>
        </p:nvSpPr>
        <p:spPr>
          <a:xfrm>
            <a:off x="304800" y="1066800"/>
            <a:ext cx="41910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066801"/>
            <a:ext cx="4191000" cy="2476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695701"/>
            <a:ext cx="4191000" cy="24765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p:cNvSpPr>
            <a:spLocks noGrp="1" noChangeArrowheads="1"/>
          </p:cNvSpPr>
          <p:nvPr>
            <p:ph type="ftr" sz="quarter" idx="10"/>
          </p:nvPr>
        </p:nvSpPr>
        <p:spPr>
          <a:ln/>
        </p:spPr>
        <p:txBody>
          <a:bodyPr/>
          <a:lstStyle>
            <a:lvl1pPr>
              <a:defRPr>
                <a:solidFill>
                  <a:schemeClr val="accent6"/>
                </a:solidFill>
              </a:defRPr>
            </a:lvl1pPr>
          </a:lstStyle>
          <a:p>
            <a:pPr>
              <a:defRPr/>
            </a:pPr>
            <a:r>
              <a:rPr lang="fr-FR"/>
              <a:t>ECE 224 Tutorial</a:t>
            </a:r>
            <a:endParaRPr lang="en-US" dirty="0"/>
          </a:p>
        </p:txBody>
      </p:sp>
      <p:sp>
        <p:nvSpPr>
          <p:cNvPr id="7" name="Rectangle 6"/>
          <p:cNvSpPr>
            <a:spLocks noGrp="1" noChangeArrowheads="1"/>
          </p:cNvSpPr>
          <p:nvPr>
            <p:ph type="sldNum" sz="quarter" idx="11"/>
          </p:nvPr>
        </p:nvSpPr>
        <p:spPr>
          <a:ln/>
        </p:spPr>
        <p:txBody>
          <a:bodyPr/>
          <a:lstStyle>
            <a:lvl1pPr>
              <a:defRPr>
                <a:solidFill>
                  <a:schemeClr val="accent6"/>
                </a:solidFill>
              </a:defRPr>
            </a:lvl1pPr>
          </a:lstStyle>
          <a:p>
            <a:pPr>
              <a:defRPr/>
            </a:pPr>
            <a:fld id="{2449B8FF-FDA0-4B13-A487-D32D4ACD7A19}" type="slidenum">
              <a:rPr lang="en-US" smtClean="0"/>
              <a:pPr>
                <a:defRPr/>
              </a:pPr>
              <a:t>‹#›</a:t>
            </a:fld>
            <a:endParaRPr lang="en-US" dirty="0"/>
          </a:p>
        </p:txBody>
      </p:sp>
      <p:sp>
        <p:nvSpPr>
          <p:cNvPr id="8" name="Rectangle 4"/>
          <p:cNvSpPr>
            <a:spLocks noGrp="1" noChangeArrowheads="1"/>
          </p:cNvSpPr>
          <p:nvPr>
            <p:ph type="dt" sz="half" idx="12"/>
          </p:nvPr>
        </p:nvSpPr>
        <p:spPr>
          <a:ln/>
        </p:spPr>
        <p:txBody>
          <a:bodyPr/>
          <a:lstStyle>
            <a:lvl1pPr>
              <a:defRPr>
                <a:solidFill>
                  <a:schemeClr val="accent6"/>
                </a:solidFill>
              </a:defRPr>
            </a:lvl1pPr>
          </a:lstStyle>
          <a:p>
            <a:pPr>
              <a:defRPr/>
            </a:pPr>
            <a:r>
              <a:rPr lang="en-US"/>
              <a:t>Fall 2021</a:t>
            </a:r>
            <a:endParaRPr lang="en-CA"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04800" y="152400"/>
            <a:ext cx="8534400" cy="6096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2052" name="Rectangle 3"/>
          <p:cNvSpPr>
            <a:spLocks noGrp="1" noChangeArrowheads="1"/>
          </p:cNvSpPr>
          <p:nvPr>
            <p:ph type="body" idx="1"/>
          </p:nvPr>
        </p:nvSpPr>
        <p:spPr bwMode="auto">
          <a:xfrm>
            <a:off x="304800" y="1066800"/>
            <a:ext cx="8534400" cy="5105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29" name="Rectangle 5"/>
          <p:cNvSpPr>
            <a:spLocks noGrp="1" noChangeArrowheads="1"/>
          </p:cNvSpPr>
          <p:nvPr>
            <p:ph type="ftr" sz="quarter" idx="3"/>
          </p:nvPr>
        </p:nvSpPr>
        <p:spPr bwMode="auto">
          <a:xfrm>
            <a:off x="1524000" y="6400800"/>
            <a:ext cx="6096000" cy="22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200" b="0">
                <a:solidFill>
                  <a:schemeClr val="accent6"/>
                </a:solidFill>
                <a:effectLst/>
                <a:latin typeface="+mn-lt"/>
                <a:cs typeface="Gotham Medium" pitchFamily="50" charset="0"/>
              </a:defRPr>
            </a:lvl1pPr>
          </a:lstStyle>
          <a:p>
            <a:pPr>
              <a:defRPr/>
            </a:pPr>
            <a:r>
              <a:rPr lang="fr-FR"/>
              <a:t>ECE 224 Tutorial</a:t>
            </a:r>
            <a:endParaRPr lang="en-US" dirty="0"/>
          </a:p>
        </p:txBody>
      </p:sp>
      <p:sp>
        <p:nvSpPr>
          <p:cNvPr id="1030" name="Rectangle 6"/>
          <p:cNvSpPr>
            <a:spLocks noGrp="1" noChangeArrowheads="1"/>
          </p:cNvSpPr>
          <p:nvPr>
            <p:ph type="sldNum" sz="quarter" idx="4"/>
          </p:nvPr>
        </p:nvSpPr>
        <p:spPr bwMode="auto">
          <a:xfrm>
            <a:off x="7772400" y="6400800"/>
            <a:ext cx="1143000" cy="22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solidFill>
                  <a:schemeClr val="accent6"/>
                </a:solidFill>
                <a:effectLst/>
                <a:latin typeface="+mn-lt"/>
                <a:cs typeface="Gotham Medium" pitchFamily="50" charset="0"/>
              </a:defRPr>
            </a:lvl1pPr>
          </a:lstStyle>
          <a:p>
            <a:pPr>
              <a:defRPr/>
            </a:pPr>
            <a:fld id="{9EE68383-ED6A-4BA3-9535-6A12D690676D}" type="slidenum">
              <a:rPr lang="en-US" smtClean="0"/>
              <a:pPr>
                <a:defRPr/>
              </a:pPr>
              <a:t>‹#›</a:t>
            </a:fld>
            <a:endParaRPr lang="en-US" dirty="0"/>
          </a:p>
        </p:txBody>
      </p:sp>
      <p:sp>
        <p:nvSpPr>
          <p:cNvPr id="1028" name="Rectangle 4"/>
          <p:cNvSpPr>
            <a:spLocks noGrp="1" noChangeArrowheads="1"/>
          </p:cNvSpPr>
          <p:nvPr>
            <p:ph type="dt" sz="half" idx="2"/>
          </p:nvPr>
        </p:nvSpPr>
        <p:spPr bwMode="auto">
          <a:xfrm>
            <a:off x="228600" y="6400800"/>
            <a:ext cx="1600200" cy="22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b="0">
                <a:solidFill>
                  <a:schemeClr val="accent6"/>
                </a:solidFill>
                <a:effectLst/>
                <a:latin typeface="+mn-lt"/>
                <a:cs typeface="Gotham Medium" pitchFamily="50" charset="0"/>
              </a:defRPr>
            </a:lvl1pPr>
          </a:lstStyle>
          <a:p>
            <a:pPr>
              <a:defRPr/>
            </a:pPr>
            <a:r>
              <a:rPr lang="en-US"/>
              <a:t>Fall 2021</a:t>
            </a:r>
            <a:endParaRPr lang="en-CA" dirty="0"/>
          </a:p>
        </p:txBody>
      </p:sp>
      <p:sp>
        <p:nvSpPr>
          <p:cNvPr id="1037" name="Line 13"/>
          <p:cNvSpPr>
            <a:spLocks noChangeShapeType="1"/>
          </p:cNvSpPr>
          <p:nvPr userDrawn="1"/>
        </p:nvSpPr>
        <p:spPr bwMode="auto">
          <a:xfrm>
            <a:off x="304800" y="838200"/>
            <a:ext cx="8534400" cy="0"/>
          </a:xfrm>
          <a:prstGeom prst="line">
            <a:avLst/>
          </a:prstGeom>
          <a:noFill/>
          <a:ln w="28575">
            <a:solidFill>
              <a:schemeClr val="accent6"/>
            </a:solidFill>
            <a:round/>
            <a:headEnd/>
            <a:tailEnd/>
          </a:ln>
          <a:effectLst/>
        </p:spPr>
        <p:txBody>
          <a:bodyPr/>
          <a:lstStyle/>
          <a:p>
            <a:pPr>
              <a:defRPr/>
            </a:pPr>
            <a:endParaRPr lang="en-US"/>
          </a:p>
        </p:txBody>
      </p:sp>
      <p:sp>
        <p:nvSpPr>
          <p:cNvPr id="1038" name="Text Box 14"/>
          <p:cNvSpPr txBox="1">
            <a:spLocks noChangeArrowheads="1"/>
          </p:cNvSpPr>
          <p:nvPr userDrawn="1"/>
        </p:nvSpPr>
        <p:spPr bwMode="auto">
          <a:xfrm rot="16200000">
            <a:off x="5730082" y="3305099"/>
            <a:ext cx="6554787" cy="246221"/>
          </a:xfrm>
          <a:prstGeom prst="rect">
            <a:avLst/>
          </a:prstGeom>
          <a:noFill/>
          <a:ln w="9525">
            <a:noFill/>
            <a:miter lim="800000"/>
            <a:headEnd/>
            <a:tailEnd/>
          </a:ln>
          <a:effectLst/>
        </p:spPr>
        <p:txBody>
          <a:bodyPr>
            <a:spAutoFit/>
          </a:bodyPr>
          <a:lstStyle/>
          <a:p>
            <a:pPr algn="ctr">
              <a:spcBef>
                <a:spcPct val="50000"/>
              </a:spcBef>
              <a:defRPr/>
            </a:pPr>
            <a:r>
              <a:rPr lang="en-US" sz="1000" b="0" dirty="0">
                <a:effectLst/>
                <a:latin typeface="+mn-lt"/>
                <a:cs typeface="Gotham Medium" pitchFamily="50" charset="0"/>
              </a:rPr>
              <a:t>Copyright © 2021</a:t>
            </a:r>
            <a:r>
              <a:rPr lang="en-US" sz="1000" b="0" baseline="0" dirty="0">
                <a:effectLst/>
                <a:latin typeface="+mn-lt"/>
                <a:cs typeface="Gotham Medium" pitchFamily="50" charset="0"/>
              </a:rPr>
              <a:t> </a:t>
            </a:r>
            <a:r>
              <a:rPr lang="en-US" sz="1000" b="0" dirty="0">
                <a:effectLst/>
                <a:latin typeface="+mn-lt"/>
                <a:cs typeface="Gotham Medium" pitchFamily="50" charset="0"/>
              </a:rPr>
              <a:t>by William D. Bishop. All Rights Reserved</a:t>
            </a:r>
          </a:p>
        </p:txBody>
      </p:sp>
    </p:spTree>
  </p:cSld>
  <p:clrMap bg1="lt1" tx1="dk1" bg2="lt2" tx2="dk2" accent1="accent1" accent2="accent2" accent3="accent3" accent4="accent4" accent5="accent5" accent6="accent6" hlink="hlink" folHlink="folHlink"/>
  <p:sldLayoutIdLst>
    <p:sldLayoutId id="2147483752" r:id="rId1"/>
    <p:sldLayoutId id="2147483739" r:id="rId2"/>
    <p:sldLayoutId id="2147483740" r:id="rId3"/>
    <p:sldLayoutId id="2147483741" r:id="rId4"/>
    <p:sldLayoutId id="2147483743" r:id="rId5"/>
    <p:sldLayoutId id="2147483744" r:id="rId6"/>
    <p:sldLayoutId id="2147483749" r:id="rId7"/>
    <p:sldLayoutId id="2147483750" r:id="rId8"/>
    <p:sldLayoutId id="2147483751" r:id="rId9"/>
  </p:sldLayoutIdLst>
  <p:hf hdr="0"/>
  <p:txStyles>
    <p:titleStyle>
      <a:lvl1pPr algn="ctr" rtl="0" eaLnBrk="0" fontAlgn="base" hangingPunct="0">
        <a:spcBef>
          <a:spcPct val="0"/>
        </a:spcBef>
        <a:spcAft>
          <a:spcPct val="0"/>
        </a:spcAft>
        <a:defRPr sz="2800" b="1" baseline="0">
          <a:solidFill>
            <a:schemeClr val="accent6"/>
          </a:solidFill>
          <a:effectLst/>
          <a:latin typeface="Calibri" pitchFamily="34" charset="0"/>
          <a:ea typeface="+mj-ea"/>
          <a:cs typeface="Gotham Medium" pitchFamily="50" charset="0"/>
        </a:defRPr>
      </a:lvl1pPr>
      <a:lvl2pPr algn="ctr" rtl="0" eaLnBrk="0" fontAlgn="base" hangingPunct="0">
        <a:spcBef>
          <a:spcPct val="0"/>
        </a:spcBef>
        <a:spcAft>
          <a:spcPct val="0"/>
        </a:spcAft>
        <a:defRPr sz="2800" b="1">
          <a:solidFill>
            <a:srgbClr val="0066CC"/>
          </a:solidFill>
          <a:effectLst>
            <a:outerShdw blurRad="38100" dist="38100" dir="2700000" algn="tl">
              <a:srgbClr val="C0C0C0"/>
            </a:outerShdw>
          </a:effectLst>
          <a:latin typeface="Calibri" pitchFamily="34" charset="0"/>
        </a:defRPr>
      </a:lvl2pPr>
      <a:lvl3pPr algn="ctr" rtl="0" eaLnBrk="0" fontAlgn="base" hangingPunct="0">
        <a:spcBef>
          <a:spcPct val="0"/>
        </a:spcBef>
        <a:spcAft>
          <a:spcPct val="0"/>
        </a:spcAft>
        <a:defRPr sz="2800" b="1">
          <a:solidFill>
            <a:srgbClr val="0066CC"/>
          </a:solidFill>
          <a:effectLst>
            <a:outerShdw blurRad="38100" dist="38100" dir="2700000" algn="tl">
              <a:srgbClr val="C0C0C0"/>
            </a:outerShdw>
          </a:effectLst>
          <a:latin typeface="Calibri" pitchFamily="34" charset="0"/>
        </a:defRPr>
      </a:lvl3pPr>
      <a:lvl4pPr algn="ctr" rtl="0" eaLnBrk="0" fontAlgn="base" hangingPunct="0">
        <a:spcBef>
          <a:spcPct val="0"/>
        </a:spcBef>
        <a:spcAft>
          <a:spcPct val="0"/>
        </a:spcAft>
        <a:defRPr sz="2800" b="1">
          <a:solidFill>
            <a:srgbClr val="0066CC"/>
          </a:solidFill>
          <a:effectLst>
            <a:outerShdw blurRad="38100" dist="38100" dir="2700000" algn="tl">
              <a:srgbClr val="C0C0C0"/>
            </a:outerShdw>
          </a:effectLst>
          <a:latin typeface="Calibri" pitchFamily="34" charset="0"/>
        </a:defRPr>
      </a:lvl4pPr>
      <a:lvl5pPr algn="ctr" rtl="0" eaLnBrk="0" fontAlgn="base" hangingPunct="0">
        <a:spcBef>
          <a:spcPct val="0"/>
        </a:spcBef>
        <a:spcAft>
          <a:spcPct val="0"/>
        </a:spcAft>
        <a:defRPr sz="2800" b="1">
          <a:solidFill>
            <a:srgbClr val="0066CC"/>
          </a:solidFill>
          <a:effectLst>
            <a:outerShdw blurRad="38100" dist="38100" dir="2700000" algn="tl">
              <a:srgbClr val="C0C0C0"/>
            </a:outerShdw>
          </a:effectLst>
          <a:latin typeface="Calibri" pitchFamily="34" charset="0"/>
        </a:defRPr>
      </a:lvl5pPr>
      <a:lvl6pPr marL="457200" algn="ctr" rtl="0" fontAlgn="base">
        <a:spcBef>
          <a:spcPct val="0"/>
        </a:spcBef>
        <a:spcAft>
          <a:spcPct val="0"/>
        </a:spcAft>
        <a:defRPr sz="2800" b="1">
          <a:solidFill>
            <a:srgbClr val="0066CC"/>
          </a:solidFill>
          <a:effectLst>
            <a:outerShdw blurRad="38100" dist="38100" dir="2700000" algn="tl">
              <a:srgbClr val="C0C0C0"/>
            </a:outerShdw>
          </a:effectLst>
          <a:latin typeface="Verdana" pitchFamily="34" charset="0"/>
        </a:defRPr>
      </a:lvl6pPr>
      <a:lvl7pPr marL="914400" algn="ctr" rtl="0" fontAlgn="base">
        <a:spcBef>
          <a:spcPct val="0"/>
        </a:spcBef>
        <a:spcAft>
          <a:spcPct val="0"/>
        </a:spcAft>
        <a:defRPr sz="2800" b="1">
          <a:solidFill>
            <a:srgbClr val="0066CC"/>
          </a:solidFill>
          <a:effectLst>
            <a:outerShdw blurRad="38100" dist="38100" dir="2700000" algn="tl">
              <a:srgbClr val="C0C0C0"/>
            </a:outerShdw>
          </a:effectLst>
          <a:latin typeface="Verdana" pitchFamily="34" charset="0"/>
        </a:defRPr>
      </a:lvl7pPr>
      <a:lvl8pPr marL="1371600" algn="ctr" rtl="0" fontAlgn="base">
        <a:spcBef>
          <a:spcPct val="0"/>
        </a:spcBef>
        <a:spcAft>
          <a:spcPct val="0"/>
        </a:spcAft>
        <a:defRPr sz="2800" b="1">
          <a:solidFill>
            <a:srgbClr val="0066CC"/>
          </a:solidFill>
          <a:effectLst>
            <a:outerShdw blurRad="38100" dist="38100" dir="2700000" algn="tl">
              <a:srgbClr val="C0C0C0"/>
            </a:outerShdw>
          </a:effectLst>
          <a:latin typeface="Verdana" pitchFamily="34" charset="0"/>
        </a:defRPr>
      </a:lvl8pPr>
      <a:lvl9pPr marL="1828800" algn="ctr" rtl="0" fontAlgn="base">
        <a:spcBef>
          <a:spcPct val="0"/>
        </a:spcBef>
        <a:spcAft>
          <a:spcPct val="0"/>
        </a:spcAft>
        <a:defRPr sz="2800" b="1">
          <a:solidFill>
            <a:srgbClr val="0066CC"/>
          </a:solidFill>
          <a:effectLst>
            <a:outerShdw blurRad="38100" dist="38100" dir="2700000" algn="tl">
              <a:srgbClr val="C0C0C0"/>
            </a:outerShdw>
          </a:effectLst>
          <a:latin typeface="Verdana" pitchFamily="34" charset="0"/>
        </a:defRPr>
      </a:lvl9pPr>
    </p:titleStyle>
    <p:bodyStyle>
      <a:lvl1pPr marL="270000" indent="-270000" algn="l" rtl="0" eaLnBrk="0" fontAlgn="base" hangingPunct="0">
        <a:spcBef>
          <a:spcPct val="75000"/>
        </a:spcBef>
        <a:spcAft>
          <a:spcPct val="25000"/>
        </a:spcAft>
        <a:buChar char="•"/>
        <a:defRPr sz="2000">
          <a:solidFill>
            <a:schemeClr val="tx1"/>
          </a:solidFill>
          <a:latin typeface="+mn-lt"/>
          <a:ea typeface="+mn-ea"/>
          <a:cs typeface="+mn-cs"/>
        </a:defRPr>
      </a:lvl1pPr>
      <a:lvl2pPr marL="720000" indent="-180000" algn="l" rtl="0" eaLnBrk="0" fontAlgn="base" hangingPunct="0">
        <a:spcBef>
          <a:spcPts val="600"/>
        </a:spcBef>
        <a:spcAft>
          <a:spcPts val="600"/>
        </a:spcAft>
        <a:buChar char="–"/>
        <a:defRPr sz="1800">
          <a:solidFill>
            <a:schemeClr val="tx1"/>
          </a:solidFill>
          <a:latin typeface="+mn-lt"/>
        </a:defRPr>
      </a:lvl2pPr>
      <a:lvl3pPr marL="1080000" indent="-180000" algn="l" rtl="0" eaLnBrk="0" fontAlgn="base" hangingPunct="0">
        <a:spcBef>
          <a:spcPts val="600"/>
        </a:spcBef>
        <a:spcAft>
          <a:spcPct val="0"/>
        </a:spcAft>
        <a:buChar char="•"/>
        <a:defRPr sz="1400">
          <a:solidFill>
            <a:schemeClr val="tx1"/>
          </a:solidFill>
          <a:latin typeface="+mn-lt"/>
        </a:defRPr>
      </a:lvl3pPr>
      <a:lvl4pPr marL="1620000" indent="-180000" algn="l" rtl="0" eaLnBrk="0" fontAlgn="base" hangingPunct="0">
        <a:spcBef>
          <a:spcPts val="300"/>
        </a:spcBef>
        <a:spcAft>
          <a:spcPct val="0"/>
        </a:spcAft>
        <a:buChar char="–"/>
        <a:defRPr sz="1400">
          <a:solidFill>
            <a:schemeClr val="tx1"/>
          </a:solidFill>
          <a:latin typeface="+mn-lt"/>
        </a:defRPr>
      </a:lvl4pPr>
      <a:lvl5pPr marL="1980000" indent="-180000" algn="l" rtl="0" eaLnBrk="0" fontAlgn="base" hangingPunct="0">
        <a:spcBef>
          <a:spcPts val="300"/>
        </a:spcBef>
        <a:spcAft>
          <a:spcPct val="0"/>
        </a:spcAft>
        <a:buChar char="»"/>
        <a:defRPr sz="1400">
          <a:solidFill>
            <a:schemeClr val="tx1"/>
          </a:solidFill>
          <a:latin typeface="+mn-lt"/>
        </a:defRPr>
      </a:lvl5pPr>
      <a:lvl6pPr marL="2514600" indent="-228600" algn="l" rtl="0" fontAlgn="base">
        <a:spcBef>
          <a:spcPct val="20000"/>
        </a:spcBef>
        <a:spcAft>
          <a:spcPct val="0"/>
        </a:spcAft>
        <a:buChar char="»"/>
        <a:defRPr sz="1400">
          <a:solidFill>
            <a:schemeClr val="tx1"/>
          </a:solidFill>
          <a:latin typeface="+mn-lt"/>
        </a:defRPr>
      </a:lvl6pPr>
      <a:lvl7pPr marL="2971800" indent="-228600" algn="l" rtl="0" fontAlgn="base">
        <a:spcBef>
          <a:spcPct val="20000"/>
        </a:spcBef>
        <a:spcAft>
          <a:spcPct val="0"/>
        </a:spcAft>
        <a:buChar char="»"/>
        <a:defRPr sz="1400">
          <a:solidFill>
            <a:schemeClr val="tx1"/>
          </a:solidFill>
          <a:latin typeface="+mn-lt"/>
        </a:defRPr>
      </a:lvl7pPr>
      <a:lvl8pPr marL="3429000" indent="-228600" algn="l" rtl="0" fontAlgn="base">
        <a:spcBef>
          <a:spcPct val="20000"/>
        </a:spcBef>
        <a:spcAft>
          <a:spcPct val="0"/>
        </a:spcAft>
        <a:buChar char="»"/>
        <a:defRPr sz="1400">
          <a:solidFill>
            <a:schemeClr val="tx1"/>
          </a:solidFill>
          <a:latin typeface="+mn-lt"/>
        </a:defRPr>
      </a:lvl8pPr>
      <a:lvl9pPr marL="3886200" indent="-228600" algn="l" rtl="0" fontAlgn="base">
        <a:spcBef>
          <a:spcPct val="20000"/>
        </a:spcBef>
        <a:spcAft>
          <a:spcPct val="0"/>
        </a:spcAft>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4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4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4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4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5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5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5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5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CA" dirty="0"/>
              <a:t>Tutorial 01</a:t>
            </a:r>
          </a:p>
        </p:txBody>
      </p:sp>
      <p:sp>
        <p:nvSpPr>
          <p:cNvPr id="3" name="Subtitle 2"/>
          <p:cNvSpPr>
            <a:spLocks noGrp="1"/>
          </p:cNvSpPr>
          <p:nvPr>
            <p:ph type="subTitle" idx="1"/>
          </p:nvPr>
        </p:nvSpPr>
        <p:spPr/>
        <p:txBody>
          <a:bodyPr/>
          <a:lstStyle/>
          <a:p>
            <a:r>
              <a:rPr lang="en-CA" dirty="0"/>
              <a:t>Welcome to the Course / Review of Digital Logic</a:t>
            </a:r>
          </a:p>
        </p:txBody>
      </p:sp>
      <p:sp>
        <p:nvSpPr>
          <p:cNvPr id="4" name="Text Box 4"/>
          <p:cNvSpPr txBox="1">
            <a:spLocks noChangeArrowheads="1"/>
          </p:cNvSpPr>
          <p:nvPr/>
        </p:nvSpPr>
        <p:spPr bwMode="auto">
          <a:xfrm>
            <a:off x="1295400" y="3691694"/>
            <a:ext cx="6629400" cy="341697"/>
          </a:xfrm>
          <a:prstGeom prst="rect">
            <a:avLst/>
          </a:prstGeom>
          <a:solidFill>
            <a:schemeClr val="bg1">
              <a:lumMod val="95000"/>
            </a:schemeClr>
          </a:solidFill>
          <a:ln w="12700">
            <a:solidFill>
              <a:schemeClr val="tx1"/>
            </a:solidFill>
            <a:miter lim="800000"/>
            <a:headEnd/>
            <a:tailEnd/>
          </a:ln>
        </p:spPr>
        <p:txBody>
          <a:bodyPr wrap="square">
            <a:spAutoFit/>
          </a:bodyPr>
          <a:lstStyle/>
          <a:p>
            <a:pPr>
              <a:lnSpc>
                <a:spcPct val="125000"/>
              </a:lnSpc>
              <a:spcAft>
                <a:spcPts val="600"/>
              </a:spcAft>
            </a:pPr>
            <a:r>
              <a:rPr lang="en-US" dirty="0">
                <a:latin typeface="Calibri" pitchFamily="34" charset="0"/>
              </a:rPr>
              <a:t>These tutorial slides review some important topics from courses on Digital Logic.</a:t>
            </a:r>
          </a:p>
        </p:txBody>
      </p:sp>
    </p:spTree>
    <p:extLst>
      <p:ext uri="{BB962C8B-B14F-4D97-AF65-F5344CB8AC3E}">
        <p14:creationId xmlns:p14="http://schemas.microsoft.com/office/powerpoint/2010/main" val="12597678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D37EB-0D67-45F9-9560-D9FF555B7DBA}"/>
              </a:ext>
            </a:extLst>
          </p:cNvPr>
          <p:cNvSpPr>
            <a:spLocks noGrp="1"/>
          </p:cNvSpPr>
          <p:nvPr>
            <p:ph type="title"/>
          </p:nvPr>
        </p:nvSpPr>
        <p:spPr/>
        <p:txBody>
          <a:bodyPr/>
          <a:lstStyle/>
          <a:p>
            <a:r>
              <a:rPr lang="en-CA" dirty="0"/>
              <a:t>Welcome to the Course</a:t>
            </a:r>
          </a:p>
        </p:txBody>
      </p:sp>
      <p:sp>
        <p:nvSpPr>
          <p:cNvPr id="3" name="Content Placeholder 2">
            <a:extLst>
              <a:ext uri="{FF2B5EF4-FFF2-40B4-BE49-F238E27FC236}">
                <a16:creationId xmlns:a16="http://schemas.microsoft.com/office/drawing/2014/main" id="{B102CF41-9DB8-49B2-A252-380B5A43320E}"/>
              </a:ext>
            </a:extLst>
          </p:cNvPr>
          <p:cNvSpPr>
            <a:spLocks noGrp="1"/>
          </p:cNvSpPr>
          <p:nvPr>
            <p:ph idx="1"/>
          </p:nvPr>
        </p:nvSpPr>
        <p:spPr/>
        <p:txBody>
          <a:bodyPr/>
          <a:lstStyle/>
          <a:p>
            <a:r>
              <a:rPr lang="en-CA" dirty="0"/>
              <a:t>During our tutorial sessions, we will examine the design and analysis of embedded microprocessor systems</a:t>
            </a:r>
          </a:p>
        </p:txBody>
      </p:sp>
      <p:sp>
        <p:nvSpPr>
          <p:cNvPr id="4" name="Footer Placeholder 3">
            <a:extLst>
              <a:ext uri="{FF2B5EF4-FFF2-40B4-BE49-F238E27FC236}">
                <a16:creationId xmlns:a16="http://schemas.microsoft.com/office/drawing/2014/main" id="{75FCD223-C690-4168-98C9-1032FB058431}"/>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9A418024-EE4D-482E-8ABE-8E8D0D5C1BC6}"/>
              </a:ext>
            </a:extLst>
          </p:cNvPr>
          <p:cNvSpPr>
            <a:spLocks noGrp="1"/>
          </p:cNvSpPr>
          <p:nvPr>
            <p:ph type="sldNum" sz="quarter" idx="11"/>
          </p:nvPr>
        </p:nvSpPr>
        <p:spPr/>
        <p:txBody>
          <a:bodyPr/>
          <a:lstStyle/>
          <a:p>
            <a:pPr>
              <a:defRPr/>
            </a:pPr>
            <a:fld id="{72682330-DDB7-47C0-8BEC-295D3A41AB1F}" type="slidenum">
              <a:rPr lang="en-US" smtClean="0"/>
              <a:pPr>
                <a:defRPr/>
              </a:pPr>
              <a:t>2</a:t>
            </a:fld>
            <a:endParaRPr lang="en-US" dirty="0"/>
          </a:p>
        </p:txBody>
      </p:sp>
      <p:sp>
        <p:nvSpPr>
          <p:cNvPr id="6" name="Date Placeholder 5">
            <a:extLst>
              <a:ext uri="{FF2B5EF4-FFF2-40B4-BE49-F238E27FC236}">
                <a16:creationId xmlns:a16="http://schemas.microsoft.com/office/drawing/2014/main" id="{39136E85-56AA-4C73-87DF-C0557E43125D}"/>
              </a:ext>
            </a:extLst>
          </p:cNvPr>
          <p:cNvSpPr>
            <a:spLocks noGrp="1"/>
          </p:cNvSpPr>
          <p:nvPr>
            <p:ph type="dt" sz="half" idx="12"/>
          </p:nvPr>
        </p:nvSpPr>
        <p:spPr/>
        <p:txBody>
          <a:bodyPr/>
          <a:lstStyle/>
          <a:p>
            <a:pPr>
              <a:defRPr/>
            </a:pPr>
            <a:r>
              <a:rPr lang="en-US"/>
              <a:t>Fall 2021</a:t>
            </a:r>
            <a:endParaRPr lang="en-CA" dirty="0"/>
          </a:p>
        </p:txBody>
      </p:sp>
    </p:spTree>
    <p:extLst>
      <p:ext uri="{BB962C8B-B14F-4D97-AF65-F5344CB8AC3E}">
        <p14:creationId xmlns:p14="http://schemas.microsoft.com/office/powerpoint/2010/main" val="28130012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D37EB-0D67-45F9-9560-D9FF555B7DBA}"/>
              </a:ext>
            </a:extLst>
          </p:cNvPr>
          <p:cNvSpPr>
            <a:spLocks noGrp="1"/>
          </p:cNvSpPr>
          <p:nvPr>
            <p:ph type="title"/>
          </p:nvPr>
        </p:nvSpPr>
        <p:spPr/>
        <p:txBody>
          <a:bodyPr/>
          <a:lstStyle/>
          <a:p>
            <a:r>
              <a:rPr lang="en-CA" dirty="0"/>
              <a:t>Welcome to the Course</a:t>
            </a:r>
          </a:p>
        </p:txBody>
      </p:sp>
      <p:sp>
        <p:nvSpPr>
          <p:cNvPr id="3" name="Content Placeholder 2">
            <a:extLst>
              <a:ext uri="{FF2B5EF4-FFF2-40B4-BE49-F238E27FC236}">
                <a16:creationId xmlns:a16="http://schemas.microsoft.com/office/drawing/2014/main" id="{B102CF41-9DB8-49B2-A252-380B5A43320E}"/>
              </a:ext>
            </a:extLst>
          </p:cNvPr>
          <p:cNvSpPr>
            <a:spLocks noGrp="1"/>
          </p:cNvSpPr>
          <p:nvPr>
            <p:ph idx="1"/>
          </p:nvPr>
        </p:nvSpPr>
        <p:spPr/>
        <p:txBody>
          <a:bodyPr/>
          <a:lstStyle/>
          <a:p>
            <a:r>
              <a:rPr lang="en-CA" dirty="0"/>
              <a:t>During our tutorial sessions, we will examine the design and analysis of embedded microprocessor systems</a:t>
            </a:r>
          </a:p>
          <a:p>
            <a:r>
              <a:rPr lang="en-CA" dirty="0"/>
              <a:t>Each tutorial session will begin with a course update to help guide you through the course</a:t>
            </a:r>
          </a:p>
        </p:txBody>
      </p:sp>
      <p:sp>
        <p:nvSpPr>
          <p:cNvPr id="4" name="Footer Placeholder 3">
            <a:extLst>
              <a:ext uri="{FF2B5EF4-FFF2-40B4-BE49-F238E27FC236}">
                <a16:creationId xmlns:a16="http://schemas.microsoft.com/office/drawing/2014/main" id="{75FCD223-C690-4168-98C9-1032FB058431}"/>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9A418024-EE4D-482E-8ABE-8E8D0D5C1BC6}"/>
              </a:ext>
            </a:extLst>
          </p:cNvPr>
          <p:cNvSpPr>
            <a:spLocks noGrp="1"/>
          </p:cNvSpPr>
          <p:nvPr>
            <p:ph type="sldNum" sz="quarter" idx="11"/>
          </p:nvPr>
        </p:nvSpPr>
        <p:spPr/>
        <p:txBody>
          <a:bodyPr/>
          <a:lstStyle/>
          <a:p>
            <a:pPr>
              <a:defRPr/>
            </a:pPr>
            <a:fld id="{72682330-DDB7-47C0-8BEC-295D3A41AB1F}" type="slidenum">
              <a:rPr lang="en-US" smtClean="0"/>
              <a:pPr>
                <a:defRPr/>
              </a:pPr>
              <a:t>3</a:t>
            </a:fld>
            <a:endParaRPr lang="en-US" dirty="0"/>
          </a:p>
        </p:txBody>
      </p:sp>
      <p:sp>
        <p:nvSpPr>
          <p:cNvPr id="6" name="Date Placeholder 5">
            <a:extLst>
              <a:ext uri="{FF2B5EF4-FFF2-40B4-BE49-F238E27FC236}">
                <a16:creationId xmlns:a16="http://schemas.microsoft.com/office/drawing/2014/main" id="{39136E85-56AA-4C73-87DF-C0557E43125D}"/>
              </a:ext>
            </a:extLst>
          </p:cNvPr>
          <p:cNvSpPr>
            <a:spLocks noGrp="1"/>
          </p:cNvSpPr>
          <p:nvPr>
            <p:ph type="dt" sz="half" idx="12"/>
          </p:nvPr>
        </p:nvSpPr>
        <p:spPr/>
        <p:txBody>
          <a:bodyPr/>
          <a:lstStyle/>
          <a:p>
            <a:pPr>
              <a:defRPr/>
            </a:pPr>
            <a:r>
              <a:rPr lang="en-US"/>
              <a:t>Fall 2021</a:t>
            </a:r>
            <a:endParaRPr lang="en-CA" dirty="0"/>
          </a:p>
        </p:txBody>
      </p:sp>
    </p:spTree>
    <p:extLst>
      <p:ext uri="{BB962C8B-B14F-4D97-AF65-F5344CB8AC3E}">
        <p14:creationId xmlns:p14="http://schemas.microsoft.com/office/powerpoint/2010/main" val="33531288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D37EB-0D67-45F9-9560-D9FF555B7DBA}"/>
              </a:ext>
            </a:extLst>
          </p:cNvPr>
          <p:cNvSpPr>
            <a:spLocks noGrp="1"/>
          </p:cNvSpPr>
          <p:nvPr>
            <p:ph type="title"/>
          </p:nvPr>
        </p:nvSpPr>
        <p:spPr/>
        <p:txBody>
          <a:bodyPr/>
          <a:lstStyle/>
          <a:p>
            <a:r>
              <a:rPr lang="en-CA" dirty="0"/>
              <a:t>Welcome to the Course</a:t>
            </a:r>
          </a:p>
        </p:txBody>
      </p:sp>
      <p:sp>
        <p:nvSpPr>
          <p:cNvPr id="3" name="Content Placeholder 2">
            <a:extLst>
              <a:ext uri="{FF2B5EF4-FFF2-40B4-BE49-F238E27FC236}">
                <a16:creationId xmlns:a16="http://schemas.microsoft.com/office/drawing/2014/main" id="{B102CF41-9DB8-49B2-A252-380B5A43320E}"/>
              </a:ext>
            </a:extLst>
          </p:cNvPr>
          <p:cNvSpPr>
            <a:spLocks noGrp="1"/>
          </p:cNvSpPr>
          <p:nvPr>
            <p:ph idx="1"/>
          </p:nvPr>
        </p:nvSpPr>
        <p:spPr/>
        <p:txBody>
          <a:bodyPr/>
          <a:lstStyle/>
          <a:p>
            <a:r>
              <a:rPr lang="en-CA" dirty="0"/>
              <a:t>During our tutorial sessions, we will examine the design and analysis of embedded microprocessor systems</a:t>
            </a:r>
          </a:p>
          <a:p>
            <a:r>
              <a:rPr lang="en-CA" dirty="0"/>
              <a:t>Each tutorial session will begin with a course update to help guide you through the course</a:t>
            </a:r>
          </a:p>
          <a:p>
            <a:r>
              <a:rPr lang="en-CA" dirty="0"/>
              <a:t>Most tutorials will focus on assignment questions taken from previous examinations</a:t>
            </a:r>
          </a:p>
        </p:txBody>
      </p:sp>
      <p:sp>
        <p:nvSpPr>
          <p:cNvPr id="4" name="Footer Placeholder 3">
            <a:extLst>
              <a:ext uri="{FF2B5EF4-FFF2-40B4-BE49-F238E27FC236}">
                <a16:creationId xmlns:a16="http://schemas.microsoft.com/office/drawing/2014/main" id="{75FCD223-C690-4168-98C9-1032FB058431}"/>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9A418024-EE4D-482E-8ABE-8E8D0D5C1BC6}"/>
              </a:ext>
            </a:extLst>
          </p:cNvPr>
          <p:cNvSpPr>
            <a:spLocks noGrp="1"/>
          </p:cNvSpPr>
          <p:nvPr>
            <p:ph type="sldNum" sz="quarter" idx="11"/>
          </p:nvPr>
        </p:nvSpPr>
        <p:spPr/>
        <p:txBody>
          <a:bodyPr/>
          <a:lstStyle/>
          <a:p>
            <a:pPr>
              <a:defRPr/>
            </a:pPr>
            <a:fld id="{72682330-DDB7-47C0-8BEC-295D3A41AB1F}" type="slidenum">
              <a:rPr lang="en-US" smtClean="0"/>
              <a:pPr>
                <a:defRPr/>
              </a:pPr>
              <a:t>4</a:t>
            </a:fld>
            <a:endParaRPr lang="en-US" dirty="0"/>
          </a:p>
        </p:txBody>
      </p:sp>
      <p:sp>
        <p:nvSpPr>
          <p:cNvPr id="6" name="Date Placeholder 5">
            <a:extLst>
              <a:ext uri="{FF2B5EF4-FFF2-40B4-BE49-F238E27FC236}">
                <a16:creationId xmlns:a16="http://schemas.microsoft.com/office/drawing/2014/main" id="{39136E85-56AA-4C73-87DF-C0557E43125D}"/>
              </a:ext>
            </a:extLst>
          </p:cNvPr>
          <p:cNvSpPr>
            <a:spLocks noGrp="1"/>
          </p:cNvSpPr>
          <p:nvPr>
            <p:ph type="dt" sz="half" idx="12"/>
          </p:nvPr>
        </p:nvSpPr>
        <p:spPr/>
        <p:txBody>
          <a:bodyPr/>
          <a:lstStyle/>
          <a:p>
            <a:pPr>
              <a:defRPr/>
            </a:pPr>
            <a:r>
              <a:rPr lang="en-US"/>
              <a:t>Fall 2021</a:t>
            </a:r>
            <a:endParaRPr lang="en-CA" dirty="0"/>
          </a:p>
        </p:txBody>
      </p:sp>
    </p:spTree>
    <p:extLst>
      <p:ext uri="{BB962C8B-B14F-4D97-AF65-F5344CB8AC3E}">
        <p14:creationId xmlns:p14="http://schemas.microsoft.com/office/powerpoint/2010/main" val="30912360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D37EB-0D67-45F9-9560-D9FF555B7DBA}"/>
              </a:ext>
            </a:extLst>
          </p:cNvPr>
          <p:cNvSpPr>
            <a:spLocks noGrp="1"/>
          </p:cNvSpPr>
          <p:nvPr>
            <p:ph type="title"/>
          </p:nvPr>
        </p:nvSpPr>
        <p:spPr/>
        <p:txBody>
          <a:bodyPr/>
          <a:lstStyle/>
          <a:p>
            <a:r>
              <a:rPr lang="en-CA" dirty="0"/>
              <a:t>Welcome to the Course</a:t>
            </a:r>
          </a:p>
        </p:txBody>
      </p:sp>
      <p:sp>
        <p:nvSpPr>
          <p:cNvPr id="3" name="Content Placeholder 2">
            <a:extLst>
              <a:ext uri="{FF2B5EF4-FFF2-40B4-BE49-F238E27FC236}">
                <a16:creationId xmlns:a16="http://schemas.microsoft.com/office/drawing/2014/main" id="{B102CF41-9DB8-49B2-A252-380B5A43320E}"/>
              </a:ext>
            </a:extLst>
          </p:cNvPr>
          <p:cNvSpPr>
            <a:spLocks noGrp="1"/>
          </p:cNvSpPr>
          <p:nvPr>
            <p:ph idx="1"/>
          </p:nvPr>
        </p:nvSpPr>
        <p:spPr/>
        <p:txBody>
          <a:bodyPr/>
          <a:lstStyle/>
          <a:p>
            <a:r>
              <a:rPr lang="en-CA" dirty="0"/>
              <a:t>During our tutorial sessions, we will examine the design and analysis of embedded microprocessor systems</a:t>
            </a:r>
          </a:p>
          <a:p>
            <a:r>
              <a:rPr lang="en-CA" dirty="0"/>
              <a:t>Each tutorial session will begin with a course update to help guide you through the course</a:t>
            </a:r>
          </a:p>
          <a:p>
            <a:r>
              <a:rPr lang="en-CA" dirty="0"/>
              <a:t>Most tutorials will focus on assignment questions taken from previous examinations</a:t>
            </a:r>
          </a:p>
          <a:p>
            <a:r>
              <a:rPr lang="en-CA" dirty="0"/>
              <a:t>To provide greater clarity, I will elaborate using slide annotations or the whiteboard, depending upon the mode of delivery</a:t>
            </a:r>
          </a:p>
        </p:txBody>
      </p:sp>
      <p:sp>
        <p:nvSpPr>
          <p:cNvPr id="4" name="Footer Placeholder 3">
            <a:extLst>
              <a:ext uri="{FF2B5EF4-FFF2-40B4-BE49-F238E27FC236}">
                <a16:creationId xmlns:a16="http://schemas.microsoft.com/office/drawing/2014/main" id="{75FCD223-C690-4168-98C9-1032FB058431}"/>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9A418024-EE4D-482E-8ABE-8E8D0D5C1BC6}"/>
              </a:ext>
            </a:extLst>
          </p:cNvPr>
          <p:cNvSpPr>
            <a:spLocks noGrp="1"/>
          </p:cNvSpPr>
          <p:nvPr>
            <p:ph type="sldNum" sz="quarter" idx="11"/>
          </p:nvPr>
        </p:nvSpPr>
        <p:spPr/>
        <p:txBody>
          <a:bodyPr/>
          <a:lstStyle/>
          <a:p>
            <a:pPr>
              <a:defRPr/>
            </a:pPr>
            <a:fld id="{72682330-DDB7-47C0-8BEC-295D3A41AB1F}" type="slidenum">
              <a:rPr lang="en-US" smtClean="0"/>
              <a:pPr>
                <a:defRPr/>
              </a:pPr>
              <a:t>5</a:t>
            </a:fld>
            <a:endParaRPr lang="en-US" dirty="0"/>
          </a:p>
        </p:txBody>
      </p:sp>
      <p:sp>
        <p:nvSpPr>
          <p:cNvPr id="6" name="Date Placeholder 5">
            <a:extLst>
              <a:ext uri="{FF2B5EF4-FFF2-40B4-BE49-F238E27FC236}">
                <a16:creationId xmlns:a16="http://schemas.microsoft.com/office/drawing/2014/main" id="{39136E85-56AA-4C73-87DF-C0557E43125D}"/>
              </a:ext>
            </a:extLst>
          </p:cNvPr>
          <p:cNvSpPr>
            <a:spLocks noGrp="1"/>
          </p:cNvSpPr>
          <p:nvPr>
            <p:ph type="dt" sz="half" idx="12"/>
          </p:nvPr>
        </p:nvSpPr>
        <p:spPr/>
        <p:txBody>
          <a:bodyPr/>
          <a:lstStyle/>
          <a:p>
            <a:pPr>
              <a:defRPr/>
            </a:pPr>
            <a:r>
              <a:rPr lang="en-US"/>
              <a:t>Fall 2021</a:t>
            </a:r>
            <a:endParaRPr lang="en-CA" dirty="0"/>
          </a:p>
        </p:txBody>
      </p:sp>
    </p:spTree>
    <p:extLst>
      <p:ext uri="{BB962C8B-B14F-4D97-AF65-F5344CB8AC3E}">
        <p14:creationId xmlns:p14="http://schemas.microsoft.com/office/powerpoint/2010/main" val="40232475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562A8-621C-4EE1-9E0B-FF3564FEFB98}"/>
              </a:ext>
            </a:extLst>
          </p:cNvPr>
          <p:cNvSpPr>
            <a:spLocks noGrp="1"/>
          </p:cNvSpPr>
          <p:nvPr>
            <p:ph type="title"/>
          </p:nvPr>
        </p:nvSpPr>
        <p:spPr/>
        <p:txBody>
          <a:bodyPr/>
          <a:lstStyle/>
          <a:p>
            <a:r>
              <a:rPr lang="en-CA" dirty="0"/>
              <a:t>Course Update</a:t>
            </a:r>
          </a:p>
        </p:txBody>
      </p:sp>
      <p:sp>
        <p:nvSpPr>
          <p:cNvPr id="3" name="Content Placeholder 2">
            <a:extLst>
              <a:ext uri="{FF2B5EF4-FFF2-40B4-BE49-F238E27FC236}">
                <a16:creationId xmlns:a16="http://schemas.microsoft.com/office/drawing/2014/main" id="{441F77B4-9B02-440B-879A-BF7E477C009E}"/>
              </a:ext>
            </a:extLst>
          </p:cNvPr>
          <p:cNvSpPr>
            <a:spLocks noGrp="1"/>
          </p:cNvSpPr>
          <p:nvPr>
            <p:ph idx="1"/>
          </p:nvPr>
        </p:nvSpPr>
        <p:spPr/>
        <p:txBody>
          <a:bodyPr/>
          <a:lstStyle/>
          <a:p>
            <a:r>
              <a:rPr lang="en-CA" dirty="0"/>
              <a:t>By Friday, September 10</a:t>
            </a:r>
            <a:r>
              <a:rPr lang="en-CA" baseline="30000" dirty="0"/>
              <a:t>th</a:t>
            </a:r>
            <a:r>
              <a:rPr lang="en-CA" dirty="0"/>
              <a:t>, you will have access to the first six micro lectures in the course:</a:t>
            </a:r>
          </a:p>
        </p:txBody>
      </p:sp>
      <p:sp>
        <p:nvSpPr>
          <p:cNvPr id="4" name="Footer Placeholder 3">
            <a:extLst>
              <a:ext uri="{FF2B5EF4-FFF2-40B4-BE49-F238E27FC236}">
                <a16:creationId xmlns:a16="http://schemas.microsoft.com/office/drawing/2014/main" id="{89747E87-6BBC-464C-98AD-BC06ACBFD09A}"/>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DDCC8164-BF83-41A8-B14F-83FC244FEE0E}"/>
              </a:ext>
            </a:extLst>
          </p:cNvPr>
          <p:cNvSpPr>
            <a:spLocks noGrp="1"/>
          </p:cNvSpPr>
          <p:nvPr>
            <p:ph type="sldNum" sz="quarter" idx="11"/>
          </p:nvPr>
        </p:nvSpPr>
        <p:spPr/>
        <p:txBody>
          <a:bodyPr/>
          <a:lstStyle/>
          <a:p>
            <a:pPr>
              <a:defRPr/>
            </a:pPr>
            <a:fld id="{72682330-DDB7-47C0-8BEC-295D3A41AB1F}" type="slidenum">
              <a:rPr lang="en-US" smtClean="0"/>
              <a:pPr>
                <a:defRPr/>
              </a:pPr>
              <a:t>6</a:t>
            </a:fld>
            <a:endParaRPr lang="en-US" dirty="0"/>
          </a:p>
        </p:txBody>
      </p:sp>
      <p:sp>
        <p:nvSpPr>
          <p:cNvPr id="6" name="Date Placeholder 5">
            <a:extLst>
              <a:ext uri="{FF2B5EF4-FFF2-40B4-BE49-F238E27FC236}">
                <a16:creationId xmlns:a16="http://schemas.microsoft.com/office/drawing/2014/main" id="{3EB472A9-A319-429C-B0A1-9D8C658697DB}"/>
              </a:ext>
            </a:extLst>
          </p:cNvPr>
          <p:cNvSpPr>
            <a:spLocks noGrp="1"/>
          </p:cNvSpPr>
          <p:nvPr>
            <p:ph type="dt" sz="half" idx="12"/>
          </p:nvPr>
        </p:nvSpPr>
        <p:spPr/>
        <p:txBody>
          <a:bodyPr/>
          <a:lstStyle/>
          <a:p>
            <a:pPr>
              <a:defRPr/>
            </a:pPr>
            <a:r>
              <a:rPr lang="en-US"/>
              <a:t>Fall 2021</a:t>
            </a:r>
            <a:endParaRPr lang="en-CA" dirty="0"/>
          </a:p>
        </p:txBody>
      </p:sp>
    </p:spTree>
    <p:extLst>
      <p:ext uri="{BB962C8B-B14F-4D97-AF65-F5344CB8AC3E}">
        <p14:creationId xmlns:p14="http://schemas.microsoft.com/office/powerpoint/2010/main" val="5168731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562A8-621C-4EE1-9E0B-FF3564FEFB98}"/>
              </a:ext>
            </a:extLst>
          </p:cNvPr>
          <p:cNvSpPr>
            <a:spLocks noGrp="1"/>
          </p:cNvSpPr>
          <p:nvPr>
            <p:ph type="title"/>
          </p:nvPr>
        </p:nvSpPr>
        <p:spPr/>
        <p:txBody>
          <a:bodyPr/>
          <a:lstStyle/>
          <a:p>
            <a:r>
              <a:rPr lang="en-CA" dirty="0"/>
              <a:t>Course Update</a:t>
            </a:r>
          </a:p>
        </p:txBody>
      </p:sp>
      <p:sp>
        <p:nvSpPr>
          <p:cNvPr id="3" name="Content Placeholder 2">
            <a:extLst>
              <a:ext uri="{FF2B5EF4-FFF2-40B4-BE49-F238E27FC236}">
                <a16:creationId xmlns:a16="http://schemas.microsoft.com/office/drawing/2014/main" id="{441F77B4-9B02-440B-879A-BF7E477C009E}"/>
              </a:ext>
            </a:extLst>
          </p:cNvPr>
          <p:cNvSpPr>
            <a:spLocks noGrp="1"/>
          </p:cNvSpPr>
          <p:nvPr>
            <p:ph idx="1"/>
          </p:nvPr>
        </p:nvSpPr>
        <p:spPr/>
        <p:txBody>
          <a:bodyPr/>
          <a:lstStyle/>
          <a:p>
            <a:r>
              <a:rPr lang="en-CA" dirty="0"/>
              <a:t>By Friday, September 10</a:t>
            </a:r>
            <a:r>
              <a:rPr lang="en-CA" baseline="30000" dirty="0"/>
              <a:t>th</a:t>
            </a:r>
            <a:r>
              <a:rPr lang="en-CA" dirty="0"/>
              <a:t>, you will have access to the first six micro lectures in the course:</a:t>
            </a:r>
          </a:p>
          <a:p>
            <a:pPr lvl="1"/>
            <a:r>
              <a:rPr lang="en-CA" dirty="0"/>
              <a:t>Mondays thru Thursdays, a new micro lecture will appear in the course</a:t>
            </a:r>
          </a:p>
        </p:txBody>
      </p:sp>
      <p:sp>
        <p:nvSpPr>
          <p:cNvPr id="4" name="Footer Placeholder 3">
            <a:extLst>
              <a:ext uri="{FF2B5EF4-FFF2-40B4-BE49-F238E27FC236}">
                <a16:creationId xmlns:a16="http://schemas.microsoft.com/office/drawing/2014/main" id="{89747E87-6BBC-464C-98AD-BC06ACBFD09A}"/>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DDCC8164-BF83-41A8-B14F-83FC244FEE0E}"/>
              </a:ext>
            </a:extLst>
          </p:cNvPr>
          <p:cNvSpPr>
            <a:spLocks noGrp="1"/>
          </p:cNvSpPr>
          <p:nvPr>
            <p:ph type="sldNum" sz="quarter" idx="11"/>
          </p:nvPr>
        </p:nvSpPr>
        <p:spPr/>
        <p:txBody>
          <a:bodyPr/>
          <a:lstStyle/>
          <a:p>
            <a:pPr>
              <a:defRPr/>
            </a:pPr>
            <a:fld id="{72682330-DDB7-47C0-8BEC-295D3A41AB1F}" type="slidenum">
              <a:rPr lang="en-US" smtClean="0"/>
              <a:pPr>
                <a:defRPr/>
              </a:pPr>
              <a:t>7</a:t>
            </a:fld>
            <a:endParaRPr lang="en-US" dirty="0"/>
          </a:p>
        </p:txBody>
      </p:sp>
      <p:sp>
        <p:nvSpPr>
          <p:cNvPr id="6" name="Date Placeholder 5">
            <a:extLst>
              <a:ext uri="{FF2B5EF4-FFF2-40B4-BE49-F238E27FC236}">
                <a16:creationId xmlns:a16="http://schemas.microsoft.com/office/drawing/2014/main" id="{3EB472A9-A319-429C-B0A1-9D8C658697DB}"/>
              </a:ext>
            </a:extLst>
          </p:cNvPr>
          <p:cNvSpPr>
            <a:spLocks noGrp="1"/>
          </p:cNvSpPr>
          <p:nvPr>
            <p:ph type="dt" sz="half" idx="12"/>
          </p:nvPr>
        </p:nvSpPr>
        <p:spPr/>
        <p:txBody>
          <a:bodyPr/>
          <a:lstStyle/>
          <a:p>
            <a:pPr>
              <a:defRPr/>
            </a:pPr>
            <a:r>
              <a:rPr lang="en-US"/>
              <a:t>Fall 2021</a:t>
            </a:r>
            <a:endParaRPr lang="en-CA" dirty="0"/>
          </a:p>
        </p:txBody>
      </p:sp>
    </p:spTree>
    <p:extLst>
      <p:ext uri="{BB962C8B-B14F-4D97-AF65-F5344CB8AC3E}">
        <p14:creationId xmlns:p14="http://schemas.microsoft.com/office/powerpoint/2010/main" val="1787389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562A8-621C-4EE1-9E0B-FF3564FEFB98}"/>
              </a:ext>
            </a:extLst>
          </p:cNvPr>
          <p:cNvSpPr>
            <a:spLocks noGrp="1"/>
          </p:cNvSpPr>
          <p:nvPr>
            <p:ph type="title"/>
          </p:nvPr>
        </p:nvSpPr>
        <p:spPr/>
        <p:txBody>
          <a:bodyPr/>
          <a:lstStyle/>
          <a:p>
            <a:r>
              <a:rPr lang="en-CA" dirty="0"/>
              <a:t>Course Update</a:t>
            </a:r>
          </a:p>
        </p:txBody>
      </p:sp>
      <p:sp>
        <p:nvSpPr>
          <p:cNvPr id="3" name="Content Placeholder 2">
            <a:extLst>
              <a:ext uri="{FF2B5EF4-FFF2-40B4-BE49-F238E27FC236}">
                <a16:creationId xmlns:a16="http://schemas.microsoft.com/office/drawing/2014/main" id="{441F77B4-9B02-440B-879A-BF7E477C009E}"/>
              </a:ext>
            </a:extLst>
          </p:cNvPr>
          <p:cNvSpPr>
            <a:spLocks noGrp="1"/>
          </p:cNvSpPr>
          <p:nvPr>
            <p:ph idx="1"/>
          </p:nvPr>
        </p:nvSpPr>
        <p:spPr/>
        <p:txBody>
          <a:bodyPr/>
          <a:lstStyle/>
          <a:p>
            <a:r>
              <a:rPr lang="en-CA" dirty="0"/>
              <a:t>By Friday, September 10</a:t>
            </a:r>
            <a:r>
              <a:rPr lang="en-CA" baseline="30000" dirty="0"/>
              <a:t>th</a:t>
            </a:r>
            <a:r>
              <a:rPr lang="en-CA" dirty="0"/>
              <a:t>, you will have access to the first six micro lectures in the course:</a:t>
            </a:r>
          </a:p>
          <a:p>
            <a:pPr lvl="1"/>
            <a:r>
              <a:rPr lang="en-CA" dirty="0"/>
              <a:t>Mondays thru Thursdays, a new micro lecture will appear in the course</a:t>
            </a:r>
          </a:p>
          <a:p>
            <a:pPr lvl="1"/>
            <a:r>
              <a:rPr lang="en-CA" dirty="0"/>
              <a:t>Two micro lectures will appear on Fridays to allow sufficient time for completion of the design project in the course</a:t>
            </a:r>
          </a:p>
        </p:txBody>
      </p:sp>
      <p:sp>
        <p:nvSpPr>
          <p:cNvPr id="4" name="Footer Placeholder 3">
            <a:extLst>
              <a:ext uri="{FF2B5EF4-FFF2-40B4-BE49-F238E27FC236}">
                <a16:creationId xmlns:a16="http://schemas.microsoft.com/office/drawing/2014/main" id="{89747E87-6BBC-464C-98AD-BC06ACBFD09A}"/>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DDCC8164-BF83-41A8-B14F-83FC244FEE0E}"/>
              </a:ext>
            </a:extLst>
          </p:cNvPr>
          <p:cNvSpPr>
            <a:spLocks noGrp="1"/>
          </p:cNvSpPr>
          <p:nvPr>
            <p:ph type="sldNum" sz="quarter" idx="11"/>
          </p:nvPr>
        </p:nvSpPr>
        <p:spPr/>
        <p:txBody>
          <a:bodyPr/>
          <a:lstStyle/>
          <a:p>
            <a:pPr>
              <a:defRPr/>
            </a:pPr>
            <a:fld id="{72682330-DDB7-47C0-8BEC-295D3A41AB1F}" type="slidenum">
              <a:rPr lang="en-US" smtClean="0"/>
              <a:pPr>
                <a:defRPr/>
              </a:pPr>
              <a:t>8</a:t>
            </a:fld>
            <a:endParaRPr lang="en-US" dirty="0"/>
          </a:p>
        </p:txBody>
      </p:sp>
      <p:sp>
        <p:nvSpPr>
          <p:cNvPr id="6" name="Date Placeholder 5">
            <a:extLst>
              <a:ext uri="{FF2B5EF4-FFF2-40B4-BE49-F238E27FC236}">
                <a16:creationId xmlns:a16="http://schemas.microsoft.com/office/drawing/2014/main" id="{3EB472A9-A319-429C-B0A1-9D8C658697DB}"/>
              </a:ext>
            </a:extLst>
          </p:cNvPr>
          <p:cNvSpPr>
            <a:spLocks noGrp="1"/>
          </p:cNvSpPr>
          <p:nvPr>
            <p:ph type="dt" sz="half" idx="12"/>
          </p:nvPr>
        </p:nvSpPr>
        <p:spPr/>
        <p:txBody>
          <a:bodyPr/>
          <a:lstStyle/>
          <a:p>
            <a:pPr>
              <a:defRPr/>
            </a:pPr>
            <a:r>
              <a:rPr lang="en-US"/>
              <a:t>Fall 2021</a:t>
            </a:r>
            <a:endParaRPr lang="en-CA" dirty="0"/>
          </a:p>
        </p:txBody>
      </p:sp>
    </p:spTree>
    <p:extLst>
      <p:ext uri="{BB962C8B-B14F-4D97-AF65-F5344CB8AC3E}">
        <p14:creationId xmlns:p14="http://schemas.microsoft.com/office/powerpoint/2010/main" val="3411879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562A8-621C-4EE1-9E0B-FF3564FEFB98}"/>
              </a:ext>
            </a:extLst>
          </p:cNvPr>
          <p:cNvSpPr>
            <a:spLocks noGrp="1"/>
          </p:cNvSpPr>
          <p:nvPr>
            <p:ph type="title"/>
          </p:nvPr>
        </p:nvSpPr>
        <p:spPr/>
        <p:txBody>
          <a:bodyPr/>
          <a:lstStyle/>
          <a:p>
            <a:r>
              <a:rPr lang="en-CA" dirty="0"/>
              <a:t>Course Update</a:t>
            </a:r>
          </a:p>
        </p:txBody>
      </p:sp>
      <p:sp>
        <p:nvSpPr>
          <p:cNvPr id="3" name="Content Placeholder 2">
            <a:extLst>
              <a:ext uri="{FF2B5EF4-FFF2-40B4-BE49-F238E27FC236}">
                <a16:creationId xmlns:a16="http://schemas.microsoft.com/office/drawing/2014/main" id="{441F77B4-9B02-440B-879A-BF7E477C009E}"/>
              </a:ext>
            </a:extLst>
          </p:cNvPr>
          <p:cNvSpPr>
            <a:spLocks noGrp="1"/>
          </p:cNvSpPr>
          <p:nvPr>
            <p:ph idx="1"/>
          </p:nvPr>
        </p:nvSpPr>
        <p:spPr/>
        <p:txBody>
          <a:bodyPr/>
          <a:lstStyle/>
          <a:p>
            <a:r>
              <a:rPr lang="en-CA" dirty="0"/>
              <a:t>By Friday, September 10</a:t>
            </a:r>
            <a:r>
              <a:rPr lang="en-CA" baseline="30000" dirty="0"/>
              <a:t>th</a:t>
            </a:r>
            <a:r>
              <a:rPr lang="en-CA" dirty="0"/>
              <a:t>, you will have access to the first six micro lectures in the course:</a:t>
            </a:r>
          </a:p>
          <a:p>
            <a:pPr lvl="1"/>
            <a:r>
              <a:rPr lang="en-CA" dirty="0"/>
              <a:t>Mondays thru Thursdays, a new micro lecture will appear in the course</a:t>
            </a:r>
          </a:p>
          <a:p>
            <a:pPr lvl="1"/>
            <a:r>
              <a:rPr lang="en-CA" dirty="0"/>
              <a:t>Two micro lectures will appear on Fridays to allow sufficient time for completion of the design project in the course</a:t>
            </a:r>
          </a:p>
          <a:p>
            <a:r>
              <a:rPr lang="en-CA" dirty="0"/>
              <a:t>Quiz #1 will appear next Wednesday at 9:00 am and will be due at 10:00 pm:</a:t>
            </a:r>
          </a:p>
        </p:txBody>
      </p:sp>
      <p:sp>
        <p:nvSpPr>
          <p:cNvPr id="4" name="Footer Placeholder 3">
            <a:extLst>
              <a:ext uri="{FF2B5EF4-FFF2-40B4-BE49-F238E27FC236}">
                <a16:creationId xmlns:a16="http://schemas.microsoft.com/office/drawing/2014/main" id="{89747E87-6BBC-464C-98AD-BC06ACBFD09A}"/>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DDCC8164-BF83-41A8-B14F-83FC244FEE0E}"/>
              </a:ext>
            </a:extLst>
          </p:cNvPr>
          <p:cNvSpPr>
            <a:spLocks noGrp="1"/>
          </p:cNvSpPr>
          <p:nvPr>
            <p:ph type="sldNum" sz="quarter" idx="11"/>
          </p:nvPr>
        </p:nvSpPr>
        <p:spPr/>
        <p:txBody>
          <a:bodyPr/>
          <a:lstStyle/>
          <a:p>
            <a:pPr>
              <a:defRPr/>
            </a:pPr>
            <a:fld id="{72682330-DDB7-47C0-8BEC-295D3A41AB1F}" type="slidenum">
              <a:rPr lang="en-US" smtClean="0"/>
              <a:pPr>
                <a:defRPr/>
              </a:pPr>
              <a:t>9</a:t>
            </a:fld>
            <a:endParaRPr lang="en-US" dirty="0"/>
          </a:p>
        </p:txBody>
      </p:sp>
      <p:sp>
        <p:nvSpPr>
          <p:cNvPr id="6" name="Date Placeholder 5">
            <a:extLst>
              <a:ext uri="{FF2B5EF4-FFF2-40B4-BE49-F238E27FC236}">
                <a16:creationId xmlns:a16="http://schemas.microsoft.com/office/drawing/2014/main" id="{3EB472A9-A319-429C-B0A1-9D8C658697DB}"/>
              </a:ext>
            </a:extLst>
          </p:cNvPr>
          <p:cNvSpPr>
            <a:spLocks noGrp="1"/>
          </p:cNvSpPr>
          <p:nvPr>
            <p:ph type="dt" sz="half" idx="12"/>
          </p:nvPr>
        </p:nvSpPr>
        <p:spPr/>
        <p:txBody>
          <a:bodyPr/>
          <a:lstStyle/>
          <a:p>
            <a:pPr>
              <a:defRPr/>
            </a:pPr>
            <a:r>
              <a:rPr lang="en-US"/>
              <a:t>Fall 2021</a:t>
            </a:r>
            <a:endParaRPr lang="en-CA" dirty="0"/>
          </a:p>
        </p:txBody>
      </p:sp>
    </p:spTree>
    <p:extLst>
      <p:ext uri="{BB962C8B-B14F-4D97-AF65-F5344CB8AC3E}">
        <p14:creationId xmlns:p14="http://schemas.microsoft.com/office/powerpoint/2010/main" val="22572135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562A8-621C-4EE1-9E0B-FF3564FEFB98}"/>
              </a:ext>
            </a:extLst>
          </p:cNvPr>
          <p:cNvSpPr>
            <a:spLocks noGrp="1"/>
          </p:cNvSpPr>
          <p:nvPr>
            <p:ph type="title"/>
          </p:nvPr>
        </p:nvSpPr>
        <p:spPr/>
        <p:txBody>
          <a:bodyPr/>
          <a:lstStyle/>
          <a:p>
            <a:r>
              <a:rPr lang="en-CA" dirty="0"/>
              <a:t>Course Update</a:t>
            </a:r>
          </a:p>
        </p:txBody>
      </p:sp>
      <p:sp>
        <p:nvSpPr>
          <p:cNvPr id="3" name="Content Placeholder 2">
            <a:extLst>
              <a:ext uri="{FF2B5EF4-FFF2-40B4-BE49-F238E27FC236}">
                <a16:creationId xmlns:a16="http://schemas.microsoft.com/office/drawing/2014/main" id="{441F77B4-9B02-440B-879A-BF7E477C009E}"/>
              </a:ext>
            </a:extLst>
          </p:cNvPr>
          <p:cNvSpPr>
            <a:spLocks noGrp="1"/>
          </p:cNvSpPr>
          <p:nvPr>
            <p:ph idx="1"/>
          </p:nvPr>
        </p:nvSpPr>
        <p:spPr/>
        <p:txBody>
          <a:bodyPr/>
          <a:lstStyle/>
          <a:p>
            <a:r>
              <a:rPr lang="en-CA" dirty="0"/>
              <a:t>By Friday, September 10</a:t>
            </a:r>
            <a:r>
              <a:rPr lang="en-CA" baseline="30000" dirty="0"/>
              <a:t>th</a:t>
            </a:r>
            <a:r>
              <a:rPr lang="en-CA" dirty="0"/>
              <a:t>, you will have access to the first six micro lectures in the course:</a:t>
            </a:r>
          </a:p>
          <a:p>
            <a:pPr lvl="1"/>
            <a:r>
              <a:rPr lang="en-CA" dirty="0"/>
              <a:t>Mondays thru Thursdays, a new micro lecture will appear in the course</a:t>
            </a:r>
          </a:p>
          <a:p>
            <a:pPr lvl="1"/>
            <a:r>
              <a:rPr lang="en-CA" dirty="0"/>
              <a:t>Two micro lectures will appear on Fridays to allow sufficient time for completion of the design project in the course</a:t>
            </a:r>
          </a:p>
          <a:p>
            <a:r>
              <a:rPr lang="en-CA" dirty="0"/>
              <a:t>Quiz #1 will appear next Wednesday at 9:00 am and will be due at 10:00 pm:</a:t>
            </a:r>
          </a:p>
          <a:p>
            <a:pPr lvl="1"/>
            <a:r>
              <a:rPr lang="en-CA" dirty="0"/>
              <a:t>The quiz will focus on material presented in the first six micro lectures and material presented in this tutorial session</a:t>
            </a:r>
          </a:p>
        </p:txBody>
      </p:sp>
      <p:sp>
        <p:nvSpPr>
          <p:cNvPr id="4" name="Footer Placeholder 3">
            <a:extLst>
              <a:ext uri="{FF2B5EF4-FFF2-40B4-BE49-F238E27FC236}">
                <a16:creationId xmlns:a16="http://schemas.microsoft.com/office/drawing/2014/main" id="{89747E87-6BBC-464C-98AD-BC06ACBFD09A}"/>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DDCC8164-BF83-41A8-B14F-83FC244FEE0E}"/>
              </a:ext>
            </a:extLst>
          </p:cNvPr>
          <p:cNvSpPr>
            <a:spLocks noGrp="1"/>
          </p:cNvSpPr>
          <p:nvPr>
            <p:ph type="sldNum" sz="quarter" idx="11"/>
          </p:nvPr>
        </p:nvSpPr>
        <p:spPr/>
        <p:txBody>
          <a:bodyPr/>
          <a:lstStyle/>
          <a:p>
            <a:pPr>
              <a:defRPr/>
            </a:pPr>
            <a:fld id="{72682330-DDB7-47C0-8BEC-295D3A41AB1F}" type="slidenum">
              <a:rPr lang="en-US" smtClean="0"/>
              <a:pPr>
                <a:defRPr/>
              </a:pPr>
              <a:t>10</a:t>
            </a:fld>
            <a:endParaRPr lang="en-US" dirty="0"/>
          </a:p>
        </p:txBody>
      </p:sp>
      <p:sp>
        <p:nvSpPr>
          <p:cNvPr id="6" name="Date Placeholder 5">
            <a:extLst>
              <a:ext uri="{FF2B5EF4-FFF2-40B4-BE49-F238E27FC236}">
                <a16:creationId xmlns:a16="http://schemas.microsoft.com/office/drawing/2014/main" id="{3EB472A9-A319-429C-B0A1-9D8C658697DB}"/>
              </a:ext>
            </a:extLst>
          </p:cNvPr>
          <p:cNvSpPr>
            <a:spLocks noGrp="1"/>
          </p:cNvSpPr>
          <p:nvPr>
            <p:ph type="dt" sz="half" idx="12"/>
          </p:nvPr>
        </p:nvSpPr>
        <p:spPr/>
        <p:txBody>
          <a:bodyPr/>
          <a:lstStyle/>
          <a:p>
            <a:pPr>
              <a:defRPr/>
            </a:pPr>
            <a:r>
              <a:rPr lang="en-US"/>
              <a:t>Fall 2021</a:t>
            </a:r>
            <a:endParaRPr lang="en-CA" dirty="0"/>
          </a:p>
        </p:txBody>
      </p:sp>
    </p:spTree>
    <p:extLst>
      <p:ext uri="{BB962C8B-B14F-4D97-AF65-F5344CB8AC3E}">
        <p14:creationId xmlns:p14="http://schemas.microsoft.com/office/powerpoint/2010/main" val="38121126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562A8-621C-4EE1-9E0B-FF3564FEFB98}"/>
              </a:ext>
            </a:extLst>
          </p:cNvPr>
          <p:cNvSpPr>
            <a:spLocks noGrp="1"/>
          </p:cNvSpPr>
          <p:nvPr>
            <p:ph type="title"/>
          </p:nvPr>
        </p:nvSpPr>
        <p:spPr/>
        <p:txBody>
          <a:bodyPr/>
          <a:lstStyle/>
          <a:p>
            <a:r>
              <a:rPr lang="en-CA" dirty="0"/>
              <a:t>Course Update</a:t>
            </a:r>
          </a:p>
        </p:txBody>
      </p:sp>
      <p:sp>
        <p:nvSpPr>
          <p:cNvPr id="3" name="Content Placeholder 2">
            <a:extLst>
              <a:ext uri="{FF2B5EF4-FFF2-40B4-BE49-F238E27FC236}">
                <a16:creationId xmlns:a16="http://schemas.microsoft.com/office/drawing/2014/main" id="{441F77B4-9B02-440B-879A-BF7E477C009E}"/>
              </a:ext>
            </a:extLst>
          </p:cNvPr>
          <p:cNvSpPr>
            <a:spLocks noGrp="1"/>
          </p:cNvSpPr>
          <p:nvPr>
            <p:ph idx="1"/>
          </p:nvPr>
        </p:nvSpPr>
        <p:spPr/>
        <p:txBody>
          <a:bodyPr/>
          <a:lstStyle/>
          <a:p>
            <a:r>
              <a:rPr lang="en-CA" dirty="0"/>
              <a:t>By Friday, September 10</a:t>
            </a:r>
            <a:r>
              <a:rPr lang="en-CA" baseline="30000" dirty="0"/>
              <a:t>th</a:t>
            </a:r>
            <a:r>
              <a:rPr lang="en-CA" dirty="0"/>
              <a:t>, you will have access to the first six micro lectures in the course:</a:t>
            </a:r>
          </a:p>
          <a:p>
            <a:pPr lvl="1"/>
            <a:r>
              <a:rPr lang="en-CA" dirty="0"/>
              <a:t>Mondays thru Thursdays, a new micro lecture will appear in the course</a:t>
            </a:r>
          </a:p>
          <a:p>
            <a:pPr lvl="1"/>
            <a:r>
              <a:rPr lang="en-CA" dirty="0"/>
              <a:t>Two micro lectures will appear on Fridays to allow sufficient time for completion of the design project in the course</a:t>
            </a:r>
          </a:p>
          <a:p>
            <a:r>
              <a:rPr lang="en-CA" dirty="0"/>
              <a:t>Quiz #1 will appear next Wednesday at 9:00 am and will be due at 10:00 pm:</a:t>
            </a:r>
          </a:p>
          <a:p>
            <a:pPr lvl="1"/>
            <a:r>
              <a:rPr lang="en-CA" dirty="0"/>
              <a:t>The quiz will focus on material presented in the first six micro lectures and material presented in this tutorial session</a:t>
            </a:r>
          </a:p>
          <a:p>
            <a:pPr lvl="1"/>
            <a:r>
              <a:rPr lang="en-CA" dirty="0"/>
              <a:t>The first quiz is the easiest</a:t>
            </a:r>
          </a:p>
        </p:txBody>
      </p:sp>
      <p:sp>
        <p:nvSpPr>
          <p:cNvPr id="4" name="Footer Placeholder 3">
            <a:extLst>
              <a:ext uri="{FF2B5EF4-FFF2-40B4-BE49-F238E27FC236}">
                <a16:creationId xmlns:a16="http://schemas.microsoft.com/office/drawing/2014/main" id="{89747E87-6BBC-464C-98AD-BC06ACBFD09A}"/>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DDCC8164-BF83-41A8-B14F-83FC244FEE0E}"/>
              </a:ext>
            </a:extLst>
          </p:cNvPr>
          <p:cNvSpPr>
            <a:spLocks noGrp="1"/>
          </p:cNvSpPr>
          <p:nvPr>
            <p:ph type="sldNum" sz="quarter" idx="11"/>
          </p:nvPr>
        </p:nvSpPr>
        <p:spPr/>
        <p:txBody>
          <a:bodyPr/>
          <a:lstStyle/>
          <a:p>
            <a:pPr>
              <a:defRPr/>
            </a:pPr>
            <a:fld id="{72682330-DDB7-47C0-8BEC-295D3A41AB1F}" type="slidenum">
              <a:rPr lang="en-US" smtClean="0"/>
              <a:pPr>
                <a:defRPr/>
              </a:pPr>
              <a:t>11</a:t>
            </a:fld>
            <a:endParaRPr lang="en-US" dirty="0"/>
          </a:p>
        </p:txBody>
      </p:sp>
      <p:sp>
        <p:nvSpPr>
          <p:cNvPr id="6" name="Date Placeholder 5">
            <a:extLst>
              <a:ext uri="{FF2B5EF4-FFF2-40B4-BE49-F238E27FC236}">
                <a16:creationId xmlns:a16="http://schemas.microsoft.com/office/drawing/2014/main" id="{3EB472A9-A319-429C-B0A1-9D8C658697DB}"/>
              </a:ext>
            </a:extLst>
          </p:cNvPr>
          <p:cNvSpPr>
            <a:spLocks noGrp="1"/>
          </p:cNvSpPr>
          <p:nvPr>
            <p:ph type="dt" sz="half" idx="12"/>
          </p:nvPr>
        </p:nvSpPr>
        <p:spPr/>
        <p:txBody>
          <a:bodyPr/>
          <a:lstStyle/>
          <a:p>
            <a:pPr>
              <a:defRPr/>
            </a:pPr>
            <a:r>
              <a:rPr lang="en-US"/>
              <a:t>Fall 2021</a:t>
            </a:r>
            <a:endParaRPr lang="en-CA" dirty="0"/>
          </a:p>
        </p:txBody>
      </p:sp>
    </p:spTree>
    <p:extLst>
      <p:ext uri="{BB962C8B-B14F-4D97-AF65-F5344CB8AC3E}">
        <p14:creationId xmlns:p14="http://schemas.microsoft.com/office/powerpoint/2010/main" val="31882961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562A8-621C-4EE1-9E0B-FF3564FEFB98}"/>
              </a:ext>
            </a:extLst>
          </p:cNvPr>
          <p:cNvSpPr>
            <a:spLocks noGrp="1"/>
          </p:cNvSpPr>
          <p:nvPr>
            <p:ph type="title"/>
          </p:nvPr>
        </p:nvSpPr>
        <p:spPr/>
        <p:txBody>
          <a:bodyPr/>
          <a:lstStyle/>
          <a:p>
            <a:r>
              <a:rPr lang="en-CA" dirty="0"/>
              <a:t>Course Update</a:t>
            </a:r>
          </a:p>
        </p:txBody>
      </p:sp>
      <p:sp>
        <p:nvSpPr>
          <p:cNvPr id="3" name="Content Placeholder 2">
            <a:extLst>
              <a:ext uri="{FF2B5EF4-FFF2-40B4-BE49-F238E27FC236}">
                <a16:creationId xmlns:a16="http://schemas.microsoft.com/office/drawing/2014/main" id="{441F77B4-9B02-440B-879A-BF7E477C009E}"/>
              </a:ext>
            </a:extLst>
          </p:cNvPr>
          <p:cNvSpPr>
            <a:spLocks noGrp="1"/>
          </p:cNvSpPr>
          <p:nvPr>
            <p:ph idx="1"/>
          </p:nvPr>
        </p:nvSpPr>
        <p:spPr/>
        <p:txBody>
          <a:bodyPr/>
          <a:lstStyle/>
          <a:p>
            <a:r>
              <a:rPr lang="en-CA" dirty="0"/>
              <a:t>By Friday, September 10</a:t>
            </a:r>
            <a:r>
              <a:rPr lang="en-CA" baseline="30000" dirty="0"/>
              <a:t>th</a:t>
            </a:r>
            <a:r>
              <a:rPr lang="en-CA" dirty="0"/>
              <a:t>, you will have access to the first six micro lectures in the course:</a:t>
            </a:r>
          </a:p>
          <a:p>
            <a:pPr lvl="1"/>
            <a:r>
              <a:rPr lang="en-CA" dirty="0"/>
              <a:t>Mondays thru Thursdays, a new micro lecture will appear in the course</a:t>
            </a:r>
          </a:p>
          <a:p>
            <a:pPr lvl="1"/>
            <a:r>
              <a:rPr lang="en-CA" dirty="0"/>
              <a:t>Two micro lectures will appear on Fridays to allow sufficient time for completion of the design project in the course</a:t>
            </a:r>
          </a:p>
          <a:p>
            <a:r>
              <a:rPr lang="en-CA" dirty="0"/>
              <a:t>Quiz #1 will appear next Wednesday at 9:00 am and will be due at 10:00 pm:</a:t>
            </a:r>
          </a:p>
          <a:p>
            <a:pPr lvl="1"/>
            <a:r>
              <a:rPr lang="en-CA" dirty="0"/>
              <a:t>The quiz will focus on material presented in the first six micro lectures and material presented in this tutorial session</a:t>
            </a:r>
          </a:p>
          <a:p>
            <a:pPr lvl="1"/>
            <a:r>
              <a:rPr lang="en-CA" dirty="0"/>
              <a:t>The first quiz is the easiest</a:t>
            </a:r>
          </a:p>
          <a:p>
            <a:pPr lvl="1"/>
            <a:r>
              <a:rPr lang="en-CA" dirty="0"/>
              <a:t>The quizzes will get more difficult as the course progresses</a:t>
            </a:r>
          </a:p>
        </p:txBody>
      </p:sp>
      <p:sp>
        <p:nvSpPr>
          <p:cNvPr id="4" name="Footer Placeholder 3">
            <a:extLst>
              <a:ext uri="{FF2B5EF4-FFF2-40B4-BE49-F238E27FC236}">
                <a16:creationId xmlns:a16="http://schemas.microsoft.com/office/drawing/2014/main" id="{89747E87-6BBC-464C-98AD-BC06ACBFD09A}"/>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DDCC8164-BF83-41A8-B14F-83FC244FEE0E}"/>
              </a:ext>
            </a:extLst>
          </p:cNvPr>
          <p:cNvSpPr>
            <a:spLocks noGrp="1"/>
          </p:cNvSpPr>
          <p:nvPr>
            <p:ph type="sldNum" sz="quarter" idx="11"/>
          </p:nvPr>
        </p:nvSpPr>
        <p:spPr/>
        <p:txBody>
          <a:bodyPr/>
          <a:lstStyle/>
          <a:p>
            <a:pPr>
              <a:defRPr/>
            </a:pPr>
            <a:fld id="{72682330-DDB7-47C0-8BEC-295D3A41AB1F}" type="slidenum">
              <a:rPr lang="en-US" smtClean="0"/>
              <a:pPr>
                <a:defRPr/>
              </a:pPr>
              <a:t>12</a:t>
            </a:fld>
            <a:endParaRPr lang="en-US" dirty="0"/>
          </a:p>
        </p:txBody>
      </p:sp>
      <p:sp>
        <p:nvSpPr>
          <p:cNvPr id="6" name="Date Placeholder 5">
            <a:extLst>
              <a:ext uri="{FF2B5EF4-FFF2-40B4-BE49-F238E27FC236}">
                <a16:creationId xmlns:a16="http://schemas.microsoft.com/office/drawing/2014/main" id="{3EB472A9-A319-429C-B0A1-9D8C658697DB}"/>
              </a:ext>
            </a:extLst>
          </p:cNvPr>
          <p:cNvSpPr>
            <a:spLocks noGrp="1"/>
          </p:cNvSpPr>
          <p:nvPr>
            <p:ph type="dt" sz="half" idx="12"/>
          </p:nvPr>
        </p:nvSpPr>
        <p:spPr/>
        <p:txBody>
          <a:bodyPr/>
          <a:lstStyle/>
          <a:p>
            <a:pPr>
              <a:defRPr/>
            </a:pPr>
            <a:r>
              <a:rPr lang="en-US"/>
              <a:t>Fall 2021</a:t>
            </a:r>
            <a:endParaRPr lang="en-CA" dirty="0"/>
          </a:p>
        </p:txBody>
      </p:sp>
    </p:spTree>
    <p:extLst>
      <p:ext uri="{BB962C8B-B14F-4D97-AF65-F5344CB8AC3E}">
        <p14:creationId xmlns:p14="http://schemas.microsoft.com/office/powerpoint/2010/main" val="15690829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1C6A3-03E0-4B52-AC59-E207F91A136D}"/>
              </a:ext>
            </a:extLst>
          </p:cNvPr>
          <p:cNvSpPr>
            <a:spLocks noGrp="1"/>
          </p:cNvSpPr>
          <p:nvPr>
            <p:ph type="title"/>
          </p:nvPr>
        </p:nvSpPr>
        <p:spPr/>
        <p:txBody>
          <a:bodyPr/>
          <a:lstStyle/>
          <a:p>
            <a:r>
              <a:rPr lang="en-CA" dirty="0"/>
              <a:t>Tutorial Outline</a:t>
            </a:r>
          </a:p>
        </p:txBody>
      </p:sp>
      <p:sp>
        <p:nvSpPr>
          <p:cNvPr id="3" name="Content Placeholder 2">
            <a:extLst>
              <a:ext uri="{FF2B5EF4-FFF2-40B4-BE49-F238E27FC236}">
                <a16:creationId xmlns:a16="http://schemas.microsoft.com/office/drawing/2014/main" id="{437B0683-ED39-41BD-9AC2-A1558067337C}"/>
              </a:ext>
            </a:extLst>
          </p:cNvPr>
          <p:cNvSpPr>
            <a:spLocks noGrp="1"/>
          </p:cNvSpPr>
          <p:nvPr>
            <p:ph idx="1"/>
          </p:nvPr>
        </p:nvSpPr>
        <p:spPr/>
        <p:txBody>
          <a:bodyPr/>
          <a:lstStyle/>
          <a:p>
            <a:r>
              <a:rPr lang="en-CA" dirty="0"/>
              <a:t>Today, we will discuss the following:</a:t>
            </a:r>
          </a:p>
          <a:p>
            <a:pPr lvl="1"/>
            <a:endParaRPr lang="en-CA" dirty="0"/>
          </a:p>
        </p:txBody>
      </p:sp>
      <p:sp>
        <p:nvSpPr>
          <p:cNvPr id="4" name="Footer Placeholder 3">
            <a:extLst>
              <a:ext uri="{FF2B5EF4-FFF2-40B4-BE49-F238E27FC236}">
                <a16:creationId xmlns:a16="http://schemas.microsoft.com/office/drawing/2014/main" id="{85CE82B0-4FF0-4411-A45C-AB3627231DAE}"/>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9E65B56B-5DBC-4182-8895-BEB705D9D4ED}"/>
              </a:ext>
            </a:extLst>
          </p:cNvPr>
          <p:cNvSpPr>
            <a:spLocks noGrp="1"/>
          </p:cNvSpPr>
          <p:nvPr>
            <p:ph type="sldNum" sz="quarter" idx="11"/>
          </p:nvPr>
        </p:nvSpPr>
        <p:spPr/>
        <p:txBody>
          <a:bodyPr/>
          <a:lstStyle/>
          <a:p>
            <a:pPr>
              <a:defRPr/>
            </a:pPr>
            <a:fld id="{72682330-DDB7-47C0-8BEC-295D3A41AB1F}" type="slidenum">
              <a:rPr lang="en-US" smtClean="0"/>
              <a:pPr>
                <a:defRPr/>
              </a:pPr>
              <a:t>13</a:t>
            </a:fld>
            <a:endParaRPr lang="en-US" dirty="0"/>
          </a:p>
        </p:txBody>
      </p:sp>
      <p:sp>
        <p:nvSpPr>
          <p:cNvPr id="6" name="Date Placeholder 5">
            <a:extLst>
              <a:ext uri="{FF2B5EF4-FFF2-40B4-BE49-F238E27FC236}">
                <a16:creationId xmlns:a16="http://schemas.microsoft.com/office/drawing/2014/main" id="{BFC055DA-4F62-4DE7-A048-8747A5757515}"/>
              </a:ext>
            </a:extLst>
          </p:cNvPr>
          <p:cNvSpPr>
            <a:spLocks noGrp="1"/>
          </p:cNvSpPr>
          <p:nvPr>
            <p:ph type="dt" sz="half" idx="12"/>
          </p:nvPr>
        </p:nvSpPr>
        <p:spPr/>
        <p:txBody>
          <a:bodyPr/>
          <a:lstStyle/>
          <a:p>
            <a:pPr>
              <a:defRPr/>
            </a:pPr>
            <a:r>
              <a:rPr lang="en-US"/>
              <a:t>Fall 2021</a:t>
            </a:r>
            <a:endParaRPr lang="en-CA" dirty="0"/>
          </a:p>
        </p:txBody>
      </p:sp>
    </p:spTree>
    <p:extLst>
      <p:ext uri="{BB962C8B-B14F-4D97-AF65-F5344CB8AC3E}">
        <p14:creationId xmlns:p14="http://schemas.microsoft.com/office/powerpoint/2010/main" val="24575315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1C6A3-03E0-4B52-AC59-E207F91A136D}"/>
              </a:ext>
            </a:extLst>
          </p:cNvPr>
          <p:cNvSpPr>
            <a:spLocks noGrp="1"/>
          </p:cNvSpPr>
          <p:nvPr>
            <p:ph type="title"/>
          </p:nvPr>
        </p:nvSpPr>
        <p:spPr/>
        <p:txBody>
          <a:bodyPr/>
          <a:lstStyle/>
          <a:p>
            <a:r>
              <a:rPr lang="en-CA" dirty="0"/>
              <a:t>Tutorial Outline</a:t>
            </a:r>
          </a:p>
        </p:txBody>
      </p:sp>
      <p:sp>
        <p:nvSpPr>
          <p:cNvPr id="3" name="Content Placeholder 2">
            <a:extLst>
              <a:ext uri="{FF2B5EF4-FFF2-40B4-BE49-F238E27FC236}">
                <a16:creationId xmlns:a16="http://schemas.microsoft.com/office/drawing/2014/main" id="{437B0683-ED39-41BD-9AC2-A1558067337C}"/>
              </a:ext>
            </a:extLst>
          </p:cNvPr>
          <p:cNvSpPr>
            <a:spLocks noGrp="1"/>
          </p:cNvSpPr>
          <p:nvPr>
            <p:ph idx="1"/>
          </p:nvPr>
        </p:nvSpPr>
        <p:spPr/>
        <p:txBody>
          <a:bodyPr/>
          <a:lstStyle/>
          <a:p>
            <a:r>
              <a:rPr lang="en-CA" dirty="0"/>
              <a:t>Today, we will discuss the following:</a:t>
            </a:r>
          </a:p>
          <a:p>
            <a:pPr lvl="1"/>
            <a:r>
              <a:rPr lang="en-CA" dirty="0"/>
              <a:t>Digital logic gates</a:t>
            </a:r>
          </a:p>
        </p:txBody>
      </p:sp>
      <p:sp>
        <p:nvSpPr>
          <p:cNvPr id="4" name="Footer Placeholder 3">
            <a:extLst>
              <a:ext uri="{FF2B5EF4-FFF2-40B4-BE49-F238E27FC236}">
                <a16:creationId xmlns:a16="http://schemas.microsoft.com/office/drawing/2014/main" id="{85CE82B0-4FF0-4411-A45C-AB3627231DAE}"/>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9E65B56B-5DBC-4182-8895-BEB705D9D4ED}"/>
              </a:ext>
            </a:extLst>
          </p:cNvPr>
          <p:cNvSpPr>
            <a:spLocks noGrp="1"/>
          </p:cNvSpPr>
          <p:nvPr>
            <p:ph type="sldNum" sz="quarter" idx="11"/>
          </p:nvPr>
        </p:nvSpPr>
        <p:spPr/>
        <p:txBody>
          <a:bodyPr/>
          <a:lstStyle/>
          <a:p>
            <a:pPr>
              <a:defRPr/>
            </a:pPr>
            <a:fld id="{72682330-DDB7-47C0-8BEC-295D3A41AB1F}" type="slidenum">
              <a:rPr lang="en-US" smtClean="0"/>
              <a:pPr>
                <a:defRPr/>
              </a:pPr>
              <a:t>14</a:t>
            </a:fld>
            <a:endParaRPr lang="en-US" dirty="0"/>
          </a:p>
        </p:txBody>
      </p:sp>
      <p:sp>
        <p:nvSpPr>
          <p:cNvPr id="6" name="Date Placeholder 5">
            <a:extLst>
              <a:ext uri="{FF2B5EF4-FFF2-40B4-BE49-F238E27FC236}">
                <a16:creationId xmlns:a16="http://schemas.microsoft.com/office/drawing/2014/main" id="{BFC055DA-4F62-4DE7-A048-8747A5757515}"/>
              </a:ext>
            </a:extLst>
          </p:cNvPr>
          <p:cNvSpPr>
            <a:spLocks noGrp="1"/>
          </p:cNvSpPr>
          <p:nvPr>
            <p:ph type="dt" sz="half" idx="12"/>
          </p:nvPr>
        </p:nvSpPr>
        <p:spPr/>
        <p:txBody>
          <a:bodyPr/>
          <a:lstStyle/>
          <a:p>
            <a:pPr>
              <a:defRPr/>
            </a:pPr>
            <a:r>
              <a:rPr lang="en-US"/>
              <a:t>Fall 2021</a:t>
            </a:r>
            <a:endParaRPr lang="en-CA" dirty="0"/>
          </a:p>
        </p:txBody>
      </p:sp>
    </p:spTree>
    <p:extLst>
      <p:ext uri="{BB962C8B-B14F-4D97-AF65-F5344CB8AC3E}">
        <p14:creationId xmlns:p14="http://schemas.microsoft.com/office/powerpoint/2010/main" val="11160354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1C6A3-03E0-4B52-AC59-E207F91A136D}"/>
              </a:ext>
            </a:extLst>
          </p:cNvPr>
          <p:cNvSpPr>
            <a:spLocks noGrp="1"/>
          </p:cNvSpPr>
          <p:nvPr>
            <p:ph type="title"/>
          </p:nvPr>
        </p:nvSpPr>
        <p:spPr/>
        <p:txBody>
          <a:bodyPr/>
          <a:lstStyle/>
          <a:p>
            <a:r>
              <a:rPr lang="en-CA" dirty="0"/>
              <a:t>Tutorial Outline</a:t>
            </a:r>
          </a:p>
        </p:txBody>
      </p:sp>
      <p:sp>
        <p:nvSpPr>
          <p:cNvPr id="3" name="Content Placeholder 2">
            <a:extLst>
              <a:ext uri="{FF2B5EF4-FFF2-40B4-BE49-F238E27FC236}">
                <a16:creationId xmlns:a16="http://schemas.microsoft.com/office/drawing/2014/main" id="{437B0683-ED39-41BD-9AC2-A1558067337C}"/>
              </a:ext>
            </a:extLst>
          </p:cNvPr>
          <p:cNvSpPr>
            <a:spLocks noGrp="1"/>
          </p:cNvSpPr>
          <p:nvPr>
            <p:ph idx="1"/>
          </p:nvPr>
        </p:nvSpPr>
        <p:spPr/>
        <p:txBody>
          <a:bodyPr/>
          <a:lstStyle/>
          <a:p>
            <a:r>
              <a:rPr lang="en-CA" dirty="0"/>
              <a:t>Today, we will discuss the following:</a:t>
            </a:r>
          </a:p>
          <a:p>
            <a:pPr lvl="1"/>
            <a:r>
              <a:rPr lang="en-CA" dirty="0"/>
              <a:t>Digital logic gates</a:t>
            </a:r>
          </a:p>
          <a:p>
            <a:pPr lvl="1"/>
            <a:r>
              <a:rPr lang="en-CA" dirty="0"/>
              <a:t>Output drivers</a:t>
            </a:r>
          </a:p>
        </p:txBody>
      </p:sp>
      <p:sp>
        <p:nvSpPr>
          <p:cNvPr id="4" name="Footer Placeholder 3">
            <a:extLst>
              <a:ext uri="{FF2B5EF4-FFF2-40B4-BE49-F238E27FC236}">
                <a16:creationId xmlns:a16="http://schemas.microsoft.com/office/drawing/2014/main" id="{85CE82B0-4FF0-4411-A45C-AB3627231DAE}"/>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9E65B56B-5DBC-4182-8895-BEB705D9D4ED}"/>
              </a:ext>
            </a:extLst>
          </p:cNvPr>
          <p:cNvSpPr>
            <a:spLocks noGrp="1"/>
          </p:cNvSpPr>
          <p:nvPr>
            <p:ph type="sldNum" sz="quarter" idx="11"/>
          </p:nvPr>
        </p:nvSpPr>
        <p:spPr/>
        <p:txBody>
          <a:bodyPr/>
          <a:lstStyle/>
          <a:p>
            <a:pPr>
              <a:defRPr/>
            </a:pPr>
            <a:fld id="{72682330-DDB7-47C0-8BEC-295D3A41AB1F}" type="slidenum">
              <a:rPr lang="en-US" smtClean="0"/>
              <a:pPr>
                <a:defRPr/>
              </a:pPr>
              <a:t>15</a:t>
            </a:fld>
            <a:endParaRPr lang="en-US" dirty="0"/>
          </a:p>
        </p:txBody>
      </p:sp>
      <p:sp>
        <p:nvSpPr>
          <p:cNvPr id="6" name="Date Placeholder 5">
            <a:extLst>
              <a:ext uri="{FF2B5EF4-FFF2-40B4-BE49-F238E27FC236}">
                <a16:creationId xmlns:a16="http://schemas.microsoft.com/office/drawing/2014/main" id="{BFC055DA-4F62-4DE7-A048-8747A5757515}"/>
              </a:ext>
            </a:extLst>
          </p:cNvPr>
          <p:cNvSpPr>
            <a:spLocks noGrp="1"/>
          </p:cNvSpPr>
          <p:nvPr>
            <p:ph type="dt" sz="half" idx="12"/>
          </p:nvPr>
        </p:nvSpPr>
        <p:spPr/>
        <p:txBody>
          <a:bodyPr/>
          <a:lstStyle/>
          <a:p>
            <a:pPr>
              <a:defRPr/>
            </a:pPr>
            <a:r>
              <a:rPr lang="en-US"/>
              <a:t>Fall 2021</a:t>
            </a:r>
            <a:endParaRPr lang="en-CA" dirty="0"/>
          </a:p>
        </p:txBody>
      </p:sp>
    </p:spTree>
    <p:extLst>
      <p:ext uri="{BB962C8B-B14F-4D97-AF65-F5344CB8AC3E}">
        <p14:creationId xmlns:p14="http://schemas.microsoft.com/office/powerpoint/2010/main" val="10774868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1C6A3-03E0-4B52-AC59-E207F91A136D}"/>
              </a:ext>
            </a:extLst>
          </p:cNvPr>
          <p:cNvSpPr>
            <a:spLocks noGrp="1"/>
          </p:cNvSpPr>
          <p:nvPr>
            <p:ph type="title"/>
          </p:nvPr>
        </p:nvSpPr>
        <p:spPr/>
        <p:txBody>
          <a:bodyPr/>
          <a:lstStyle/>
          <a:p>
            <a:r>
              <a:rPr lang="en-CA" dirty="0"/>
              <a:t>Tutorial Outline</a:t>
            </a:r>
          </a:p>
        </p:txBody>
      </p:sp>
      <p:sp>
        <p:nvSpPr>
          <p:cNvPr id="3" name="Content Placeholder 2">
            <a:extLst>
              <a:ext uri="{FF2B5EF4-FFF2-40B4-BE49-F238E27FC236}">
                <a16:creationId xmlns:a16="http://schemas.microsoft.com/office/drawing/2014/main" id="{437B0683-ED39-41BD-9AC2-A1558067337C}"/>
              </a:ext>
            </a:extLst>
          </p:cNvPr>
          <p:cNvSpPr>
            <a:spLocks noGrp="1"/>
          </p:cNvSpPr>
          <p:nvPr>
            <p:ph idx="1"/>
          </p:nvPr>
        </p:nvSpPr>
        <p:spPr/>
        <p:txBody>
          <a:bodyPr/>
          <a:lstStyle/>
          <a:p>
            <a:r>
              <a:rPr lang="en-CA" dirty="0"/>
              <a:t>Today, we will discuss the following:</a:t>
            </a:r>
          </a:p>
          <a:p>
            <a:pPr lvl="1"/>
            <a:r>
              <a:rPr lang="en-CA" dirty="0"/>
              <a:t>Digital logic gates</a:t>
            </a:r>
          </a:p>
          <a:p>
            <a:pPr lvl="1"/>
            <a:r>
              <a:rPr lang="en-CA" dirty="0"/>
              <a:t>Output drivers</a:t>
            </a:r>
          </a:p>
          <a:p>
            <a:pPr lvl="1"/>
            <a:r>
              <a:rPr lang="en-CA" dirty="0"/>
              <a:t>Signal notations</a:t>
            </a:r>
          </a:p>
        </p:txBody>
      </p:sp>
      <p:sp>
        <p:nvSpPr>
          <p:cNvPr id="4" name="Footer Placeholder 3">
            <a:extLst>
              <a:ext uri="{FF2B5EF4-FFF2-40B4-BE49-F238E27FC236}">
                <a16:creationId xmlns:a16="http://schemas.microsoft.com/office/drawing/2014/main" id="{85CE82B0-4FF0-4411-A45C-AB3627231DAE}"/>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9E65B56B-5DBC-4182-8895-BEB705D9D4ED}"/>
              </a:ext>
            </a:extLst>
          </p:cNvPr>
          <p:cNvSpPr>
            <a:spLocks noGrp="1"/>
          </p:cNvSpPr>
          <p:nvPr>
            <p:ph type="sldNum" sz="quarter" idx="11"/>
          </p:nvPr>
        </p:nvSpPr>
        <p:spPr/>
        <p:txBody>
          <a:bodyPr/>
          <a:lstStyle/>
          <a:p>
            <a:pPr>
              <a:defRPr/>
            </a:pPr>
            <a:fld id="{72682330-DDB7-47C0-8BEC-295D3A41AB1F}" type="slidenum">
              <a:rPr lang="en-US" smtClean="0"/>
              <a:pPr>
                <a:defRPr/>
              </a:pPr>
              <a:t>16</a:t>
            </a:fld>
            <a:endParaRPr lang="en-US" dirty="0"/>
          </a:p>
        </p:txBody>
      </p:sp>
      <p:sp>
        <p:nvSpPr>
          <p:cNvPr id="6" name="Date Placeholder 5">
            <a:extLst>
              <a:ext uri="{FF2B5EF4-FFF2-40B4-BE49-F238E27FC236}">
                <a16:creationId xmlns:a16="http://schemas.microsoft.com/office/drawing/2014/main" id="{BFC055DA-4F62-4DE7-A048-8747A5757515}"/>
              </a:ext>
            </a:extLst>
          </p:cNvPr>
          <p:cNvSpPr>
            <a:spLocks noGrp="1"/>
          </p:cNvSpPr>
          <p:nvPr>
            <p:ph type="dt" sz="half" idx="12"/>
          </p:nvPr>
        </p:nvSpPr>
        <p:spPr/>
        <p:txBody>
          <a:bodyPr/>
          <a:lstStyle/>
          <a:p>
            <a:pPr>
              <a:defRPr/>
            </a:pPr>
            <a:r>
              <a:rPr lang="en-US"/>
              <a:t>Fall 2021</a:t>
            </a:r>
            <a:endParaRPr lang="en-CA" dirty="0"/>
          </a:p>
        </p:txBody>
      </p:sp>
    </p:spTree>
    <p:extLst>
      <p:ext uri="{BB962C8B-B14F-4D97-AF65-F5344CB8AC3E}">
        <p14:creationId xmlns:p14="http://schemas.microsoft.com/office/powerpoint/2010/main" val="19790759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88E6B-7A92-4DB1-BC70-1E07896D63DC}"/>
              </a:ext>
            </a:extLst>
          </p:cNvPr>
          <p:cNvSpPr>
            <a:spLocks noGrp="1"/>
          </p:cNvSpPr>
          <p:nvPr>
            <p:ph type="title"/>
          </p:nvPr>
        </p:nvSpPr>
        <p:spPr/>
        <p:txBody>
          <a:bodyPr/>
          <a:lstStyle/>
          <a:p>
            <a:r>
              <a:rPr lang="en-CA" dirty="0"/>
              <a:t>The Buffer</a:t>
            </a:r>
          </a:p>
        </p:txBody>
      </p:sp>
      <p:sp>
        <p:nvSpPr>
          <p:cNvPr id="3" name="Content Placeholder 2">
            <a:extLst>
              <a:ext uri="{FF2B5EF4-FFF2-40B4-BE49-F238E27FC236}">
                <a16:creationId xmlns:a16="http://schemas.microsoft.com/office/drawing/2014/main" id="{1DFC75F2-663A-44B4-810E-484EA884D030}"/>
              </a:ext>
            </a:extLst>
          </p:cNvPr>
          <p:cNvSpPr>
            <a:spLocks noGrp="1"/>
          </p:cNvSpPr>
          <p:nvPr>
            <p:ph idx="1"/>
          </p:nvPr>
        </p:nvSpPr>
        <p:spPr/>
        <p:txBody>
          <a:bodyPr/>
          <a:lstStyle/>
          <a:p>
            <a:r>
              <a:rPr lang="en-CA" dirty="0"/>
              <a:t>The buffer is the simplest digital logic gate:</a:t>
            </a:r>
          </a:p>
        </p:txBody>
      </p:sp>
      <p:sp>
        <p:nvSpPr>
          <p:cNvPr id="4" name="Footer Placeholder 3">
            <a:extLst>
              <a:ext uri="{FF2B5EF4-FFF2-40B4-BE49-F238E27FC236}">
                <a16:creationId xmlns:a16="http://schemas.microsoft.com/office/drawing/2014/main" id="{1B33E268-0DC8-4317-A35A-A8A1BBC398A5}"/>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6A916542-D14E-4C99-91A4-E7DCACDE36E0}"/>
              </a:ext>
            </a:extLst>
          </p:cNvPr>
          <p:cNvSpPr>
            <a:spLocks noGrp="1"/>
          </p:cNvSpPr>
          <p:nvPr>
            <p:ph type="sldNum" sz="quarter" idx="11"/>
          </p:nvPr>
        </p:nvSpPr>
        <p:spPr/>
        <p:txBody>
          <a:bodyPr/>
          <a:lstStyle/>
          <a:p>
            <a:pPr>
              <a:defRPr/>
            </a:pPr>
            <a:fld id="{72682330-DDB7-47C0-8BEC-295D3A41AB1F}" type="slidenum">
              <a:rPr lang="en-US" smtClean="0"/>
              <a:pPr>
                <a:defRPr/>
              </a:pPr>
              <a:t>17</a:t>
            </a:fld>
            <a:endParaRPr lang="en-US" dirty="0"/>
          </a:p>
        </p:txBody>
      </p:sp>
      <p:sp>
        <p:nvSpPr>
          <p:cNvPr id="6" name="Date Placeholder 5">
            <a:extLst>
              <a:ext uri="{FF2B5EF4-FFF2-40B4-BE49-F238E27FC236}">
                <a16:creationId xmlns:a16="http://schemas.microsoft.com/office/drawing/2014/main" id="{A39C3A3A-2F6B-4AD7-856A-CE9C5D51B36D}"/>
              </a:ext>
            </a:extLst>
          </p:cNvPr>
          <p:cNvSpPr>
            <a:spLocks noGrp="1"/>
          </p:cNvSpPr>
          <p:nvPr>
            <p:ph type="dt" sz="half" idx="12"/>
          </p:nvPr>
        </p:nvSpPr>
        <p:spPr/>
        <p:txBody>
          <a:bodyPr/>
          <a:lstStyle/>
          <a:p>
            <a:pPr>
              <a:defRPr/>
            </a:pPr>
            <a:r>
              <a:rPr lang="en-US"/>
              <a:t>Fall 2021</a:t>
            </a:r>
            <a:endParaRPr lang="en-CA" dirty="0"/>
          </a:p>
        </p:txBody>
      </p:sp>
      <p:pic>
        <p:nvPicPr>
          <p:cNvPr id="8" name="Picture 7" descr="A picture containing drawing&#10;&#10;Description automatically generated">
            <a:extLst>
              <a:ext uri="{FF2B5EF4-FFF2-40B4-BE49-F238E27FC236}">
                <a16:creationId xmlns:a16="http://schemas.microsoft.com/office/drawing/2014/main" id="{EB96C1AC-5061-4BCE-9C8B-BCE1F7CA1E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845" y="1905000"/>
            <a:ext cx="2267909" cy="963251"/>
          </a:xfrm>
          <a:prstGeom prst="rect">
            <a:avLst/>
          </a:prstGeom>
        </p:spPr>
      </p:pic>
    </p:spTree>
    <p:extLst>
      <p:ext uri="{BB962C8B-B14F-4D97-AF65-F5344CB8AC3E}">
        <p14:creationId xmlns:p14="http://schemas.microsoft.com/office/powerpoint/2010/main" val="40746488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88E6B-7A92-4DB1-BC70-1E07896D63DC}"/>
              </a:ext>
            </a:extLst>
          </p:cNvPr>
          <p:cNvSpPr>
            <a:spLocks noGrp="1"/>
          </p:cNvSpPr>
          <p:nvPr>
            <p:ph type="title"/>
          </p:nvPr>
        </p:nvSpPr>
        <p:spPr/>
        <p:txBody>
          <a:bodyPr/>
          <a:lstStyle/>
          <a:p>
            <a:r>
              <a:rPr lang="en-CA" dirty="0"/>
              <a:t>The Buffer</a:t>
            </a:r>
          </a:p>
        </p:txBody>
      </p:sp>
      <p:sp>
        <p:nvSpPr>
          <p:cNvPr id="3" name="Content Placeholder 2">
            <a:extLst>
              <a:ext uri="{FF2B5EF4-FFF2-40B4-BE49-F238E27FC236}">
                <a16:creationId xmlns:a16="http://schemas.microsoft.com/office/drawing/2014/main" id="{1DFC75F2-663A-44B4-810E-484EA884D030}"/>
              </a:ext>
            </a:extLst>
          </p:cNvPr>
          <p:cNvSpPr>
            <a:spLocks noGrp="1"/>
          </p:cNvSpPr>
          <p:nvPr>
            <p:ph idx="1"/>
          </p:nvPr>
        </p:nvSpPr>
        <p:spPr/>
        <p:txBody>
          <a:bodyPr/>
          <a:lstStyle/>
          <a:p>
            <a:r>
              <a:rPr lang="en-CA" dirty="0"/>
              <a:t>The buffer is the simplest digital logic gate:</a:t>
            </a:r>
          </a:p>
        </p:txBody>
      </p:sp>
      <p:sp>
        <p:nvSpPr>
          <p:cNvPr id="4" name="Footer Placeholder 3">
            <a:extLst>
              <a:ext uri="{FF2B5EF4-FFF2-40B4-BE49-F238E27FC236}">
                <a16:creationId xmlns:a16="http://schemas.microsoft.com/office/drawing/2014/main" id="{1B33E268-0DC8-4317-A35A-A8A1BBC398A5}"/>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6A916542-D14E-4C99-91A4-E7DCACDE36E0}"/>
              </a:ext>
            </a:extLst>
          </p:cNvPr>
          <p:cNvSpPr>
            <a:spLocks noGrp="1"/>
          </p:cNvSpPr>
          <p:nvPr>
            <p:ph type="sldNum" sz="quarter" idx="11"/>
          </p:nvPr>
        </p:nvSpPr>
        <p:spPr/>
        <p:txBody>
          <a:bodyPr/>
          <a:lstStyle/>
          <a:p>
            <a:pPr>
              <a:defRPr/>
            </a:pPr>
            <a:fld id="{72682330-DDB7-47C0-8BEC-295D3A41AB1F}" type="slidenum">
              <a:rPr lang="en-US" smtClean="0"/>
              <a:pPr>
                <a:defRPr/>
              </a:pPr>
              <a:t>18</a:t>
            </a:fld>
            <a:endParaRPr lang="en-US" dirty="0"/>
          </a:p>
        </p:txBody>
      </p:sp>
      <p:sp>
        <p:nvSpPr>
          <p:cNvPr id="6" name="Date Placeholder 5">
            <a:extLst>
              <a:ext uri="{FF2B5EF4-FFF2-40B4-BE49-F238E27FC236}">
                <a16:creationId xmlns:a16="http://schemas.microsoft.com/office/drawing/2014/main" id="{A39C3A3A-2F6B-4AD7-856A-CE9C5D51B36D}"/>
              </a:ext>
            </a:extLst>
          </p:cNvPr>
          <p:cNvSpPr>
            <a:spLocks noGrp="1"/>
          </p:cNvSpPr>
          <p:nvPr>
            <p:ph type="dt" sz="half" idx="12"/>
          </p:nvPr>
        </p:nvSpPr>
        <p:spPr/>
        <p:txBody>
          <a:bodyPr/>
          <a:lstStyle/>
          <a:p>
            <a:pPr>
              <a:defRPr/>
            </a:pPr>
            <a:r>
              <a:rPr lang="en-US"/>
              <a:t>Fall 2021</a:t>
            </a:r>
            <a:endParaRPr lang="en-CA" dirty="0"/>
          </a:p>
        </p:txBody>
      </p:sp>
      <p:pic>
        <p:nvPicPr>
          <p:cNvPr id="8" name="Picture 7" descr="A picture containing drawing&#10;&#10;Description automatically generated">
            <a:extLst>
              <a:ext uri="{FF2B5EF4-FFF2-40B4-BE49-F238E27FC236}">
                <a16:creationId xmlns:a16="http://schemas.microsoft.com/office/drawing/2014/main" id="{EB96C1AC-5061-4BCE-9C8B-BCE1F7CA1E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845" y="1905000"/>
            <a:ext cx="2267909" cy="963251"/>
          </a:xfrm>
          <a:prstGeom prst="rect">
            <a:avLst/>
          </a:prstGeom>
        </p:spPr>
      </p:pic>
      <p:graphicFrame>
        <p:nvGraphicFramePr>
          <p:cNvPr id="9" name="Table 9">
            <a:extLst>
              <a:ext uri="{FF2B5EF4-FFF2-40B4-BE49-F238E27FC236}">
                <a16:creationId xmlns:a16="http://schemas.microsoft.com/office/drawing/2014/main" id="{6C8C93EC-DA5D-4ACD-916F-B5B82E83BA03}"/>
              </a:ext>
            </a:extLst>
          </p:cNvPr>
          <p:cNvGraphicFramePr>
            <a:graphicFrameLocks noGrp="1"/>
          </p:cNvGraphicFramePr>
          <p:nvPr>
            <p:extLst>
              <p:ext uri="{D42A27DB-BD31-4B8C-83A1-F6EECF244321}">
                <p14:modId xmlns:p14="http://schemas.microsoft.com/office/powerpoint/2010/main" val="3696385526"/>
              </p:ext>
            </p:extLst>
          </p:nvPr>
        </p:nvGraphicFramePr>
        <p:xfrm>
          <a:off x="3733800" y="1830365"/>
          <a:ext cx="1371600" cy="1112520"/>
        </p:xfrm>
        <a:graphic>
          <a:graphicData uri="http://schemas.openxmlformats.org/drawingml/2006/table">
            <a:tbl>
              <a:tblPr firstRow="1" bandRow="1">
                <a:tableStyleId>{3C2FFA5D-87B4-456A-9821-1D502468CF0F}</a:tableStyleId>
              </a:tblPr>
              <a:tblGrid>
                <a:gridCol w="685800">
                  <a:extLst>
                    <a:ext uri="{9D8B030D-6E8A-4147-A177-3AD203B41FA5}">
                      <a16:colId xmlns:a16="http://schemas.microsoft.com/office/drawing/2014/main" val="287580551"/>
                    </a:ext>
                  </a:extLst>
                </a:gridCol>
                <a:gridCol w="685800">
                  <a:extLst>
                    <a:ext uri="{9D8B030D-6E8A-4147-A177-3AD203B41FA5}">
                      <a16:colId xmlns:a16="http://schemas.microsoft.com/office/drawing/2014/main" val="3848652840"/>
                    </a:ext>
                  </a:extLst>
                </a:gridCol>
              </a:tblGrid>
              <a:tr h="370840">
                <a:tc>
                  <a:txBody>
                    <a:bodyPr/>
                    <a:lstStyle/>
                    <a:p>
                      <a:pPr algn="ctr"/>
                      <a:r>
                        <a:rPr lang="en-CA" dirty="0"/>
                        <a:t>A</a:t>
                      </a:r>
                    </a:p>
                  </a:txBody>
                  <a:tcPr/>
                </a:tc>
                <a:tc>
                  <a:txBody>
                    <a:bodyPr/>
                    <a:lstStyle/>
                    <a:p>
                      <a:pPr algn="ctr"/>
                      <a:r>
                        <a:rPr lang="en-CA" dirty="0"/>
                        <a:t>B</a:t>
                      </a:r>
                    </a:p>
                  </a:txBody>
                  <a:tcPr/>
                </a:tc>
                <a:extLst>
                  <a:ext uri="{0D108BD9-81ED-4DB2-BD59-A6C34878D82A}">
                    <a16:rowId xmlns:a16="http://schemas.microsoft.com/office/drawing/2014/main" val="2961602566"/>
                  </a:ext>
                </a:extLst>
              </a:tr>
              <a:tr h="370840">
                <a:tc>
                  <a:txBody>
                    <a:bodyPr/>
                    <a:lstStyle/>
                    <a:p>
                      <a:pPr algn="ctr"/>
                      <a:r>
                        <a:rPr lang="en-CA" dirty="0"/>
                        <a:t>0</a:t>
                      </a:r>
                    </a:p>
                  </a:txBody>
                  <a:tcPr/>
                </a:tc>
                <a:tc>
                  <a:txBody>
                    <a:bodyPr/>
                    <a:lstStyle/>
                    <a:p>
                      <a:pPr algn="ctr"/>
                      <a:r>
                        <a:rPr lang="en-CA" dirty="0"/>
                        <a:t>0</a:t>
                      </a:r>
                    </a:p>
                  </a:txBody>
                  <a:tcPr/>
                </a:tc>
                <a:extLst>
                  <a:ext uri="{0D108BD9-81ED-4DB2-BD59-A6C34878D82A}">
                    <a16:rowId xmlns:a16="http://schemas.microsoft.com/office/drawing/2014/main" val="1965663002"/>
                  </a:ext>
                </a:extLst>
              </a:tr>
              <a:tr h="370840">
                <a:tc>
                  <a:txBody>
                    <a:bodyPr/>
                    <a:lstStyle/>
                    <a:p>
                      <a:pPr algn="ctr"/>
                      <a:r>
                        <a:rPr lang="en-CA" dirty="0"/>
                        <a:t>1</a:t>
                      </a:r>
                    </a:p>
                  </a:txBody>
                  <a:tcPr/>
                </a:tc>
                <a:tc>
                  <a:txBody>
                    <a:bodyPr/>
                    <a:lstStyle/>
                    <a:p>
                      <a:pPr algn="ctr"/>
                      <a:r>
                        <a:rPr lang="en-CA" dirty="0"/>
                        <a:t>1</a:t>
                      </a:r>
                    </a:p>
                  </a:txBody>
                  <a:tcPr/>
                </a:tc>
                <a:extLst>
                  <a:ext uri="{0D108BD9-81ED-4DB2-BD59-A6C34878D82A}">
                    <a16:rowId xmlns:a16="http://schemas.microsoft.com/office/drawing/2014/main" val="1482734216"/>
                  </a:ext>
                </a:extLst>
              </a:tr>
            </a:tbl>
          </a:graphicData>
        </a:graphic>
      </p:graphicFrame>
      <p:sp>
        <p:nvSpPr>
          <p:cNvPr id="10" name="TextBox 9">
            <a:extLst>
              <a:ext uri="{FF2B5EF4-FFF2-40B4-BE49-F238E27FC236}">
                <a16:creationId xmlns:a16="http://schemas.microsoft.com/office/drawing/2014/main" id="{A9299F8D-822E-4D20-827E-8D50AA3D6346}"/>
              </a:ext>
            </a:extLst>
          </p:cNvPr>
          <p:cNvSpPr txBox="1"/>
          <p:nvPr/>
        </p:nvSpPr>
        <p:spPr>
          <a:xfrm>
            <a:off x="6096000" y="2155792"/>
            <a:ext cx="1371600" cy="461665"/>
          </a:xfrm>
          <a:prstGeom prst="rect">
            <a:avLst/>
          </a:prstGeom>
          <a:noFill/>
        </p:spPr>
        <p:txBody>
          <a:bodyPr wrap="square" rtlCol="0">
            <a:spAutoFit/>
          </a:bodyPr>
          <a:lstStyle/>
          <a:p>
            <a:r>
              <a:rPr lang="en-CA" sz="2400" dirty="0">
                <a:latin typeface="+mn-lt"/>
              </a:rPr>
              <a:t>B = A</a:t>
            </a:r>
          </a:p>
        </p:txBody>
      </p:sp>
    </p:spTree>
    <p:extLst>
      <p:ext uri="{BB962C8B-B14F-4D97-AF65-F5344CB8AC3E}">
        <p14:creationId xmlns:p14="http://schemas.microsoft.com/office/powerpoint/2010/main" val="19080218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88E6B-7A92-4DB1-BC70-1E07896D63DC}"/>
              </a:ext>
            </a:extLst>
          </p:cNvPr>
          <p:cNvSpPr>
            <a:spLocks noGrp="1"/>
          </p:cNvSpPr>
          <p:nvPr>
            <p:ph type="title"/>
          </p:nvPr>
        </p:nvSpPr>
        <p:spPr/>
        <p:txBody>
          <a:bodyPr/>
          <a:lstStyle/>
          <a:p>
            <a:r>
              <a:rPr lang="en-CA" dirty="0"/>
              <a:t>The Buffer</a:t>
            </a:r>
          </a:p>
        </p:txBody>
      </p:sp>
      <p:sp>
        <p:nvSpPr>
          <p:cNvPr id="3" name="Content Placeholder 2">
            <a:extLst>
              <a:ext uri="{FF2B5EF4-FFF2-40B4-BE49-F238E27FC236}">
                <a16:creationId xmlns:a16="http://schemas.microsoft.com/office/drawing/2014/main" id="{1DFC75F2-663A-44B4-810E-484EA884D030}"/>
              </a:ext>
            </a:extLst>
          </p:cNvPr>
          <p:cNvSpPr>
            <a:spLocks noGrp="1"/>
          </p:cNvSpPr>
          <p:nvPr>
            <p:ph idx="1"/>
          </p:nvPr>
        </p:nvSpPr>
        <p:spPr/>
        <p:txBody>
          <a:bodyPr/>
          <a:lstStyle/>
          <a:p>
            <a:r>
              <a:rPr lang="en-CA" dirty="0"/>
              <a:t>The buffer is the simplest digital logic gate:</a:t>
            </a:r>
          </a:p>
          <a:p>
            <a:endParaRPr lang="en-CA" dirty="0"/>
          </a:p>
          <a:p>
            <a:endParaRPr lang="en-CA" dirty="0"/>
          </a:p>
          <a:p>
            <a:endParaRPr lang="en-CA" dirty="0"/>
          </a:p>
          <a:p>
            <a:r>
              <a:rPr lang="en-CA" dirty="0"/>
              <a:t>It serves two possible purposes:</a:t>
            </a:r>
          </a:p>
        </p:txBody>
      </p:sp>
      <p:sp>
        <p:nvSpPr>
          <p:cNvPr id="4" name="Footer Placeholder 3">
            <a:extLst>
              <a:ext uri="{FF2B5EF4-FFF2-40B4-BE49-F238E27FC236}">
                <a16:creationId xmlns:a16="http://schemas.microsoft.com/office/drawing/2014/main" id="{1B33E268-0DC8-4317-A35A-A8A1BBC398A5}"/>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6A916542-D14E-4C99-91A4-E7DCACDE36E0}"/>
              </a:ext>
            </a:extLst>
          </p:cNvPr>
          <p:cNvSpPr>
            <a:spLocks noGrp="1"/>
          </p:cNvSpPr>
          <p:nvPr>
            <p:ph type="sldNum" sz="quarter" idx="11"/>
          </p:nvPr>
        </p:nvSpPr>
        <p:spPr/>
        <p:txBody>
          <a:bodyPr/>
          <a:lstStyle/>
          <a:p>
            <a:pPr>
              <a:defRPr/>
            </a:pPr>
            <a:fld id="{72682330-DDB7-47C0-8BEC-295D3A41AB1F}" type="slidenum">
              <a:rPr lang="en-US" smtClean="0"/>
              <a:pPr>
                <a:defRPr/>
              </a:pPr>
              <a:t>19</a:t>
            </a:fld>
            <a:endParaRPr lang="en-US" dirty="0"/>
          </a:p>
        </p:txBody>
      </p:sp>
      <p:sp>
        <p:nvSpPr>
          <p:cNvPr id="6" name="Date Placeholder 5">
            <a:extLst>
              <a:ext uri="{FF2B5EF4-FFF2-40B4-BE49-F238E27FC236}">
                <a16:creationId xmlns:a16="http://schemas.microsoft.com/office/drawing/2014/main" id="{A39C3A3A-2F6B-4AD7-856A-CE9C5D51B36D}"/>
              </a:ext>
            </a:extLst>
          </p:cNvPr>
          <p:cNvSpPr>
            <a:spLocks noGrp="1"/>
          </p:cNvSpPr>
          <p:nvPr>
            <p:ph type="dt" sz="half" idx="12"/>
          </p:nvPr>
        </p:nvSpPr>
        <p:spPr/>
        <p:txBody>
          <a:bodyPr/>
          <a:lstStyle/>
          <a:p>
            <a:pPr>
              <a:defRPr/>
            </a:pPr>
            <a:r>
              <a:rPr lang="en-US"/>
              <a:t>Fall 2021</a:t>
            </a:r>
            <a:endParaRPr lang="en-CA" dirty="0"/>
          </a:p>
        </p:txBody>
      </p:sp>
      <p:pic>
        <p:nvPicPr>
          <p:cNvPr id="8" name="Picture 7" descr="A picture containing drawing&#10;&#10;Description automatically generated">
            <a:extLst>
              <a:ext uri="{FF2B5EF4-FFF2-40B4-BE49-F238E27FC236}">
                <a16:creationId xmlns:a16="http://schemas.microsoft.com/office/drawing/2014/main" id="{EB96C1AC-5061-4BCE-9C8B-BCE1F7CA1E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845" y="1905000"/>
            <a:ext cx="2267909" cy="963251"/>
          </a:xfrm>
          <a:prstGeom prst="rect">
            <a:avLst/>
          </a:prstGeom>
        </p:spPr>
      </p:pic>
      <p:graphicFrame>
        <p:nvGraphicFramePr>
          <p:cNvPr id="9" name="Table 9">
            <a:extLst>
              <a:ext uri="{FF2B5EF4-FFF2-40B4-BE49-F238E27FC236}">
                <a16:creationId xmlns:a16="http://schemas.microsoft.com/office/drawing/2014/main" id="{6C8C93EC-DA5D-4ACD-916F-B5B82E83BA03}"/>
              </a:ext>
            </a:extLst>
          </p:cNvPr>
          <p:cNvGraphicFramePr>
            <a:graphicFrameLocks noGrp="1"/>
          </p:cNvGraphicFramePr>
          <p:nvPr/>
        </p:nvGraphicFramePr>
        <p:xfrm>
          <a:off x="3733800" y="1830365"/>
          <a:ext cx="1371600" cy="1112520"/>
        </p:xfrm>
        <a:graphic>
          <a:graphicData uri="http://schemas.openxmlformats.org/drawingml/2006/table">
            <a:tbl>
              <a:tblPr firstRow="1" bandRow="1">
                <a:tableStyleId>{3C2FFA5D-87B4-456A-9821-1D502468CF0F}</a:tableStyleId>
              </a:tblPr>
              <a:tblGrid>
                <a:gridCol w="685800">
                  <a:extLst>
                    <a:ext uri="{9D8B030D-6E8A-4147-A177-3AD203B41FA5}">
                      <a16:colId xmlns:a16="http://schemas.microsoft.com/office/drawing/2014/main" val="287580551"/>
                    </a:ext>
                  </a:extLst>
                </a:gridCol>
                <a:gridCol w="685800">
                  <a:extLst>
                    <a:ext uri="{9D8B030D-6E8A-4147-A177-3AD203B41FA5}">
                      <a16:colId xmlns:a16="http://schemas.microsoft.com/office/drawing/2014/main" val="3848652840"/>
                    </a:ext>
                  </a:extLst>
                </a:gridCol>
              </a:tblGrid>
              <a:tr h="370840">
                <a:tc>
                  <a:txBody>
                    <a:bodyPr/>
                    <a:lstStyle/>
                    <a:p>
                      <a:pPr algn="ctr"/>
                      <a:r>
                        <a:rPr lang="en-CA" dirty="0"/>
                        <a:t>A</a:t>
                      </a:r>
                    </a:p>
                  </a:txBody>
                  <a:tcPr/>
                </a:tc>
                <a:tc>
                  <a:txBody>
                    <a:bodyPr/>
                    <a:lstStyle/>
                    <a:p>
                      <a:pPr algn="ctr"/>
                      <a:r>
                        <a:rPr lang="en-CA" dirty="0"/>
                        <a:t>B</a:t>
                      </a:r>
                    </a:p>
                  </a:txBody>
                  <a:tcPr/>
                </a:tc>
                <a:extLst>
                  <a:ext uri="{0D108BD9-81ED-4DB2-BD59-A6C34878D82A}">
                    <a16:rowId xmlns:a16="http://schemas.microsoft.com/office/drawing/2014/main" val="2961602566"/>
                  </a:ext>
                </a:extLst>
              </a:tr>
              <a:tr h="370840">
                <a:tc>
                  <a:txBody>
                    <a:bodyPr/>
                    <a:lstStyle/>
                    <a:p>
                      <a:pPr algn="ctr"/>
                      <a:r>
                        <a:rPr lang="en-CA" dirty="0"/>
                        <a:t>0</a:t>
                      </a:r>
                    </a:p>
                  </a:txBody>
                  <a:tcPr/>
                </a:tc>
                <a:tc>
                  <a:txBody>
                    <a:bodyPr/>
                    <a:lstStyle/>
                    <a:p>
                      <a:pPr algn="ctr"/>
                      <a:r>
                        <a:rPr lang="en-CA" dirty="0"/>
                        <a:t>0</a:t>
                      </a:r>
                    </a:p>
                  </a:txBody>
                  <a:tcPr/>
                </a:tc>
                <a:extLst>
                  <a:ext uri="{0D108BD9-81ED-4DB2-BD59-A6C34878D82A}">
                    <a16:rowId xmlns:a16="http://schemas.microsoft.com/office/drawing/2014/main" val="1965663002"/>
                  </a:ext>
                </a:extLst>
              </a:tr>
              <a:tr h="370840">
                <a:tc>
                  <a:txBody>
                    <a:bodyPr/>
                    <a:lstStyle/>
                    <a:p>
                      <a:pPr algn="ctr"/>
                      <a:r>
                        <a:rPr lang="en-CA" dirty="0"/>
                        <a:t>1</a:t>
                      </a:r>
                    </a:p>
                  </a:txBody>
                  <a:tcPr/>
                </a:tc>
                <a:tc>
                  <a:txBody>
                    <a:bodyPr/>
                    <a:lstStyle/>
                    <a:p>
                      <a:pPr algn="ctr"/>
                      <a:r>
                        <a:rPr lang="en-CA" dirty="0"/>
                        <a:t>1</a:t>
                      </a:r>
                    </a:p>
                  </a:txBody>
                  <a:tcPr/>
                </a:tc>
                <a:extLst>
                  <a:ext uri="{0D108BD9-81ED-4DB2-BD59-A6C34878D82A}">
                    <a16:rowId xmlns:a16="http://schemas.microsoft.com/office/drawing/2014/main" val="1482734216"/>
                  </a:ext>
                </a:extLst>
              </a:tr>
            </a:tbl>
          </a:graphicData>
        </a:graphic>
      </p:graphicFrame>
      <p:sp>
        <p:nvSpPr>
          <p:cNvPr id="7" name="TextBox 6">
            <a:extLst>
              <a:ext uri="{FF2B5EF4-FFF2-40B4-BE49-F238E27FC236}">
                <a16:creationId xmlns:a16="http://schemas.microsoft.com/office/drawing/2014/main" id="{3CE2E02E-1D05-4305-8896-666806915129}"/>
              </a:ext>
            </a:extLst>
          </p:cNvPr>
          <p:cNvSpPr txBox="1"/>
          <p:nvPr/>
        </p:nvSpPr>
        <p:spPr>
          <a:xfrm>
            <a:off x="6096000" y="2155792"/>
            <a:ext cx="1371600" cy="461665"/>
          </a:xfrm>
          <a:prstGeom prst="rect">
            <a:avLst/>
          </a:prstGeom>
          <a:noFill/>
        </p:spPr>
        <p:txBody>
          <a:bodyPr wrap="square" rtlCol="0">
            <a:spAutoFit/>
          </a:bodyPr>
          <a:lstStyle/>
          <a:p>
            <a:r>
              <a:rPr lang="en-CA" sz="2400" dirty="0">
                <a:latin typeface="+mn-lt"/>
              </a:rPr>
              <a:t>B = A</a:t>
            </a:r>
          </a:p>
        </p:txBody>
      </p:sp>
    </p:spTree>
    <p:extLst>
      <p:ext uri="{BB962C8B-B14F-4D97-AF65-F5344CB8AC3E}">
        <p14:creationId xmlns:p14="http://schemas.microsoft.com/office/powerpoint/2010/main" val="18108343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88E6B-7A92-4DB1-BC70-1E07896D63DC}"/>
              </a:ext>
            </a:extLst>
          </p:cNvPr>
          <p:cNvSpPr>
            <a:spLocks noGrp="1"/>
          </p:cNvSpPr>
          <p:nvPr>
            <p:ph type="title"/>
          </p:nvPr>
        </p:nvSpPr>
        <p:spPr/>
        <p:txBody>
          <a:bodyPr/>
          <a:lstStyle/>
          <a:p>
            <a:r>
              <a:rPr lang="en-CA" dirty="0"/>
              <a:t>The Buffer</a:t>
            </a:r>
          </a:p>
        </p:txBody>
      </p:sp>
      <p:sp>
        <p:nvSpPr>
          <p:cNvPr id="3" name="Content Placeholder 2">
            <a:extLst>
              <a:ext uri="{FF2B5EF4-FFF2-40B4-BE49-F238E27FC236}">
                <a16:creationId xmlns:a16="http://schemas.microsoft.com/office/drawing/2014/main" id="{1DFC75F2-663A-44B4-810E-484EA884D030}"/>
              </a:ext>
            </a:extLst>
          </p:cNvPr>
          <p:cNvSpPr>
            <a:spLocks noGrp="1"/>
          </p:cNvSpPr>
          <p:nvPr>
            <p:ph idx="1"/>
          </p:nvPr>
        </p:nvSpPr>
        <p:spPr/>
        <p:txBody>
          <a:bodyPr/>
          <a:lstStyle/>
          <a:p>
            <a:r>
              <a:rPr lang="en-CA" dirty="0"/>
              <a:t>The buffer is the simplest digital logic gate:</a:t>
            </a:r>
          </a:p>
          <a:p>
            <a:endParaRPr lang="en-CA" dirty="0"/>
          </a:p>
          <a:p>
            <a:endParaRPr lang="en-CA" dirty="0"/>
          </a:p>
          <a:p>
            <a:endParaRPr lang="en-CA" dirty="0"/>
          </a:p>
          <a:p>
            <a:r>
              <a:rPr lang="en-CA" dirty="0"/>
              <a:t>It serves two possible purposes:</a:t>
            </a:r>
          </a:p>
          <a:p>
            <a:pPr marL="882900" lvl="1" indent="-342900">
              <a:buFont typeface="+mj-lt"/>
              <a:buAutoNum type="arabicPeriod"/>
            </a:pPr>
            <a:r>
              <a:rPr lang="en-CA" dirty="0"/>
              <a:t>It can be used to create an output signal B that is identical to signal A without placing a significant load on signal A</a:t>
            </a:r>
          </a:p>
        </p:txBody>
      </p:sp>
      <p:sp>
        <p:nvSpPr>
          <p:cNvPr id="4" name="Footer Placeholder 3">
            <a:extLst>
              <a:ext uri="{FF2B5EF4-FFF2-40B4-BE49-F238E27FC236}">
                <a16:creationId xmlns:a16="http://schemas.microsoft.com/office/drawing/2014/main" id="{1B33E268-0DC8-4317-A35A-A8A1BBC398A5}"/>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6A916542-D14E-4C99-91A4-E7DCACDE36E0}"/>
              </a:ext>
            </a:extLst>
          </p:cNvPr>
          <p:cNvSpPr>
            <a:spLocks noGrp="1"/>
          </p:cNvSpPr>
          <p:nvPr>
            <p:ph type="sldNum" sz="quarter" idx="11"/>
          </p:nvPr>
        </p:nvSpPr>
        <p:spPr/>
        <p:txBody>
          <a:bodyPr/>
          <a:lstStyle/>
          <a:p>
            <a:pPr>
              <a:defRPr/>
            </a:pPr>
            <a:fld id="{72682330-DDB7-47C0-8BEC-295D3A41AB1F}" type="slidenum">
              <a:rPr lang="en-US" smtClean="0"/>
              <a:pPr>
                <a:defRPr/>
              </a:pPr>
              <a:t>20</a:t>
            </a:fld>
            <a:endParaRPr lang="en-US" dirty="0"/>
          </a:p>
        </p:txBody>
      </p:sp>
      <p:sp>
        <p:nvSpPr>
          <p:cNvPr id="6" name="Date Placeholder 5">
            <a:extLst>
              <a:ext uri="{FF2B5EF4-FFF2-40B4-BE49-F238E27FC236}">
                <a16:creationId xmlns:a16="http://schemas.microsoft.com/office/drawing/2014/main" id="{A39C3A3A-2F6B-4AD7-856A-CE9C5D51B36D}"/>
              </a:ext>
            </a:extLst>
          </p:cNvPr>
          <p:cNvSpPr>
            <a:spLocks noGrp="1"/>
          </p:cNvSpPr>
          <p:nvPr>
            <p:ph type="dt" sz="half" idx="12"/>
          </p:nvPr>
        </p:nvSpPr>
        <p:spPr/>
        <p:txBody>
          <a:bodyPr/>
          <a:lstStyle/>
          <a:p>
            <a:pPr>
              <a:defRPr/>
            </a:pPr>
            <a:r>
              <a:rPr lang="en-US"/>
              <a:t>Fall 2021</a:t>
            </a:r>
            <a:endParaRPr lang="en-CA" dirty="0"/>
          </a:p>
        </p:txBody>
      </p:sp>
      <p:pic>
        <p:nvPicPr>
          <p:cNvPr id="8" name="Picture 7" descr="A picture containing drawing&#10;&#10;Description automatically generated">
            <a:extLst>
              <a:ext uri="{FF2B5EF4-FFF2-40B4-BE49-F238E27FC236}">
                <a16:creationId xmlns:a16="http://schemas.microsoft.com/office/drawing/2014/main" id="{EB96C1AC-5061-4BCE-9C8B-BCE1F7CA1E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845" y="1905000"/>
            <a:ext cx="2267909" cy="963251"/>
          </a:xfrm>
          <a:prstGeom prst="rect">
            <a:avLst/>
          </a:prstGeom>
        </p:spPr>
      </p:pic>
      <p:graphicFrame>
        <p:nvGraphicFramePr>
          <p:cNvPr id="9" name="Table 9">
            <a:extLst>
              <a:ext uri="{FF2B5EF4-FFF2-40B4-BE49-F238E27FC236}">
                <a16:creationId xmlns:a16="http://schemas.microsoft.com/office/drawing/2014/main" id="{6C8C93EC-DA5D-4ACD-916F-B5B82E83BA03}"/>
              </a:ext>
            </a:extLst>
          </p:cNvPr>
          <p:cNvGraphicFramePr>
            <a:graphicFrameLocks noGrp="1"/>
          </p:cNvGraphicFramePr>
          <p:nvPr/>
        </p:nvGraphicFramePr>
        <p:xfrm>
          <a:off x="3733800" y="1830365"/>
          <a:ext cx="1371600" cy="1112520"/>
        </p:xfrm>
        <a:graphic>
          <a:graphicData uri="http://schemas.openxmlformats.org/drawingml/2006/table">
            <a:tbl>
              <a:tblPr firstRow="1" bandRow="1">
                <a:tableStyleId>{3C2FFA5D-87B4-456A-9821-1D502468CF0F}</a:tableStyleId>
              </a:tblPr>
              <a:tblGrid>
                <a:gridCol w="685800">
                  <a:extLst>
                    <a:ext uri="{9D8B030D-6E8A-4147-A177-3AD203B41FA5}">
                      <a16:colId xmlns:a16="http://schemas.microsoft.com/office/drawing/2014/main" val="287580551"/>
                    </a:ext>
                  </a:extLst>
                </a:gridCol>
                <a:gridCol w="685800">
                  <a:extLst>
                    <a:ext uri="{9D8B030D-6E8A-4147-A177-3AD203B41FA5}">
                      <a16:colId xmlns:a16="http://schemas.microsoft.com/office/drawing/2014/main" val="3848652840"/>
                    </a:ext>
                  </a:extLst>
                </a:gridCol>
              </a:tblGrid>
              <a:tr h="370840">
                <a:tc>
                  <a:txBody>
                    <a:bodyPr/>
                    <a:lstStyle/>
                    <a:p>
                      <a:pPr algn="ctr"/>
                      <a:r>
                        <a:rPr lang="en-CA" dirty="0"/>
                        <a:t>A</a:t>
                      </a:r>
                    </a:p>
                  </a:txBody>
                  <a:tcPr/>
                </a:tc>
                <a:tc>
                  <a:txBody>
                    <a:bodyPr/>
                    <a:lstStyle/>
                    <a:p>
                      <a:pPr algn="ctr"/>
                      <a:r>
                        <a:rPr lang="en-CA" dirty="0"/>
                        <a:t>B</a:t>
                      </a:r>
                    </a:p>
                  </a:txBody>
                  <a:tcPr/>
                </a:tc>
                <a:extLst>
                  <a:ext uri="{0D108BD9-81ED-4DB2-BD59-A6C34878D82A}">
                    <a16:rowId xmlns:a16="http://schemas.microsoft.com/office/drawing/2014/main" val="2961602566"/>
                  </a:ext>
                </a:extLst>
              </a:tr>
              <a:tr h="370840">
                <a:tc>
                  <a:txBody>
                    <a:bodyPr/>
                    <a:lstStyle/>
                    <a:p>
                      <a:pPr algn="ctr"/>
                      <a:r>
                        <a:rPr lang="en-CA" dirty="0"/>
                        <a:t>0</a:t>
                      </a:r>
                    </a:p>
                  </a:txBody>
                  <a:tcPr/>
                </a:tc>
                <a:tc>
                  <a:txBody>
                    <a:bodyPr/>
                    <a:lstStyle/>
                    <a:p>
                      <a:pPr algn="ctr"/>
                      <a:r>
                        <a:rPr lang="en-CA" dirty="0"/>
                        <a:t>0</a:t>
                      </a:r>
                    </a:p>
                  </a:txBody>
                  <a:tcPr/>
                </a:tc>
                <a:extLst>
                  <a:ext uri="{0D108BD9-81ED-4DB2-BD59-A6C34878D82A}">
                    <a16:rowId xmlns:a16="http://schemas.microsoft.com/office/drawing/2014/main" val="1965663002"/>
                  </a:ext>
                </a:extLst>
              </a:tr>
              <a:tr h="370840">
                <a:tc>
                  <a:txBody>
                    <a:bodyPr/>
                    <a:lstStyle/>
                    <a:p>
                      <a:pPr algn="ctr"/>
                      <a:r>
                        <a:rPr lang="en-CA" dirty="0"/>
                        <a:t>1</a:t>
                      </a:r>
                    </a:p>
                  </a:txBody>
                  <a:tcPr/>
                </a:tc>
                <a:tc>
                  <a:txBody>
                    <a:bodyPr/>
                    <a:lstStyle/>
                    <a:p>
                      <a:pPr algn="ctr"/>
                      <a:r>
                        <a:rPr lang="en-CA" dirty="0"/>
                        <a:t>1</a:t>
                      </a:r>
                    </a:p>
                  </a:txBody>
                  <a:tcPr/>
                </a:tc>
                <a:extLst>
                  <a:ext uri="{0D108BD9-81ED-4DB2-BD59-A6C34878D82A}">
                    <a16:rowId xmlns:a16="http://schemas.microsoft.com/office/drawing/2014/main" val="1482734216"/>
                  </a:ext>
                </a:extLst>
              </a:tr>
            </a:tbl>
          </a:graphicData>
        </a:graphic>
      </p:graphicFrame>
      <p:sp>
        <p:nvSpPr>
          <p:cNvPr id="7" name="TextBox 6">
            <a:extLst>
              <a:ext uri="{FF2B5EF4-FFF2-40B4-BE49-F238E27FC236}">
                <a16:creationId xmlns:a16="http://schemas.microsoft.com/office/drawing/2014/main" id="{E4D718E3-2F27-499E-8B5F-FBF7D04634DF}"/>
              </a:ext>
            </a:extLst>
          </p:cNvPr>
          <p:cNvSpPr txBox="1"/>
          <p:nvPr/>
        </p:nvSpPr>
        <p:spPr>
          <a:xfrm>
            <a:off x="6096000" y="2155792"/>
            <a:ext cx="1371600" cy="461665"/>
          </a:xfrm>
          <a:prstGeom prst="rect">
            <a:avLst/>
          </a:prstGeom>
          <a:noFill/>
        </p:spPr>
        <p:txBody>
          <a:bodyPr wrap="square" rtlCol="0">
            <a:spAutoFit/>
          </a:bodyPr>
          <a:lstStyle/>
          <a:p>
            <a:r>
              <a:rPr lang="en-CA" sz="2400" dirty="0">
                <a:latin typeface="+mn-lt"/>
              </a:rPr>
              <a:t>B = A</a:t>
            </a:r>
          </a:p>
        </p:txBody>
      </p:sp>
    </p:spTree>
    <p:extLst>
      <p:ext uri="{BB962C8B-B14F-4D97-AF65-F5344CB8AC3E}">
        <p14:creationId xmlns:p14="http://schemas.microsoft.com/office/powerpoint/2010/main" val="34319194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88E6B-7A92-4DB1-BC70-1E07896D63DC}"/>
              </a:ext>
            </a:extLst>
          </p:cNvPr>
          <p:cNvSpPr>
            <a:spLocks noGrp="1"/>
          </p:cNvSpPr>
          <p:nvPr>
            <p:ph type="title"/>
          </p:nvPr>
        </p:nvSpPr>
        <p:spPr/>
        <p:txBody>
          <a:bodyPr/>
          <a:lstStyle/>
          <a:p>
            <a:r>
              <a:rPr lang="en-CA" dirty="0"/>
              <a:t>The Buffer</a:t>
            </a:r>
          </a:p>
        </p:txBody>
      </p:sp>
      <p:sp>
        <p:nvSpPr>
          <p:cNvPr id="3" name="Content Placeholder 2">
            <a:extLst>
              <a:ext uri="{FF2B5EF4-FFF2-40B4-BE49-F238E27FC236}">
                <a16:creationId xmlns:a16="http://schemas.microsoft.com/office/drawing/2014/main" id="{1DFC75F2-663A-44B4-810E-484EA884D030}"/>
              </a:ext>
            </a:extLst>
          </p:cNvPr>
          <p:cNvSpPr>
            <a:spLocks noGrp="1"/>
          </p:cNvSpPr>
          <p:nvPr>
            <p:ph idx="1"/>
          </p:nvPr>
        </p:nvSpPr>
        <p:spPr/>
        <p:txBody>
          <a:bodyPr/>
          <a:lstStyle/>
          <a:p>
            <a:r>
              <a:rPr lang="en-CA" dirty="0"/>
              <a:t>The buffer is the simplest digital logic gate:</a:t>
            </a:r>
          </a:p>
          <a:p>
            <a:endParaRPr lang="en-CA" dirty="0"/>
          </a:p>
          <a:p>
            <a:endParaRPr lang="en-CA" dirty="0"/>
          </a:p>
          <a:p>
            <a:endParaRPr lang="en-CA" dirty="0"/>
          </a:p>
          <a:p>
            <a:r>
              <a:rPr lang="en-CA" dirty="0"/>
              <a:t>It serves two possible purposes:</a:t>
            </a:r>
          </a:p>
          <a:p>
            <a:pPr marL="882900" lvl="1" indent="-342900">
              <a:buFont typeface="+mj-lt"/>
              <a:buAutoNum type="arabicPeriod"/>
            </a:pPr>
            <a:r>
              <a:rPr lang="en-CA" dirty="0"/>
              <a:t>It can be used to create an output signal B that is identical to signal A without placing a significant load on signal A</a:t>
            </a:r>
          </a:p>
          <a:p>
            <a:pPr marL="882900" lvl="1" indent="-342900">
              <a:buFont typeface="+mj-lt"/>
              <a:buAutoNum type="arabicPeriod"/>
            </a:pPr>
            <a:r>
              <a:rPr lang="en-CA" dirty="0"/>
              <a:t>It can be used as a delay element</a:t>
            </a:r>
          </a:p>
        </p:txBody>
      </p:sp>
      <p:sp>
        <p:nvSpPr>
          <p:cNvPr id="4" name="Footer Placeholder 3">
            <a:extLst>
              <a:ext uri="{FF2B5EF4-FFF2-40B4-BE49-F238E27FC236}">
                <a16:creationId xmlns:a16="http://schemas.microsoft.com/office/drawing/2014/main" id="{1B33E268-0DC8-4317-A35A-A8A1BBC398A5}"/>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6A916542-D14E-4C99-91A4-E7DCACDE36E0}"/>
              </a:ext>
            </a:extLst>
          </p:cNvPr>
          <p:cNvSpPr>
            <a:spLocks noGrp="1"/>
          </p:cNvSpPr>
          <p:nvPr>
            <p:ph type="sldNum" sz="quarter" idx="11"/>
          </p:nvPr>
        </p:nvSpPr>
        <p:spPr/>
        <p:txBody>
          <a:bodyPr/>
          <a:lstStyle/>
          <a:p>
            <a:pPr>
              <a:defRPr/>
            </a:pPr>
            <a:fld id="{72682330-DDB7-47C0-8BEC-295D3A41AB1F}" type="slidenum">
              <a:rPr lang="en-US" smtClean="0"/>
              <a:pPr>
                <a:defRPr/>
              </a:pPr>
              <a:t>21</a:t>
            </a:fld>
            <a:endParaRPr lang="en-US" dirty="0"/>
          </a:p>
        </p:txBody>
      </p:sp>
      <p:sp>
        <p:nvSpPr>
          <p:cNvPr id="6" name="Date Placeholder 5">
            <a:extLst>
              <a:ext uri="{FF2B5EF4-FFF2-40B4-BE49-F238E27FC236}">
                <a16:creationId xmlns:a16="http://schemas.microsoft.com/office/drawing/2014/main" id="{A39C3A3A-2F6B-4AD7-856A-CE9C5D51B36D}"/>
              </a:ext>
            </a:extLst>
          </p:cNvPr>
          <p:cNvSpPr>
            <a:spLocks noGrp="1"/>
          </p:cNvSpPr>
          <p:nvPr>
            <p:ph type="dt" sz="half" idx="12"/>
          </p:nvPr>
        </p:nvSpPr>
        <p:spPr/>
        <p:txBody>
          <a:bodyPr/>
          <a:lstStyle/>
          <a:p>
            <a:pPr>
              <a:defRPr/>
            </a:pPr>
            <a:r>
              <a:rPr lang="en-US"/>
              <a:t>Fall 2021</a:t>
            </a:r>
            <a:endParaRPr lang="en-CA" dirty="0"/>
          </a:p>
        </p:txBody>
      </p:sp>
      <p:pic>
        <p:nvPicPr>
          <p:cNvPr id="8" name="Picture 7" descr="A picture containing drawing&#10;&#10;Description automatically generated">
            <a:extLst>
              <a:ext uri="{FF2B5EF4-FFF2-40B4-BE49-F238E27FC236}">
                <a16:creationId xmlns:a16="http://schemas.microsoft.com/office/drawing/2014/main" id="{EB96C1AC-5061-4BCE-9C8B-BCE1F7CA1E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845" y="1905000"/>
            <a:ext cx="2267909" cy="963251"/>
          </a:xfrm>
          <a:prstGeom prst="rect">
            <a:avLst/>
          </a:prstGeom>
        </p:spPr>
      </p:pic>
      <p:graphicFrame>
        <p:nvGraphicFramePr>
          <p:cNvPr id="9" name="Table 9">
            <a:extLst>
              <a:ext uri="{FF2B5EF4-FFF2-40B4-BE49-F238E27FC236}">
                <a16:creationId xmlns:a16="http://schemas.microsoft.com/office/drawing/2014/main" id="{6C8C93EC-DA5D-4ACD-916F-B5B82E83BA03}"/>
              </a:ext>
            </a:extLst>
          </p:cNvPr>
          <p:cNvGraphicFramePr>
            <a:graphicFrameLocks noGrp="1"/>
          </p:cNvGraphicFramePr>
          <p:nvPr/>
        </p:nvGraphicFramePr>
        <p:xfrm>
          <a:off x="3733800" y="1830365"/>
          <a:ext cx="1371600" cy="1112520"/>
        </p:xfrm>
        <a:graphic>
          <a:graphicData uri="http://schemas.openxmlformats.org/drawingml/2006/table">
            <a:tbl>
              <a:tblPr firstRow="1" bandRow="1">
                <a:tableStyleId>{3C2FFA5D-87B4-456A-9821-1D502468CF0F}</a:tableStyleId>
              </a:tblPr>
              <a:tblGrid>
                <a:gridCol w="685800">
                  <a:extLst>
                    <a:ext uri="{9D8B030D-6E8A-4147-A177-3AD203B41FA5}">
                      <a16:colId xmlns:a16="http://schemas.microsoft.com/office/drawing/2014/main" val="287580551"/>
                    </a:ext>
                  </a:extLst>
                </a:gridCol>
                <a:gridCol w="685800">
                  <a:extLst>
                    <a:ext uri="{9D8B030D-6E8A-4147-A177-3AD203B41FA5}">
                      <a16:colId xmlns:a16="http://schemas.microsoft.com/office/drawing/2014/main" val="3848652840"/>
                    </a:ext>
                  </a:extLst>
                </a:gridCol>
              </a:tblGrid>
              <a:tr h="370840">
                <a:tc>
                  <a:txBody>
                    <a:bodyPr/>
                    <a:lstStyle/>
                    <a:p>
                      <a:pPr algn="ctr"/>
                      <a:r>
                        <a:rPr lang="en-CA" dirty="0"/>
                        <a:t>A</a:t>
                      </a:r>
                    </a:p>
                  </a:txBody>
                  <a:tcPr/>
                </a:tc>
                <a:tc>
                  <a:txBody>
                    <a:bodyPr/>
                    <a:lstStyle/>
                    <a:p>
                      <a:pPr algn="ctr"/>
                      <a:r>
                        <a:rPr lang="en-CA" dirty="0"/>
                        <a:t>B</a:t>
                      </a:r>
                    </a:p>
                  </a:txBody>
                  <a:tcPr/>
                </a:tc>
                <a:extLst>
                  <a:ext uri="{0D108BD9-81ED-4DB2-BD59-A6C34878D82A}">
                    <a16:rowId xmlns:a16="http://schemas.microsoft.com/office/drawing/2014/main" val="2961602566"/>
                  </a:ext>
                </a:extLst>
              </a:tr>
              <a:tr h="370840">
                <a:tc>
                  <a:txBody>
                    <a:bodyPr/>
                    <a:lstStyle/>
                    <a:p>
                      <a:pPr algn="ctr"/>
                      <a:r>
                        <a:rPr lang="en-CA" dirty="0"/>
                        <a:t>0</a:t>
                      </a:r>
                    </a:p>
                  </a:txBody>
                  <a:tcPr/>
                </a:tc>
                <a:tc>
                  <a:txBody>
                    <a:bodyPr/>
                    <a:lstStyle/>
                    <a:p>
                      <a:pPr algn="ctr"/>
                      <a:r>
                        <a:rPr lang="en-CA" dirty="0"/>
                        <a:t>0</a:t>
                      </a:r>
                    </a:p>
                  </a:txBody>
                  <a:tcPr/>
                </a:tc>
                <a:extLst>
                  <a:ext uri="{0D108BD9-81ED-4DB2-BD59-A6C34878D82A}">
                    <a16:rowId xmlns:a16="http://schemas.microsoft.com/office/drawing/2014/main" val="1965663002"/>
                  </a:ext>
                </a:extLst>
              </a:tr>
              <a:tr h="370840">
                <a:tc>
                  <a:txBody>
                    <a:bodyPr/>
                    <a:lstStyle/>
                    <a:p>
                      <a:pPr algn="ctr"/>
                      <a:r>
                        <a:rPr lang="en-CA" dirty="0"/>
                        <a:t>1</a:t>
                      </a:r>
                    </a:p>
                  </a:txBody>
                  <a:tcPr/>
                </a:tc>
                <a:tc>
                  <a:txBody>
                    <a:bodyPr/>
                    <a:lstStyle/>
                    <a:p>
                      <a:pPr algn="ctr"/>
                      <a:r>
                        <a:rPr lang="en-CA" dirty="0"/>
                        <a:t>1</a:t>
                      </a:r>
                    </a:p>
                  </a:txBody>
                  <a:tcPr/>
                </a:tc>
                <a:extLst>
                  <a:ext uri="{0D108BD9-81ED-4DB2-BD59-A6C34878D82A}">
                    <a16:rowId xmlns:a16="http://schemas.microsoft.com/office/drawing/2014/main" val="1482734216"/>
                  </a:ext>
                </a:extLst>
              </a:tr>
            </a:tbl>
          </a:graphicData>
        </a:graphic>
      </p:graphicFrame>
      <p:sp>
        <p:nvSpPr>
          <p:cNvPr id="7" name="TextBox 6">
            <a:extLst>
              <a:ext uri="{FF2B5EF4-FFF2-40B4-BE49-F238E27FC236}">
                <a16:creationId xmlns:a16="http://schemas.microsoft.com/office/drawing/2014/main" id="{48146BAD-766E-4A77-AAA6-E8410E4531FD}"/>
              </a:ext>
            </a:extLst>
          </p:cNvPr>
          <p:cNvSpPr txBox="1"/>
          <p:nvPr/>
        </p:nvSpPr>
        <p:spPr>
          <a:xfrm>
            <a:off x="6096000" y="2155792"/>
            <a:ext cx="1371600" cy="461665"/>
          </a:xfrm>
          <a:prstGeom prst="rect">
            <a:avLst/>
          </a:prstGeom>
          <a:noFill/>
        </p:spPr>
        <p:txBody>
          <a:bodyPr wrap="square" rtlCol="0">
            <a:spAutoFit/>
          </a:bodyPr>
          <a:lstStyle/>
          <a:p>
            <a:r>
              <a:rPr lang="en-CA" sz="2400" dirty="0">
                <a:latin typeface="+mn-lt"/>
              </a:rPr>
              <a:t>B = A</a:t>
            </a:r>
          </a:p>
        </p:txBody>
      </p:sp>
    </p:spTree>
    <p:extLst>
      <p:ext uri="{BB962C8B-B14F-4D97-AF65-F5344CB8AC3E}">
        <p14:creationId xmlns:p14="http://schemas.microsoft.com/office/powerpoint/2010/main" val="17318060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88E6B-7A92-4DB1-BC70-1E07896D63DC}"/>
              </a:ext>
            </a:extLst>
          </p:cNvPr>
          <p:cNvSpPr>
            <a:spLocks noGrp="1"/>
          </p:cNvSpPr>
          <p:nvPr>
            <p:ph type="title"/>
          </p:nvPr>
        </p:nvSpPr>
        <p:spPr/>
        <p:txBody>
          <a:bodyPr/>
          <a:lstStyle/>
          <a:p>
            <a:r>
              <a:rPr lang="en-CA" dirty="0"/>
              <a:t>The Inverter</a:t>
            </a:r>
          </a:p>
        </p:txBody>
      </p:sp>
      <p:sp>
        <p:nvSpPr>
          <p:cNvPr id="3" name="Content Placeholder 2">
            <a:extLst>
              <a:ext uri="{FF2B5EF4-FFF2-40B4-BE49-F238E27FC236}">
                <a16:creationId xmlns:a16="http://schemas.microsoft.com/office/drawing/2014/main" id="{1DFC75F2-663A-44B4-810E-484EA884D030}"/>
              </a:ext>
            </a:extLst>
          </p:cNvPr>
          <p:cNvSpPr>
            <a:spLocks noGrp="1"/>
          </p:cNvSpPr>
          <p:nvPr>
            <p:ph idx="1"/>
          </p:nvPr>
        </p:nvSpPr>
        <p:spPr/>
        <p:txBody>
          <a:bodyPr/>
          <a:lstStyle/>
          <a:p>
            <a:r>
              <a:rPr lang="en-CA" dirty="0"/>
              <a:t>The inverter is another simple digital logic gate:</a:t>
            </a:r>
          </a:p>
        </p:txBody>
      </p:sp>
      <p:sp>
        <p:nvSpPr>
          <p:cNvPr id="4" name="Footer Placeholder 3">
            <a:extLst>
              <a:ext uri="{FF2B5EF4-FFF2-40B4-BE49-F238E27FC236}">
                <a16:creationId xmlns:a16="http://schemas.microsoft.com/office/drawing/2014/main" id="{1B33E268-0DC8-4317-A35A-A8A1BBC398A5}"/>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6A916542-D14E-4C99-91A4-E7DCACDE36E0}"/>
              </a:ext>
            </a:extLst>
          </p:cNvPr>
          <p:cNvSpPr>
            <a:spLocks noGrp="1"/>
          </p:cNvSpPr>
          <p:nvPr>
            <p:ph type="sldNum" sz="quarter" idx="11"/>
          </p:nvPr>
        </p:nvSpPr>
        <p:spPr/>
        <p:txBody>
          <a:bodyPr/>
          <a:lstStyle/>
          <a:p>
            <a:pPr>
              <a:defRPr/>
            </a:pPr>
            <a:fld id="{72682330-DDB7-47C0-8BEC-295D3A41AB1F}" type="slidenum">
              <a:rPr lang="en-US" smtClean="0"/>
              <a:pPr>
                <a:defRPr/>
              </a:pPr>
              <a:t>22</a:t>
            </a:fld>
            <a:endParaRPr lang="en-US" dirty="0"/>
          </a:p>
        </p:txBody>
      </p:sp>
      <p:sp>
        <p:nvSpPr>
          <p:cNvPr id="6" name="Date Placeholder 5">
            <a:extLst>
              <a:ext uri="{FF2B5EF4-FFF2-40B4-BE49-F238E27FC236}">
                <a16:creationId xmlns:a16="http://schemas.microsoft.com/office/drawing/2014/main" id="{A39C3A3A-2F6B-4AD7-856A-CE9C5D51B36D}"/>
              </a:ext>
            </a:extLst>
          </p:cNvPr>
          <p:cNvSpPr>
            <a:spLocks noGrp="1"/>
          </p:cNvSpPr>
          <p:nvPr>
            <p:ph type="dt" sz="half" idx="12"/>
          </p:nvPr>
        </p:nvSpPr>
        <p:spPr/>
        <p:txBody>
          <a:bodyPr/>
          <a:lstStyle/>
          <a:p>
            <a:pPr>
              <a:defRPr/>
            </a:pPr>
            <a:r>
              <a:rPr lang="en-US"/>
              <a:t>Fall 2021</a:t>
            </a:r>
            <a:endParaRPr lang="en-CA" dirty="0"/>
          </a:p>
        </p:txBody>
      </p:sp>
      <p:pic>
        <p:nvPicPr>
          <p:cNvPr id="12" name="Picture 11" descr="A picture containing drawing&#10;&#10;Description automatically generated">
            <a:extLst>
              <a:ext uri="{FF2B5EF4-FFF2-40B4-BE49-F238E27FC236}">
                <a16:creationId xmlns:a16="http://schemas.microsoft.com/office/drawing/2014/main" id="{1291F9C7-7AEA-4C1D-8274-D6BBBA7954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845" y="1904998"/>
            <a:ext cx="2267909" cy="963251"/>
          </a:xfrm>
          <a:prstGeom prst="rect">
            <a:avLst/>
          </a:prstGeom>
        </p:spPr>
      </p:pic>
    </p:spTree>
    <p:extLst>
      <p:ext uri="{BB962C8B-B14F-4D97-AF65-F5344CB8AC3E}">
        <p14:creationId xmlns:p14="http://schemas.microsoft.com/office/powerpoint/2010/main" val="14795713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88E6B-7A92-4DB1-BC70-1E07896D63DC}"/>
              </a:ext>
            </a:extLst>
          </p:cNvPr>
          <p:cNvSpPr>
            <a:spLocks noGrp="1"/>
          </p:cNvSpPr>
          <p:nvPr>
            <p:ph type="title"/>
          </p:nvPr>
        </p:nvSpPr>
        <p:spPr/>
        <p:txBody>
          <a:bodyPr/>
          <a:lstStyle/>
          <a:p>
            <a:r>
              <a:rPr lang="en-CA" dirty="0"/>
              <a:t>The Inverter</a:t>
            </a:r>
          </a:p>
        </p:txBody>
      </p:sp>
      <p:sp>
        <p:nvSpPr>
          <p:cNvPr id="3" name="Content Placeholder 2">
            <a:extLst>
              <a:ext uri="{FF2B5EF4-FFF2-40B4-BE49-F238E27FC236}">
                <a16:creationId xmlns:a16="http://schemas.microsoft.com/office/drawing/2014/main" id="{1DFC75F2-663A-44B4-810E-484EA884D030}"/>
              </a:ext>
            </a:extLst>
          </p:cNvPr>
          <p:cNvSpPr>
            <a:spLocks noGrp="1"/>
          </p:cNvSpPr>
          <p:nvPr>
            <p:ph idx="1"/>
          </p:nvPr>
        </p:nvSpPr>
        <p:spPr/>
        <p:txBody>
          <a:bodyPr/>
          <a:lstStyle/>
          <a:p>
            <a:r>
              <a:rPr lang="en-CA" dirty="0"/>
              <a:t>The inverter is another simple digital logic gate:</a:t>
            </a:r>
          </a:p>
        </p:txBody>
      </p:sp>
      <p:sp>
        <p:nvSpPr>
          <p:cNvPr id="4" name="Footer Placeholder 3">
            <a:extLst>
              <a:ext uri="{FF2B5EF4-FFF2-40B4-BE49-F238E27FC236}">
                <a16:creationId xmlns:a16="http://schemas.microsoft.com/office/drawing/2014/main" id="{1B33E268-0DC8-4317-A35A-A8A1BBC398A5}"/>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6A916542-D14E-4C99-91A4-E7DCACDE36E0}"/>
              </a:ext>
            </a:extLst>
          </p:cNvPr>
          <p:cNvSpPr>
            <a:spLocks noGrp="1"/>
          </p:cNvSpPr>
          <p:nvPr>
            <p:ph type="sldNum" sz="quarter" idx="11"/>
          </p:nvPr>
        </p:nvSpPr>
        <p:spPr/>
        <p:txBody>
          <a:bodyPr/>
          <a:lstStyle/>
          <a:p>
            <a:pPr>
              <a:defRPr/>
            </a:pPr>
            <a:fld id="{72682330-DDB7-47C0-8BEC-295D3A41AB1F}" type="slidenum">
              <a:rPr lang="en-US" smtClean="0"/>
              <a:pPr>
                <a:defRPr/>
              </a:pPr>
              <a:t>23</a:t>
            </a:fld>
            <a:endParaRPr lang="en-US" dirty="0"/>
          </a:p>
        </p:txBody>
      </p:sp>
      <p:sp>
        <p:nvSpPr>
          <p:cNvPr id="6" name="Date Placeholder 5">
            <a:extLst>
              <a:ext uri="{FF2B5EF4-FFF2-40B4-BE49-F238E27FC236}">
                <a16:creationId xmlns:a16="http://schemas.microsoft.com/office/drawing/2014/main" id="{A39C3A3A-2F6B-4AD7-856A-CE9C5D51B36D}"/>
              </a:ext>
            </a:extLst>
          </p:cNvPr>
          <p:cNvSpPr>
            <a:spLocks noGrp="1"/>
          </p:cNvSpPr>
          <p:nvPr>
            <p:ph type="dt" sz="half" idx="12"/>
          </p:nvPr>
        </p:nvSpPr>
        <p:spPr/>
        <p:txBody>
          <a:bodyPr/>
          <a:lstStyle/>
          <a:p>
            <a:pPr>
              <a:defRPr/>
            </a:pPr>
            <a:r>
              <a:rPr lang="en-US"/>
              <a:t>Fall 2021</a:t>
            </a:r>
            <a:endParaRPr lang="en-CA" dirty="0"/>
          </a:p>
        </p:txBody>
      </p:sp>
      <p:graphicFrame>
        <p:nvGraphicFramePr>
          <p:cNvPr id="9" name="Table 9">
            <a:extLst>
              <a:ext uri="{FF2B5EF4-FFF2-40B4-BE49-F238E27FC236}">
                <a16:creationId xmlns:a16="http://schemas.microsoft.com/office/drawing/2014/main" id="{6C8C93EC-DA5D-4ACD-916F-B5B82E83BA03}"/>
              </a:ext>
            </a:extLst>
          </p:cNvPr>
          <p:cNvGraphicFramePr>
            <a:graphicFrameLocks noGrp="1"/>
          </p:cNvGraphicFramePr>
          <p:nvPr/>
        </p:nvGraphicFramePr>
        <p:xfrm>
          <a:off x="3733800" y="1830365"/>
          <a:ext cx="1371600" cy="1112520"/>
        </p:xfrm>
        <a:graphic>
          <a:graphicData uri="http://schemas.openxmlformats.org/drawingml/2006/table">
            <a:tbl>
              <a:tblPr firstRow="1" bandRow="1">
                <a:tableStyleId>{3C2FFA5D-87B4-456A-9821-1D502468CF0F}</a:tableStyleId>
              </a:tblPr>
              <a:tblGrid>
                <a:gridCol w="685800">
                  <a:extLst>
                    <a:ext uri="{9D8B030D-6E8A-4147-A177-3AD203B41FA5}">
                      <a16:colId xmlns:a16="http://schemas.microsoft.com/office/drawing/2014/main" val="287580551"/>
                    </a:ext>
                  </a:extLst>
                </a:gridCol>
                <a:gridCol w="685800">
                  <a:extLst>
                    <a:ext uri="{9D8B030D-6E8A-4147-A177-3AD203B41FA5}">
                      <a16:colId xmlns:a16="http://schemas.microsoft.com/office/drawing/2014/main" val="3848652840"/>
                    </a:ext>
                  </a:extLst>
                </a:gridCol>
              </a:tblGrid>
              <a:tr h="370840">
                <a:tc>
                  <a:txBody>
                    <a:bodyPr/>
                    <a:lstStyle/>
                    <a:p>
                      <a:pPr algn="ctr"/>
                      <a:r>
                        <a:rPr lang="en-CA" dirty="0"/>
                        <a:t>A</a:t>
                      </a:r>
                    </a:p>
                  </a:txBody>
                  <a:tcPr/>
                </a:tc>
                <a:tc>
                  <a:txBody>
                    <a:bodyPr/>
                    <a:lstStyle/>
                    <a:p>
                      <a:pPr algn="ctr"/>
                      <a:r>
                        <a:rPr lang="en-CA" dirty="0"/>
                        <a:t>B</a:t>
                      </a:r>
                    </a:p>
                  </a:txBody>
                  <a:tcPr/>
                </a:tc>
                <a:extLst>
                  <a:ext uri="{0D108BD9-81ED-4DB2-BD59-A6C34878D82A}">
                    <a16:rowId xmlns:a16="http://schemas.microsoft.com/office/drawing/2014/main" val="2961602566"/>
                  </a:ext>
                </a:extLst>
              </a:tr>
              <a:tr h="370840">
                <a:tc>
                  <a:txBody>
                    <a:bodyPr/>
                    <a:lstStyle/>
                    <a:p>
                      <a:pPr algn="ctr"/>
                      <a:r>
                        <a:rPr lang="en-CA" dirty="0"/>
                        <a:t>0</a:t>
                      </a:r>
                    </a:p>
                  </a:txBody>
                  <a:tcPr/>
                </a:tc>
                <a:tc>
                  <a:txBody>
                    <a:bodyPr/>
                    <a:lstStyle/>
                    <a:p>
                      <a:pPr algn="ctr"/>
                      <a:r>
                        <a:rPr lang="en-CA" dirty="0"/>
                        <a:t>1</a:t>
                      </a:r>
                    </a:p>
                  </a:txBody>
                  <a:tcPr/>
                </a:tc>
                <a:extLst>
                  <a:ext uri="{0D108BD9-81ED-4DB2-BD59-A6C34878D82A}">
                    <a16:rowId xmlns:a16="http://schemas.microsoft.com/office/drawing/2014/main" val="1965663002"/>
                  </a:ext>
                </a:extLst>
              </a:tr>
              <a:tr h="370840">
                <a:tc>
                  <a:txBody>
                    <a:bodyPr/>
                    <a:lstStyle/>
                    <a:p>
                      <a:pPr algn="ctr"/>
                      <a:r>
                        <a:rPr lang="en-CA" dirty="0"/>
                        <a:t>1</a:t>
                      </a:r>
                    </a:p>
                  </a:txBody>
                  <a:tcPr/>
                </a:tc>
                <a:tc>
                  <a:txBody>
                    <a:bodyPr/>
                    <a:lstStyle/>
                    <a:p>
                      <a:pPr algn="ctr"/>
                      <a:r>
                        <a:rPr lang="en-CA" dirty="0"/>
                        <a:t>0</a:t>
                      </a:r>
                    </a:p>
                  </a:txBody>
                  <a:tcPr/>
                </a:tc>
                <a:extLst>
                  <a:ext uri="{0D108BD9-81ED-4DB2-BD59-A6C34878D82A}">
                    <a16:rowId xmlns:a16="http://schemas.microsoft.com/office/drawing/2014/main" val="1482734216"/>
                  </a:ext>
                </a:extLst>
              </a:tr>
            </a:tbl>
          </a:graphicData>
        </a:graphic>
      </p:graphicFrame>
      <p:sp>
        <p:nvSpPr>
          <p:cNvPr id="7" name="TextBox 6">
            <a:extLst>
              <a:ext uri="{FF2B5EF4-FFF2-40B4-BE49-F238E27FC236}">
                <a16:creationId xmlns:a16="http://schemas.microsoft.com/office/drawing/2014/main" id="{272D12BA-79A1-4821-95FC-28201C671EFA}"/>
              </a:ext>
            </a:extLst>
          </p:cNvPr>
          <p:cNvSpPr txBox="1"/>
          <p:nvPr/>
        </p:nvSpPr>
        <p:spPr>
          <a:xfrm>
            <a:off x="6096000" y="2155792"/>
            <a:ext cx="1371600" cy="461665"/>
          </a:xfrm>
          <a:prstGeom prst="rect">
            <a:avLst/>
          </a:prstGeom>
          <a:noFill/>
        </p:spPr>
        <p:txBody>
          <a:bodyPr wrap="square" rtlCol="0">
            <a:spAutoFit/>
          </a:bodyPr>
          <a:lstStyle/>
          <a:p>
            <a:r>
              <a:rPr lang="en-CA" sz="2400" dirty="0">
                <a:latin typeface="+mn-lt"/>
              </a:rPr>
              <a:t>B = A’</a:t>
            </a:r>
          </a:p>
        </p:txBody>
      </p:sp>
      <p:pic>
        <p:nvPicPr>
          <p:cNvPr id="12" name="Picture 11" descr="A picture containing drawing&#10;&#10;Description automatically generated">
            <a:extLst>
              <a:ext uri="{FF2B5EF4-FFF2-40B4-BE49-F238E27FC236}">
                <a16:creationId xmlns:a16="http://schemas.microsoft.com/office/drawing/2014/main" id="{1291F9C7-7AEA-4C1D-8274-D6BBBA7954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845" y="1904998"/>
            <a:ext cx="2267909" cy="963251"/>
          </a:xfrm>
          <a:prstGeom prst="rect">
            <a:avLst/>
          </a:prstGeom>
        </p:spPr>
      </p:pic>
    </p:spTree>
    <p:extLst>
      <p:ext uri="{BB962C8B-B14F-4D97-AF65-F5344CB8AC3E}">
        <p14:creationId xmlns:p14="http://schemas.microsoft.com/office/powerpoint/2010/main" val="7030401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88E6B-7A92-4DB1-BC70-1E07896D63DC}"/>
              </a:ext>
            </a:extLst>
          </p:cNvPr>
          <p:cNvSpPr>
            <a:spLocks noGrp="1"/>
          </p:cNvSpPr>
          <p:nvPr>
            <p:ph type="title"/>
          </p:nvPr>
        </p:nvSpPr>
        <p:spPr/>
        <p:txBody>
          <a:bodyPr/>
          <a:lstStyle/>
          <a:p>
            <a:r>
              <a:rPr lang="en-CA" dirty="0"/>
              <a:t>The Inverter</a:t>
            </a:r>
          </a:p>
        </p:txBody>
      </p:sp>
      <p:sp>
        <p:nvSpPr>
          <p:cNvPr id="3" name="Content Placeholder 2">
            <a:extLst>
              <a:ext uri="{FF2B5EF4-FFF2-40B4-BE49-F238E27FC236}">
                <a16:creationId xmlns:a16="http://schemas.microsoft.com/office/drawing/2014/main" id="{1DFC75F2-663A-44B4-810E-484EA884D030}"/>
              </a:ext>
            </a:extLst>
          </p:cNvPr>
          <p:cNvSpPr>
            <a:spLocks noGrp="1"/>
          </p:cNvSpPr>
          <p:nvPr>
            <p:ph idx="1"/>
          </p:nvPr>
        </p:nvSpPr>
        <p:spPr/>
        <p:txBody>
          <a:bodyPr/>
          <a:lstStyle/>
          <a:p>
            <a:r>
              <a:rPr lang="en-CA" dirty="0"/>
              <a:t>The inverter is another simple digital logic gate:</a:t>
            </a:r>
          </a:p>
          <a:p>
            <a:endParaRPr lang="en-CA" dirty="0"/>
          </a:p>
          <a:p>
            <a:endParaRPr lang="en-CA" dirty="0"/>
          </a:p>
          <a:p>
            <a:endParaRPr lang="en-CA" dirty="0"/>
          </a:p>
          <a:p>
            <a:r>
              <a:rPr lang="en-CA" dirty="0"/>
              <a:t>This gate outputs a signal B that is the inverted value of signal A</a:t>
            </a:r>
          </a:p>
        </p:txBody>
      </p:sp>
      <p:sp>
        <p:nvSpPr>
          <p:cNvPr id="4" name="Footer Placeholder 3">
            <a:extLst>
              <a:ext uri="{FF2B5EF4-FFF2-40B4-BE49-F238E27FC236}">
                <a16:creationId xmlns:a16="http://schemas.microsoft.com/office/drawing/2014/main" id="{1B33E268-0DC8-4317-A35A-A8A1BBC398A5}"/>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6A916542-D14E-4C99-91A4-E7DCACDE36E0}"/>
              </a:ext>
            </a:extLst>
          </p:cNvPr>
          <p:cNvSpPr>
            <a:spLocks noGrp="1"/>
          </p:cNvSpPr>
          <p:nvPr>
            <p:ph type="sldNum" sz="quarter" idx="11"/>
          </p:nvPr>
        </p:nvSpPr>
        <p:spPr/>
        <p:txBody>
          <a:bodyPr/>
          <a:lstStyle/>
          <a:p>
            <a:pPr>
              <a:defRPr/>
            </a:pPr>
            <a:fld id="{72682330-DDB7-47C0-8BEC-295D3A41AB1F}" type="slidenum">
              <a:rPr lang="en-US" smtClean="0"/>
              <a:pPr>
                <a:defRPr/>
              </a:pPr>
              <a:t>24</a:t>
            </a:fld>
            <a:endParaRPr lang="en-US" dirty="0"/>
          </a:p>
        </p:txBody>
      </p:sp>
      <p:sp>
        <p:nvSpPr>
          <p:cNvPr id="6" name="Date Placeholder 5">
            <a:extLst>
              <a:ext uri="{FF2B5EF4-FFF2-40B4-BE49-F238E27FC236}">
                <a16:creationId xmlns:a16="http://schemas.microsoft.com/office/drawing/2014/main" id="{A39C3A3A-2F6B-4AD7-856A-CE9C5D51B36D}"/>
              </a:ext>
            </a:extLst>
          </p:cNvPr>
          <p:cNvSpPr>
            <a:spLocks noGrp="1"/>
          </p:cNvSpPr>
          <p:nvPr>
            <p:ph type="dt" sz="half" idx="12"/>
          </p:nvPr>
        </p:nvSpPr>
        <p:spPr/>
        <p:txBody>
          <a:bodyPr/>
          <a:lstStyle/>
          <a:p>
            <a:pPr>
              <a:defRPr/>
            </a:pPr>
            <a:r>
              <a:rPr lang="en-US"/>
              <a:t>Fall 2021</a:t>
            </a:r>
            <a:endParaRPr lang="en-CA" dirty="0"/>
          </a:p>
        </p:txBody>
      </p:sp>
      <p:graphicFrame>
        <p:nvGraphicFramePr>
          <p:cNvPr id="9" name="Table 9">
            <a:extLst>
              <a:ext uri="{FF2B5EF4-FFF2-40B4-BE49-F238E27FC236}">
                <a16:creationId xmlns:a16="http://schemas.microsoft.com/office/drawing/2014/main" id="{6C8C93EC-DA5D-4ACD-916F-B5B82E83BA03}"/>
              </a:ext>
            </a:extLst>
          </p:cNvPr>
          <p:cNvGraphicFramePr>
            <a:graphicFrameLocks noGrp="1"/>
          </p:cNvGraphicFramePr>
          <p:nvPr/>
        </p:nvGraphicFramePr>
        <p:xfrm>
          <a:off x="3733800" y="1830365"/>
          <a:ext cx="1371600" cy="1112520"/>
        </p:xfrm>
        <a:graphic>
          <a:graphicData uri="http://schemas.openxmlformats.org/drawingml/2006/table">
            <a:tbl>
              <a:tblPr firstRow="1" bandRow="1">
                <a:tableStyleId>{3C2FFA5D-87B4-456A-9821-1D502468CF0F}</a:tableStyleId>
              </a:tblPr>
              <a:tblGrid>
                <a:gridCol w="685800">
                  <a:extLst>
                    <a:ext uri="{9D8B030D-6E8A-4147-A177-3AD203B41FA5}">
                      <a16:colId xmlns:a16="http://schemas.microsoft.com/office/drawing/2014/main" val="287580551"/>
                    </a:ext>
                  </a:extLst>
                </a:gridCol>
                <a:gridCol w="685800">
                  <a:extLst>
                    <a:ext uri="{9D8B030D-6E8A-4147-A177-3AD203B41FA5}">
                      <a16:colId xmlns:a16="http://schemas.microsoft.com/office/drawing/2014/main" val="3848652840"/>
                    </a:ext>
                  </a:extLst>
                </a:gridCol>
              </a:tblGrid>
              <a:tr h="370840">
                <a:tc>
                  <a:txBody>
                    <a:bodyPr/>
                    <a:lstStyle/>
                    <a:p>
                      <a:pPr algn="ctr"/>
                      <a:r>
                        <a:rPr lang="en-CA" dirty="0"/>
                        <a:t>A</a:t>
                      </a:r>
                    </a:p>
                  </a:txBody>
                  <a:tcPr/>
                </a:tc>
                <a:tc>
                  <a:txBody>
                    <a:bodyPr/>
                    <a:lstStyle/>
                    <a:p>
                      <a:pPr algn="ctr"/>
                      <a:r>
                        <a:rPr lang="en-CA" dirty="0"/>
                        <a:t>B</a:t>
                      </a:r>
                    </a:p>
                  </a:txBody>
                  <a:tcPr/>
                </a:tc>
                <a:extLst>
                  <a:ext uri="{0D108BD9-81ED-4DB2-BD59-A6C34878D82A}">
                    <a16:rowId xmlns:a16="http://schemas.microsoft.com/office/drawing/2014/main" val="2961602566"/>
                  </a:ext>
                </a:extLst>
              </a:tr>
              <a:tr h="370840">
                <a:tc>
                  <a:txBody>
                    <a:bodyPr/>
                    <a:lstStyle/>
                    <a:p>
                      <a:pPr algn="ctr"/>
                      <a:r>
                        <a:rPr lang="en-CA" dirty="0"/>
                        <a:t>0</a:t>
                      </a:r>
                    </a:p>
                  </a:txBody>
                  <a:tcPr/>
                </a:tc>
                <a:tc>
                  <a:txBody>
                    <a:bodyPr/>
                    <a:lstStyle/>
                    <a:p>
                      <a:pPr algn="ctr"/>
                      <a:r>
                        <a:rPr lang="en-CA" dirty="0"/>
                        <a:t>1</a:t>
                      </a:r>
                    </a:p>
                  </a:txBody>
                  <a:tcPr/>
                </a:tc>
                <a:extLst>
                  <a:ext uri="{0D108BD9-81ED-4DB2-BD59-A6C34878D82A}">
                    <a16:rowId xmlns:a16="http://schemas.microsoft.com/office/drawing/2014/main" val="1965663002"/>
                  </a:ext>
                </a:extLst>
              </a:tr>
              <a:tr h="370840">
                <a:tc>
                  <a:txBody>
                    <a:bodyPr/>
                    <a:lstStyle/>
                    <a:p>
                      <a:pPr algn="ctr"/>
                      <a:r>
                        <a:rPr lang="en-CA" dirty="0"/>
                        <a:t>1</a:t>
                      </a:r>
                    </a:p>
                  </a:txBody>
                  <a:tcPr/>
                </a:tc>
                <a:tc>
                  <a:txBody>
                    <a:bodyPr/>
                    <a:lstStyle/>
                    <a:p>
                      <a:pPr algn="ctr"/>
                      <a:r>
                        <a:rPr lang="en-CA" dirty="0"/>
                        <a:t>0</a:t>
                      </a:r>
                    </a:p>
                  </a:txBody>
                  <a:tcPr/>
                </a:tc>
                <a:extLst>
                  <a:ext uri="{0D108BD9-81ED-4DB2-BD59-A6C34878D82A}">
                    <a16:rowId xmlns:a16="http://schemas.microsoft.com/office/drawing/2014/main" val="1482734216"/>
                  </a:ext>
                </a:extLst>
              </a:tr>
            </a:tbl>
          </a:graphicData>
        </a:graphic>
      </p:graphicFrame>
      <p:sp>
        <p:nvSpPr>
          <p:cNvPr id="7" name="TextBox 6">
            <a:extLst>
              <a:ext uri="{FF2B5EF4-FFF2-40B4-BE49-F238E27FC236}">
                <a16:creationId xmlns:a16="http://schemas.microsoft.com/office/drawing/2014/main" id="{272D12BA-79A1-4821-95FC-28201C671EFA}"/>
              </a:ext>
            </a:extLst>
          </p:cNvPr>
          <p:cNvSpPr txBox="1"/>
          <p:nvPr/>
        </p:nvSpPr>
        <p:spPr>
          <a:xfrm>
            <a:off x="6096000" y="2155792"/>
            <a:ext cx="1371600" cy="461665"/>
          </a:xfrm>
          <a:prstGeom prst="rect">
            <a:avLst/>
          </a:prstGeom>
          <a:noFill/>
        </p:spPr>
        <p:txBody>
          <a:bodyPr wrap="square" rtlCol="0">
            <a:spAutoFit/>
          </a:bodyPr>
          <a:lstStyle/>
          <a:p>
            <a:r>
              <a:rPr lang="en-CA" sz="2400" dirty="0">
                <a:latin typeface="+mn-lt"/>
              </a:rPr>
              <a:t>B = A’</a:t>
            </a:r>
          </a:p>
        </p:txBody>
      </p:sp>
      <p:pic>
        <p:nvPicPr>
          <p:cNvPr id="12" name="Picture 11" descr="A picture containing drawing&#10;&#10;Description automatically generated">
            <a:extLst>
              <a:ext uri="{FF2B5EF4-FFF2-40B4-BE49-F238E27FC236}">
                <a16:creationId xmlns:a16="http://schemas.microsoft.com/office/drawing/2014/main" id="{1291F9C7-7AEA-4C1D-8274-D6BBBA7954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845" y="1904998"/>
            <a:ext cx="2267909" cy="963251"/>
          </a:xfrm>
          <a:prstGeom prst="rect">
            <a:avLst/>
          </a:prstGeom>
        </p:spPr>
      </p:pic>
    </p:spTree>
    <p:extLst>
      <p:ext uri="{BB962C8B-B14F-4D97-AF65-F5344CB8AC3E}">
        <p14:creationId xmlns:p14="http://schemas.microsoft.com/office/powerpoint/2010/main" val="34953221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88E6B-7A92-4DB1-BC70-1E07896D63DC}"/>
              </a:ext>
            </a:extLst>
          </p:cNvPr>
          <p:cNvSpPr>
            <a:spLocks noGrp="1"/>
          </p:cNvSpPr>
          <p:nvPr>
            <p:ph type="title"/>
          </p:nvPr>
        </p:nvSpPr>
        <p:spPr/>
        <p:txBody>
          <a:bodyPr/>
          <a:lstStyle/>
          <a:p>
            <a:r>
              <a:rPr lang="en-CA" dirty="0"/>
              <a:t>The AND Gate</a:t>
            </a:r>
          </a:p>
        </p:txBody>
      </p:sp>
      <p:sp>
        <p:nvSpPr>
          <p:cNvPr id="3" name="Content Placeholder 2">
            <a:extLst>
              <a:ext uri="{FF2B5EF4-FFF2-40B4-BE49-F238E27FC236}">
                <a16:creationId xmlns:a16="http://schemas.microsoft.com/office/drawing/2014/main" id="{1DFC75F2-663A-44B4-810E-484EA884D030}"/>
              </a:ext>
            </a:extLst>
          </p:cNvPr>
          <p:cNvSpPr>
            <a:spLocks noGrp="1"/>
          </p:cNvSpPr>
          <p:nvPr>
            <p:ph idx="1"/>
          </p:nvPr>
        </p:nvSpPr>
        <p:spPr/>
        <p:txBody>
          <a:bodyPr/>
          <a:lstStyle/>
          <a:p>
            <a:r>
              <a:rPr lang="en-CA" dirty="0"/>
              <a:t>The AND gate is a two-input digital logic gate:</a:t>
            </a:r>
          </a:p>
        </p:txBody>
      </p:sp>
      <p:sp>
        <p:nvSpPr>
          <p:cNvPr id="4" name="Footer Placeholder 3">
            <a:extLst>
              <a:ext uri="{FF2B5EF4-FFF2-40B4-BE49-F238E27FC236}">
                <a16:creationId xmlns:a16="http://schemas.microsoft.com/office/drawing/2014/main" id="{1B33E268-0DC8-4317-A35A-A8A1BBC398A5}"/>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6A916542-D14E-4C99-91A4-E7DCACDE36E0}"/>
              </a:ext>
            </a:extLst>
          </p:cNvPr>
          <p:cNvSpPr>
            <a:spLocks noGrp="1"/>
          </p:cNvSpPr>
          <p:nvPr>
            <p:ph type="sldNum" sz="quarter" idx="11"/>
          </p:nvPr>
        </p:nvSpPr>
        <p:spPr/>
        <p:txBody>
          <a:bodyPr/>
          <a:lstStyle/>
          <a:p>
            <a:pPr>
              <a:defRPr/>
            </a:pPr>
            <a:fld id="{72682330-DDB7-47C0-8BEC-295D3A41AB1F}" type="slidenum">
              <a:rPr lang="en-US" smtClean="0"/>
              <a:pPr>
                <a:defRPr/>
              </a:pPr>
              <a:t>25</a:t>
            </a:fld>
            <a:endParaRPr lang="en-US" dirty="0"/>
          </a:p>
        </p:txBody>
      </p:sp>
      <p:sp>
        <p:nvSpPr>
          <p:cNvPr id="6" name="Date Placeholder 5">
            <a:extLst>
              <a:ext uri="{FF2B5EF4-FFF2-40B4-BE49-F238E27FC236}">
                <a16:creationId xmlns:a16="http://schemas.microsoft.com/office/drawing/2014/main" id="{A39C3A3A-2F6B-4AD7-856A-CE9C5D51B36D}"/>
              </a:ext>
            </a:extLst>
          </p:cNvPr>
          <p:cNvSpPr>
            <a:spLocks noGrp="1"/>
          </p:cNvSpPr>
          <p:nvPr>
            <p:ph type="dt" sz="half" idx="12"/>
          </p:nvPr>
        </p:nvSpPr>
        <p:spPr/>
        <p:txBody>
          <a:bodyPr/>
          <a:lstStyle/>
          <a:p>
            <a:pPr>
              <a:defRPr/>
            </a:pPr>
            <a:r>
              <a:rPr lang="en-US"/>
              <a:t>Fall 2021</a:t>
            </a:r>
            <a:endParaRPr lang="en-CA" dirty="0"/>
          </a:p>
        </p:txBody>
      </p:sp>
      <p:pic>
        <p:nvPicPr>
          <p:cNvPr id="10" name="Picture 9" descr="A picture containing mirror, drawing&#10;&#10;Description automatically generated">
            <a:extLst>
              <a:ext uri="{FF2B5EF4-FFF2-40B4-BE49-F238E27FC236}">
                <a16:creationId xmlns:a16="http://schemas.microsoft.com/office/drawing/2014/main" id="{908666F8-A098-424F-97B1-9D1F2DF41A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 y="1911095"/>
            <a:ext cx="2261812" cy="951058"/>
          </a:xfrm>
          <a:prstGeom prst="rect">
            <a:avLst/>
          </a:prstGeom>
        </p:spPr>
      </p:pic>
    </p:spTree>
    <p:extLst>
      <p:ext uri="{BB962C8B-B14F-4D97-AF65-F5344CB8AC3E}">
        <p14:creationId xmlns:p14="http://schemas.microsoft.com/office/powerpoint/2010/main" val="21625147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88E6B-7A92-4DB1-BC70-1E07896D63DC}"/>
              </a:ext>
            </a:extLst>
          </p:cNvPr>
          <p:cNvSpPr>
            <a:spLocks noGrp="1"/>
          </p:cNvSpPr>
          <p:nvPr>
            <p:ph type="title"/>
          </p:nvPr>
        </p:nvSpPr>
        <p:spPr/>
        <p:txBody>
          <a:bodyPr/>
          <a:lstStyle/>
          <a:p>
            <a:r>
              <a:rPr lang="en-CA" dirty="0"/>
              <a:t>The AND Gate</a:t>
            </a:r>
          </a:p>
        </p:txBody>
      </p:sp>
      <p:sp>
        <p:nvSpPr>
          <p:cNvPr id="3" name="Content Placeholder 2">
            <a:extLst>
              <a:ext uri="{FF2B5EF4-FFF2-40B4-BE49-F238E27FC236}">
                <a16:creationId xmlns:a16="http://schemas.microsoft.com/office/drawing/2014/main" id="{1DFC75F2-663A-44B4-810E-484EA884D030}"/>
              </a:ext>
            </a:extLst>
          </p:cNvPr>
          <p:cNvSpPr>
            <a:spLocks noGrp="1"/>
          </p:cNvSpPr>
          <p:nvPr>
            <p:ph idx="1"/>
          </p:nvPr>
        </p:nvSpPr>
        <p:spPr/>
        <p:txBody>
          <a:bodyPr/>
          <a:lstStyle/>
          <a:p>
            <a:r>
              <a:rPr lang="en-CA" dirty="0"/>
              <a:t>The AND gate is a two-input digital logic gate:</a:t>
            </a:r>
          </a:p>
        </p:txBody>
      </p:sp>
      <p:sp>
        <p:nvSpPr>
          <p:cNvPr id="4" name="Footer Placeholder 3">
            <a:extLst>
              <a:ext uri="{FF2B5EF4-FFF2-40B4-BE49-F238E27FC236}">
                <a16:creationId xmlns:a16="http://schemas.microsoft.com/office/drawing/2014/main" id="{1B33E268-0DC8-4317-A35A-A8A1BBC398A5}"/>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6A916542-D14E-4C99-91A4-E7DCACDE36E0}"/>
              </a:ext>
            </a:extLst>
          </p:cNvPr>
          <p:cNvSpPr>
            <a:spLocks noGrp="1"/>
          </p:cNvSpPr>
          <p:nvPr>
            <p:ph type="sldNum" sz="quarter" idx="11"/>
          </p:nvPr>
        </p:nvSpPr>
        <p:spPr/>
        <p:txBody>
          <a:bodyPr/>
          <a:lstStyle/>
          <a:p>
            <a:pPr>
              <a:defRPr/>
            </a:pPr>
            <a:fld id="{72682330-DDB7-47C0-8BEC-295D3A41AB1F}" type="slidenum">
              <a:rPr lang="en-US" smtClean="0"/>
              <a:pPr>
                <a:defRPr/>
              </a:pPr>
              <a:t>26</a:t>
            </a:fld>
            <a:endParaRPr lang="en-US" dirty="0"/>
          </a:p>
        </p:txBody>
      </p:sp>
      <p:sp>
        <p:nvSpPr>
          <p:cNvPr id="6" name="Date Placeholder 5">
            <a:extLst>
              <a:ext uri="{FF2B5EF4-FFF2-40B4-BE49-F238E27FC236}">
                <a16:creationId xmlns:a16="http://schemas.microsoft.com/office/drawing/2014/main" id="{A39C3A3A-2F6B-4AD7-856A-CE9C5D51B36D}"/>
              </a:ext>
            </a:extLst>
          </p:cNvPr>
          <p:cNvSpPr>
            <a:spLocks noGrp="1"/>
          </p:cNvSpPr>
          <p:nvPr>
            <p:ph type="dt" sz="half" idx="12"/>
          </p:nvPr>
        </p:nvSpPr>
        <p:spPr/>
        <p:txBody>
          <a:bodyPr/>
          <a:lstStyle/>
          <a:p>
            <a:pPr>
              <a:defRPr/>
            </a:pPr>
            <a:r>
              <a:rPr lang="en-US"/>
              <a:t>Fall 2021</a:t>
            </a:r>
            <a:endParaRPr lang="en-CA" dirty="0"/>
          </a:p>
        </p:txBody>
      </p:sp>
      <p:graphicFrame>
        <p:nvGraphicFramePr>
          <p:cNvPr id="9" name="Table 9">
            <a:extLst>
              <a:ext uri="{FF2B5EF4-FFF2-40B4-BE49-F238E27FC236}">
                <a16:creationId xmlns:a16="http://schemas.microsoft.com/office/drawing/2014/main" id="{6C8C93EC-DA5D-4ACD-916F-B5B82E83BA03}"/>
              </a:ext>
            </a:extLst>
          </p:cNvPr>
          <p:cNvGraphicFramePr>
            <a:graphicFrameLocks noGrp="1"/>
          </p:cNvGraphicFramePr>
          <p:nvPr/>
        </p:nvGraphicFramePr>
        <p:xfrm>
          <a:off x="3733800" y="1830365"/>
          <a:ext cx="1371600" cy="1854200"/>
        </p:xfrm>
        <a:graphic>
          <a:graphicData uri="http://schemas.openxmlformats.org/drawingml/2006/table">
            <a:tbl>
              <a:tblPr firstRow="1" bandRow="1">
                <a:tableStyleId>{3C2FFA5D-87B4-456A-9821-1D502468CF0F}</a:tableStyleId>
              </a:tblPr>
              <a:tblGrid>
                <a:gridCol w="457200">
                  <a:extLst>
                    <a:ext uri="{9D8B030D-6E8A-4147-A177-3AD203B41FA5}">
                      <a16:colId xmlns:a16="http://schemas.microsoft.com/office/drawing/2014/main" val="287580551"/>
                    </a:ext>
                  </a:extLst>
                </a:gridCol>
                <a:gridCol w="457200">
                  <a:extLst>
                    <a:ext uri="{9D8B030D-6E8A-4147-A177-3AD203B41FA5}">
                      <a16:colId xmlns:a16="http://schemas.microsoft.com/office/drawing/2014/main" val="3848652840"/>
                    </a:ext>
                  </a:extLst>
                </a:gridCol>
                <a:gridCol w="457200">
                  <a:extLst>
                    <a:ext uri="{9D8B030D-6E8A-4147-A177-3AD203B41FA5}">
                      <a16:colId xmlns:a16="http://schemas.microsoft.com/office/drawing/2014/main" val="3262824179"/>
                    </a:ext>
                  </a:extLst>
                </a:gridCol>
              </a:tblGrid>
              <a:tr h="370840">
                <a:tc>
                  <a:txBody>
                    <a:bodyPr/>
                    <a:lstStyle/>
                    <a:p>
                      <a:pPr algn="ctr"/>
                      <a:r>
                        <a:rPr lang="en-CA" dirty="0"/>
                        <a:t>A</a:t>
                      </a:r>
                    </a:p>
                  </a:txBody>
                  <a:tcPr/>
                </a:tc>
                <a:tc>
                  <a:txBody>
                    <a:bodyPr/>
                    <a:lstStyle/>
                    <a:p>
                      <a:pPr algn="ctr"/>
                      <a:r>
                        <a:rPr lang="en-CA" dirty="0"/>
                        <a:t>B</a:t>
                      </a:r>
                    </a:p>
                  </a:txBody>
                  <a:tcPr/>
                </a:tc>
                <a:tc>
                  <a:txBody>
                    <a:bodyPr/>
                    <a:lstStyle/>
                    <a:p>
                      <a:pPr algn="ctr"/>
                      <a:r>
                        <a:rPr lang="en-CA" dirty="0"/>
                        <a:t>C</a:t>
                      </a:r>
                    </a:p>
                  </a:txBody>
                  <a:tcPr/>
                </a:tc>
                <a:extLst>
                  <a:ext uri="{0D108BD9-81ED-4DB2-BD59-A6C34878D82A}">
                    <a16:rowId xmlns:a16="http://schemas.microsoft.com/office/drawing/2014/main" val="2961602566"/>
                  </a:ext>
                </a:extLst>
              </a:tr>
              <a:tr h="370840">
                <a:tc>
                  <a:txBody>
                    <a:bodyPr/>
                    <a:lstStyle/>
                    <a:p>
                      <a:pPr algn="ctr"/>
                      <a:r>
                        <a:rPr lang="en-CA" dirty="0"/>
                        <a:t>0</a:t>
                      </a:r>
                    </a:p>
                  </a:txBody>
                  <a:tcPr/>
                </a:tc>
                <a:tc>
                  <a:txBody>
                    <a:bodyPr/>
                    <a:lstStyle/>
                    <a:p>
                      <a:pPr algn="ctr"/>
                      <a:r>
                        <a:rPr lang="en-CA" dirty="0"/>
                        <a:t>0</a:t>
                      </a:r>
                    </a:p>
                  </a:txBody>
                  <a:tcPr/>
                </a:tc>
                <a:tc>
                  <a:txBody>
                    <a:bodyPr/>
                    <a:lstStyle/>
                    <a:p>
                      <a:pPr algn="ctr"/>
                      <a:r>
                        <a:rPr lang="en-CA" dirty="0"/>
                        <a:t>0</a:t>
                      </a:r>
                    </a:p>
                  </a:txBody>
                  <a:tcPr/>
                </a:tc>
                <a:extLst>
                  <a:ext uri="{0D108BD9-81ED-4DB2-BD59-A6C34878D82A}">
                    <a16:rowId xmlns:a16="http://schemas.microsoft.com/office/drawing/2014/main" val="1965663002"/>
                  </a:ext>
                </a:extLst>
              </a:tr>
              <a:tr h="370840">
                <a:tc>
                  <a:txBody>
                    <a:bodyPr/>
                    <a:lstStyle/>
                    <a:p>
                      <a:pPr algn="ctr"/>
                      <a:r>
                        <a:rPr lang="en-CA" dirty="0"/>
                        <a:t>0</a:t>
                      </a:r>
                    </a:p>
                  </a:txBody>
                  <a:tcPr/>
                </a:tc>
                <a:tc>
                  <a:txBody>
                    <a:bodyPr/>
                    <a:lstStyle/>
                    <a:p>
                      <a:pPr algn="ctr"/>
                      <a:r>
                        <a:rPr lang="en-CA" dirty="0"/>
                        <a:t>1</a:t>
                      </a:r>
                    </a:p>
                  </a:txBody>
                  <a:tcPr/>
                </a:tc>
                <a:tc>
                  <a:txBody>
                    <a:bodyPr/>
                    <a:lstStyle/>
                    <a:p>
                      <a:pPr algn="ctr"/>
                      <a:r>
                        <a:rPr lang="en-CA" dirty="0"/>
                        <a:t>0</a:t>
                      </a:r>
                    </a:p>
                  </a:txBody>
                  <a:tcPr/>
                </a:tc>
                <a:extLst>
                  <a:ext uri="{0D108BD9-81ED-4DB2-BD59-A6C34878D82A}">
                    <a16:rowId xmlns:a16="http://schemas.microsoft.com/office/drawing/2014/main" val="1482734216"/>
                  </a:ext>
                </a:extLst>
              </a:tr>
              <a:tr h="370840">
                <a:tc>
                  <a:txBody>
                    <a:bodyPr/>
                    <a:lstStyle/>
                    <a:p>
                      <a:pPr algn="ctr"/>
                      <a:r>
                        <a:rPr lang="en-CA" dirty="0"/>
                        <a:t>1</a:t>
                      </a:r>
                    </a:p>
                  </a:txBody>
                  <a:tcPr/>
                </a:tc>
                <a:tc>
                  <a:txBody>
                    <a:bodyPr/>
                    <a:lstStyle/>
                    <a:p>
                      <a:pPr algn="ctr"/>
                      <a:r>
                        <a:rPr lang="en-CA" dirty="0"/>
                        <a:t>0</a:t>
                      </a:r>
                    </a:p>
                  </a:txBody>
                  <a:tcPr/>
                </a:tc>
                <a:tc>
                  <a:txBody>
                    <a:bodyPr/>
                    <a:lstStyle/>
                    <a:p>
                      <a:pPr algn="ctr"/>
                      <a:r>
                        <a:rPr lang="en-CA" dirty="0"/>
                        <a:t>0</a:t>
                      </a:r>
                    </a:p>
                  </a:txBody>
                  <a:tcPr/>
                </a:tc>
                <a:extLst>
                  <a:ext uri="{0D108BD9-81ED-4DB2-BD59-A6C34878D82A}">
                    <a16:rowId xmlns:a16="http://schemas.microsoft.com/office/drawing/2014/main" val="1849887607"/>
                  </a:ext>
                </a:extLst>
              </a:tr>
              <a:tr h="370840">
                <a:tc>
                  <a:txBody>
                    <a:bodyPr/>
                    <a:lstStyle/>
                    <a:p>
                      <a:pPr algn="ctr"/>
                      <a:r>
                        <a:rPr lang="en-CA" dirty="0"/>
                        <a:t>1</a:t>
                      </a:r>
                    </a:p>
                  </a:txBody>
                  <a:tcPr/>
                </a:tc>
                <a:tc>
                  <a:txBody>
                    <a:bodyPr/>
                    <a:lstStyle/>
                    <a:p>
                      <a:pPr algn="ctr"/>
                      <a:r>
                        <a:rPr lang="en-CA" dirty="0"/>
                        <a:t>1</a:t>
                      </a:r>
                    </a:p>
                  </a:txBody>
                  <a:tcPr/>
                </a:tc>
                <a:tc>
                  <a:txBody>
                    <a:bodyPr/>
                    <a:lstStyle/>
                    <a:p>
                      <a:pPr algn="ctr"/>
                      <a:r>
                        <a:rPr lang="en-CA" dirty="0"/>
                        <a:t>1</a:t>
                      </a:r>
                    </a:p>
                  </a:txBody>
                  <a:tcPr/>
                </a:tc>
                <a:extLst>
                  <a:ext uri="{0D108BD9-81ED-4DB2-BD59-A6C34878D82A}">
                    <a16:rowId xmlns:a16="http://schemas.microsoft.com/office/drawing/2014/main" val="3078186550"/>
                  </a:ext>
                </a:extLst>
              </a:tr>
            </a:tbl>
          </a:graphicData>
        </a:graphic>
      </p:graphicFrame>
      <p:sp>
        <p:nvSpPr>
          <p:cNvPr id="7" name="TextBox 6">
            <a:extLst>
              <a:ext uri="{FF2B5EF4-FFF2-40B4-BE49-F238E27FC236}">
                <a16:creationId xmlns:a16="http://schemas.microsoft.com/office/drawing/2014/main" id="{272D12BA-79A1-4821-95FC-28201C671EFA}"/>
              </a:ext>
            </a:extLst>
          </p:cNvPr>
          <p:cNvSpPr txBox="1"/>
          <p:nvPr/>
        </p:nvSpPr>
        <p:spPr>
          <a:xfrm>
            <a:off x="6096000" y="2155792"/>
            <a:ext cx="1371600" cy="461665"/>
          </a:xfrm>
          <a:prstGeom prst="rect">
            <a:avLst/>
          </a:prstGeom>
          <a:noFill/>
        </p:spPr>
        <p:txBody>
          <a:bodyPr wrap="square" rtlCol="0">
            <a:spAutoFit/>
          </a:bodyPr>
          <a:lstStyle/>
          <a:p>
            <a:r>
              <a:rPr lang="en-CA" sz="2400" dirty="0">
                <a:latin typeface="+mn-lt"/>
              </a:rPr>
              <a:t>C = A ∙ B</a:t>
            </a:r>
          </a:p>
        </p:txBody>
      </p:sp>
      <p:pic>
        <p:nvPicPr>
          <p:cNvPr id="10" name="Picture 9" descr="A picture containing mirror, drawing&#10;&#10;Description automatically generated">
            <a:extLst>
              <a:ext uri="{FF2B5EF4-FFF2-40B4-BE49-F238E27FC236}">
                <a16:creationId xmlns:a16="http://schemas.microsoft.com/office/drawing/2014/main" id="{908666F8-A098-424F-97B1-9D1F2DF41A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 y="1911095"/>
            <a:ext cx="2261812" cy="951058"/>
          </a:xfrm>
          <a:prstGeom prst="rect">
            <a:avLst/>
          </a:prstGeom>
        </p:spPr>
      </p:pic>
    </p:spTree>
    <p:extLst>
      <p:ext uri="{BB962C8B-B14F-4D97-AF65-F5344CB8AC3E}">
        <p14:creationId xmlns:p14="http://schemas.microsoft.com/office/powerpoint/2010/main" val="12250211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88E6B-7A92-4DB1-BC70-1E07896D63DC}"/>
              </a:ext>
            </a:extLst>
          </p:cNvPr>
          <p:cNvSpPr>
            <a:spLocks noGrp="1"/>
          </p:cNvSpPr>
          <p:nvPr>
            <p:ph type="title"/>
          </p:nvPr>
        </p:nvSpPr>
        <p:spPr/>
        <p:txBody>
          <a:bodyPr/>
          <a:lstStyle/>
          <a:p>
            <a:r>
              <a:rPr lang="en-CA" dirty="0"/>
              <a:t>The AND Gate</a:t>
            </a:r>
          </a:p>
        </p:txBody>
      </p:sp>
      <p:sp>
        <p:nvSpPr>
          <p:cNvPr id="3" name="Content Placeholder 2">
            <a:extLst>
              <a:ext uri="{FF2B5EF4-FFF2-40B4-BE49-F238E27FC236}">
                <a16:creationId xmlns:a16="http://schemas.microsoft.com/office/drawing/2014/main" id="{1DFC75F2-663A-44B4-810E-484EA884D030}"/>
              </a:ext>
            </a:extLst>
          </p:cNvPr>
          <p:cNvSpPr>
            <a:spLocks noGrp="1"/>
          </p:cNvSpPr>
          <p:nvPr>
            <p:ph idx="1"/>
          </p:nvPr>
        </p:nvSpPr>
        <p:spPr/>
        <p:txBody>
          <a:bodyPr/>
          <a:lstStyle/>
          <a:p>
            <a:r>
              <a:rPr lang="en-CA" dirty="0"/>
              <a:t>The AND gate is a two-input digital logic gate:</a:t>
            </a:r>
          </a:p>
          <a:p>
            <a:endParaRPr lang="en-CA" dirty="0"/>
          </a:p>
          <a:p>
            <a:endParaRPr lang="en-CA" dirty="0"/>
          </a:p>
          <a:p>
            <a:endParaRPr lang="en-CA" dirty="0"/>
          </a:p>
          <a:p>
            <a:endParaRPr lang="en-CA" dirty="0"/>
          </a:p>
          <a:p>
            <a:r>
              <a:rPr lang="en-CA" dirty="0"/>
              <a:t>This gate outputs a signal C that is a value of 1 if and only if both inputs are 1</a:t>
            </a:r>
          </a:p>
        </p:txBody>
      </p:sp>
      <p:sp>
        <p:nvSpPr>
          <p:cNvPr id="4" name="Footer Placeholder 3">
            <a:extLst>
              <a:ext uri="{FF2B5EF4-FFF2-40B4-BE49-F238E27FC236}">
                <a16:creationId xmlns:a16="http://schemas.microsoft.com/office/drawing/2014/main" id="{1B33E268-0DC8-4317-A35A-A8A1BBC398A5}"/>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6A916542-D14E-4C99-91A4-E7DCACDE36E0}"/>
              </a:ext>
            </a:extLst>
          </p:cNvPr>
          <p:cNvSpPr>
            <a:spLocks noGrp="1"/>
          </p:cNvSpPr>
          <p:nvPr>
            <p:ph type="sldNum" sz="quarter" idx="11"/>
          </p:nvPr>
        </p:nvSpPr>
        <p:spPr/>
        <p:txBody>
          <a:bodyPr/>
          <a:lstStyle/>
          <a:p>
            <a:pPr>
              <a:defRPr/>
            </a:pPr>
            <a:fld id="{72682330-DDB7-47C0-8BEC-295D3A41AB1F}" type="slidenum">
              <a:rPr lang="en-US" smtClean="0"/>
              <a:pPr>
                <a:defRPr/>
              </a:pPr>
              <a:t>27</a:t>
            </a:fld>
            <a:endParaRPr lang="en-US" dirty="0"/>
          </a:p>
        </p:txBody>
      </p:sp>
      <p:sp>
        <p:nvSpPr>
          <p:cNvPr id="6" name="Date Placeholder 5">
            <a:extLst>
              <a:ext uri="{FF2B5EF4-FFF2-40B4-BE49-F238E27FC236}">
                <a16:creationId xmlns:a16="http://schemas.microsoft.com/office/drawing/2014/main" id="{A39C3A3A-2F6B-4AD7-856A-CE9C5D51B36D}"/>
              </a:ext>
            </a:extLst>
          </p:cNvPr>
          <p:cNvSpPr>
            <a:spLocks noGrp="1"/>
          </p:cNvSpPr>
          <p:nvPr>
            <p:ph type="dt" sz="half" idx="12"/>
          </p:nvPr>
        </p:nvSpPr>
        <p:spPr/>
        <p:txBody>
          <a:bodyPr/>
          <a:lstStyle/>
          <a:p>
            <a:pPr>
              <a:defRPr/>
            </a:pPr>
            <a:r>
              <a:rPr lang="en-US"/>
              <a:t>Fall 2021</a:t>
            </a:r>
            <a:endParaRPr lang="en-CA" dirty="0"/>
          </a:p>
        </p:txBody>
      </p:sp>
      <p:graphicFrame>
        <p:nvGraphicFramePr>
          <p:cNvPr id="9" name="Table 9">
            <a:extLst>
              <a:ext uri="{FF2B5EF4-FFF2-40B4-BE49-F238E27FC236}">
                <a16:creationId xmlns:a16="http://schemas.microsoft.com/office/drawing/2014/main" id="{6C8C93EC-DA5D-4ACD-916F-B5B82E83BA03}"/>
              </a:ext>
            </a:extLst>
          </p:cNvPr>
          <p:cNvGraphicFramePr>
            <a:graphicFrameLocks noGrp="1"/>
          </p:cNvGraphicFramePr>
          <p:nvPr/>
        </p:nvGraphicFramePr>
        <p:xfrm>
          <a:off x="3733800" y="1830365"/>
          <a:ext cx="1371600" cy="1854200"/>
        </p:xfrm>
        <a:graphic>
          <a:graphicData uri="http://schemas.openxmlformats.org/drawingml/2006/table">
            <a:tbl>
              <a:tblPr firstRow="1" bandRow="1">
                <a:tableStyleId>{3C2FFA5D-87B4-456A-9821-1D502468CF0F}</a:tableStyleId>
              </a:tblPr>
              <a:tblGrid>
                <a:gridCol w="457200">
                  <a:extLst>
                    <a:ext uri="{9D8B030D-6E8A-4147-A177-3AD203B41FA5}">
                      <a16:colId xmlns:a16="http://schemas.microsoft.com/office/drawing/2014/main" val="287580551"/>
                    </a:ext>
                  </a:extLst>
                </a:gridCol>
                <a:gridCol w="457200">
                  <a:extLst>
                    <a:ext uri="{9D8B030D-6E8A-4147-A177-3AD203B41FA5}">
                      <a16:colId xmlns:a16="http://schemas.microsoft.com/office/drawing/2014/main" val="3848652840"/>
                    </a:ext>
                  </a:extLst>
                </a:gridCol>
                <a:gridCol w="457200">
                  <a:extLst>
                    <a:ext uri="{9D8B030D-6E8A-4147-A177-3AD203B41FA5}">
                      <a16:colId xmlns:a16="http://schemas.microsoft.com/office/drawing/2014/main" val="3262824179"/>
                    </a:ext>
                  </a:extLst>
                </a:gridCol>
              </a:tblGrid>
              <a:tr h="370840">
                <a:tc>
                  <a:txBody>
                    <a:bodyPr/>
                    <a:lstStyle/>
                    <a:p>
                      <a:pPr algn="ctr"/>
                      <a:r>
                        <a:rPr lang="en-CA" dirty="0"/>
                        <a:t>A</a:t>
                      </a:r>
                    </a:p>
                  </a:txBody>
                  <a:tcPr/>
                </a:tc>
                <a:tc>
                  <a:txBody>
                    <a:bodyPr/>
                    <a:lstStyle/>
                    <a:p>
                      <a:pPr algn="ctr"/>
                      <a:r>
                        <a:rPr lang="en-CA" dirty="0"/>
                        <a:t>B</a:t>
                      </a:r>
                    </a:p>
                  </a:txBody>
                  <a:tcPr/>
                </a:tc>
                <a:tc>
                  <a:txBody>
                    <a:bodyPr/>
                    <a:lstStyle/>
                    <a:p>
                      <a:pPr algn="ctr"/>
                      <a:r>
                        <a:rPr lang="en-CA" dirty="0"/>
                        <a:t>C</a:t>
                      </a:r>
                    </a:p>
                  </a:txBody>
                  <a:tcPr/>
                </a:tc>
                <a:extLst>
                  <a:ext uri="{0D108BD9-81ED-4DB2-BD59-A6C34878D82A}">
                    <a16:rowId xmlns:a16="http://schemas.microsoft.com/office/drawing/2014/main" val="2961602566"/>
                  </a:ext>
                </a:extLst>
              </a:tr>
              <a:tr h="370840">
                <a:tc>
                  <a:txBody>
                    <a:bodyPr/>
                    <a:lstStyle/>
                    <a:p>
                      <a:pPr algn="ctr"/>
                      <a:r>
                        <a:rPr lang="en-CA" dirty="0"/>
                        <a:t>0</a:t>
                      </a:r>
                    </a:p>
                  </a:txBody>
                  <a:tcPr/>
                </a:tc>
                <a:tc>
                  <a:txBody>
                    <a:bodyPr/>
                    <a:lstStyle/>
                    <a:p>
                      <a:pPr algn="ctr"/>
                      <a:r>
                        <a:rPr lang="en-CA" dirty="0"/>
                        <a:t>0</a:t>
                      </a:r>
                    </a:p>
                  </a:txBody>
                  <a:tcPr/>
                </a:tc>
                <a:tc>
                  <a:txBody>
                    <a:bodyPr/>
                    <a:lstStyle/>
                    <a:p>
                      <a:pPr algn="ctr"/>
                      <a:r>
                        <a:rPr lang="en-CA" dirty="0"/>
                        <a:t>0</a:t>
                      </a:r>
                    </a:p>
                  </a:txBody>
                  <a:tcPr/>
                </a:tc>
                <a:extLst>
                  <a:ext uri="{0D108BD9-81ED-4DB2-BD59-A6C34878D82A}">
                    <a16:rowId xmlns:a16="http://schemas.microsoft.com/office/drawing/2014/main" val="1965663002"/>
                  </a:ext>
                </a:extLst>
              </a:tr>
              <a:tr h="370840">
                <a:tc>
                  <a:txBody>
                    <a:bodyPr/>
                    <a:lstStyle/>
                    <a:p>
                      <a:pPr algn="ctr"/>
                      <a:r>
                        <a:rPr lang="en-CA" dirty="0"/>
                        <a:t>0</a:t>
                      </a:r>
                    </a:p>
                  </a:txBody>
                  <a:tcPr/>
                </a:tc>
                <a:tc>
                  <a:txBody>
                    <a:bodyPr/>
                    <a:lstStyle/>
                    <a:p>
                      <a:pPr algn="ctr"/>
                      <a:r>
                        <a:rPr lang="en-CA" dirty="0"/>
                        <a:t>1</a:t>
                      </a:r>
                    </a:p>
                  </a:txBody>
                  <a:tcPr/>
                </a:tc>
                <a:tc>
                  <a:txBody>
                    <a:bodyPr/>
                    <a:lstStyle/>
                    <a:p>
                      <a:pPr algn="ctr"/>
                      <a:r>
                        <a:rPr lang="en-CA" dirty="0"/>
                        <a:t>0</a:t>
                      </a:r>
                    </a:p>
                  </a:txBody>
                  <a:tcPr/>
                </a:tc>
                <a:extLst>
                  <a:ext uri="{0D108BD9-81ED-4DB2-BD59-A6C34878D82A}">
                    <a16:rowId xmlns:a16="http://schemas.microsoft.com/office/drawing/2014/main" val="1482734216"/>
                  </a:ext>
                </a:extLst>
              </a:tr>
              <a:tr h="370840">
                <a:tc>
                  <a:txBody>
                    <a:bodyPr/>
                    <a:lstStyle/>
                    <a:p>
                      <a:pPr algn="ctr"/>
                      <a:r>
                        <a:rPr lang="en-CA" dirty="0"/>
                        <a:t>1</a:t>
                      </a:r>
                    </a:p>
                  </a:txBody>
                  <a:tcPr/>
                </a:tc>
                <a:tc>
                  <a:txBody>
                    <a:bodyPr/>
                    <a:lstStyle/>
                    <a:p>
                      <a:pPr algn="ctr"/>
                      <a:r>
                        <a:rPr lang="en-CA" dirty="0"/>
                        <a:t>0</a:t>
                      </a:r>
                    </a:p>
                  </a:txBody>
                  <a:tcPr/>
                </a:tc>
                <a:tc>
                  <a:txBody>
                    <a:bodyPr/>
                    <a:lstStyle/>
                    <a:p>
                      <a:pPr algn="ctr"/>
                      <a:r>
                        <a:rPr lang="en-CA" dirty="0"/>
                        <a:t>0</a:t>
                      </a:r>
                    </a:p>
                  </a:txBody>
                  <a:tcPr/>
                </a:tc>
                <a:extLst>
                  <a:ext uri="{0D108BD9-81ED-4DB2-BD59-A6C34878D82A}">
                    <a16:rowId xmlns:a16="http://schemas.microsoft.com/office/drawing/2014/main" val="1849887607"/>
                  </a:ext>
                </a:extLst>
              </a:tr>
              <a:tr h="370840">
                <a:tc>
                  <a:txBody>
                    <a:bodyPr/>
                    <a:lstStyle/>
                    <a:p>
                      <a:pPr algn="ctr"/>
                      <a:r>
                        <a:rPr lang="en-CA" dirty="0"/>
                        <a:t>1</a:t>
                      </a:r>
                    </a:p>
                  </a:txBody>
                  <a:tcPr/>
                </a:tc>
                <a:tc>
                  <a:txBody>
                    <a:bodyPr/>
                    <a:lstStyle/>
                    <a:p>
                      <a:pPr algn="ctr"/>
                      <a:r>
                        <a:rPr lang="en-CA" dirty="0"/>
                        <a:t>1</a:t>
                      </a:r>
                    </a:p>
                  </a:txBody>
                  <a:tcPr/>
                </a:tc>
                <a:tc>
                  <a:txBody>
                    <a:bodyPr/>
                    <a:lstStyle/>
                    <a:p>
                      <a:pPr algn="ctr"/>
                      <a:r>
                        <a:rPr lang="en-CA" dirty="0"/>
                        <a:t>1</a:t>
                      </a:r>
                    </a:p>
                  </a:txBody>
                  <a:tcPr/>
                </a:tc>
                <a:extLst>
                  <a:ext uri="{0D108BD9-81ED-4DB2-BD59-A6C34878D82A}">
                    <a16:rowId xmlns:a16="http://schemas.microsoft.com/office/drawing/2014/main" val="3078186550"/>
                  </a:ext>
                </a:extLst>
              </a:tr>
            </a:tbl>
          </a:graphicData>
        </a:graphic>
      </p:graphicFrame>
      <p:sp>
        <p:nvSpPr>
          <p:cNvPr id="7" name="TextBox 6">
            <a:extLst>
              <a:ext uri="{FF2B5EF4-FFF2-40B4-BE49-F238E27FC236}">
                <a16:creationId xmlns:a16="http://schemas.microsoft.com/office/drawing/2014/main" id="{272D12BA-79A1-4821-95FC-28201C671EFA}"/>
              </a:ext>
            </a:extLst>
          </p:cNvPr>
          <p:cNvSpPr txBox="1"/>
          <p:nvPr/>
        </p:nvSpPr>
        <p:spPr>
          <a:xfrm>
            <a:off x="6096000" y="2155792"/>
            <a:ext cx="1371600" cy="461665"/>
          </a:xfrm>
          <a:prstGeom prst="rect">
            <a:avLst/>
          </a:prstGeom>
          <a:noFill/>
        </p:spPr>
        <p:txBody>
          <a:bodyPr wrap="square" rtlCol="0">
            <a:spAutoFit/>
          </a:bodyPr>
          <a:lstStyle/>
          <a:p>
            <a:r>
              <a:rPr lang="en-CA" sz="2400" dirty="0">
                <a:latin typeface="+mn-lt"/>
              </a:rPr>
              <a:t>C = A ∙ B</a:t>
            </a:r>
          </a:p>
        </p:txBody>
      </p:sp>
      <p:pic>
        <p:nvPicPr>
          <p:cNvPr id="10" name="Picture 9" descr="A picture containing mirror, drawing&#10;&#10;Description automatically generated">
            <a:extLst>
              <a:ext uri="{FF2B5EF4-FFF2-40B4-BE49-F238E27FC236}">
                <a16:creationId xmlns:a16="http://schemas.microsoft.com/office/drawing/2014/main" id="{908666F8-A098-424F-97B1-9D1F2DF41A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 y="1911095"/>
            <a:ext cx="2261812" cy="951058"/>
          </a:xfrm>
          <a:prstGeom prst="rect">
            <a:avLst/>
          </a:prstGeom>
        </p:spPr>
      </p:pic>
    </p:spTree>
    <p:extLst>
      <p:ext uri="{BB962C8B-B14F-4D97-AF65-F5344CB8AC3E}">
        <p14:creationId xmlns:p14="http://schemas.microsoft.com/office/powerpoint/2010/main" val="41828158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88E6B-7A92-4DB1-BC70-1E07896D63DC}"/>
              </a:ext>
            </a:extLst>
          </p:cNvPr>
          <p:cNvSpPr>
            <a:spLocks noGrp="1"/>
          </p:cNvSpPr>
          <p:nvPr>
            <p:ph type="title"/>
          </p:nvPr>
        </p:nvSpPr>
        <p:spPr/>
        <p:txBody>
          <a:bodyPr/>
          <a:lstStyle/>
          <a:p>
            <a:r>
              <a:rPr lang="en-CA" dirty="0"/>
              <a:t>The OR Gate</a:t>
            </a:r>
          </a:p>
        </p:txBody>
      </p:sp>
      <p:sp>
        <p:nvSpPr>
          <p:cNvPr id="3" name="Content Placeholder 2">
            <a:extLst>
              <a:ext uri="{FF2B5EF4-FFF2-40B4-BE49-F238E27FC236}">
                <a16:creationId xmlns:a16="http://schemas.microsoft.com/office/drawing/2014/main" id="{1DFC75F2-663A-44B4-810E-484EA884D030}"/>
              </a:ext>
            </a:extLst>
          </p:cNvPr>
          <p:cNvSpPr>
            <a:spLocks noGrp="1"/>
          </p:cNvSpPr>
          <p:nvPr>
            <p:ph idx="1"/>
          </p:nvPr>
        </p:nvSpPr>
        <p:spPr/>
        <p:txBody>
          <a:bodyPr/>
          <a:lstStyle/>
          <a:p>
            <a:r>
              <a:rPr lang="en-CA" dirty="0"/>
              <a:t>The OR gate is another two-input digital logic gate:</a:t>
            </a:r>
          </a:p>
        </p:txBody>
      </p:sp>
      <p:sp>
        <p:nvSpPr>
          <p:cNvPr id="4" name="Footer Placeholder 3">
            <a:extLst>
              <a:ext uri="{FF2B5EF4-FFF2-40B4-BE49-F238E27FC236}">
                <a16:creationId xmlns:a16="http://schemas.microsoft.com/office/drawing/2014/main" id="{1B33E268-0DC8-4317-A35A-A8A1BBC398A5}"/>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6A916542-D14E-4C99-91A4-E7DCACDE36E0}"/>
              </a:ext>
            </a:extLst>
          </p:cNvPr>
          <p:cNvSpPr>
            <a:spLocks noGrp="1"/>
          </p:cNvSpPr>
          <p:nvPr>
            <p:ph type="sldNum" sz="quarter" idx="11"/>
          </p:nvPr>
        </p:nvSpPr>
        <p:spPr/>
        <p:txBody>
          <a:bodyPr/>
          <a:lstStyle/>
          <a:p>
            <a:pPr>
              <a:defRPr/>
            </a:pPr>
            <a:fld id="{72682330-DDB7-47C0-8BEC-295D3A41AB1F}" type="slidenum">
              <a:rPr lang="en-US" smtClean="0"/>
              <a:pPr>
                <a:defRPr/>
              </a:pPr>
              <a:t>28</a:t>
            </a:fld>
            <a:endParaRPr lang="en-US" dirty="0"/>
          </a:p>
        </p:txBody>
      </p:sp>
      <p:sp>
        <p:nvSpPr>
          <p:cNvPr id="6" name="Date Placeholder 5">
            <a:extLst>
              <a:ext uri="{FF2B5EF4-FFF2-40B4-BE49-F238E27FC236}">
                <a16:creationId xmlns:a16="http://schemas.microsoft.com/office/drawing/2014/main" id="{A39C3A3A-2F6B-4AD7-856A-CE9C5D51B36D}"/>
              </a:ext>
            </a:extLst>
          </p:cNvPr>
          <p:cNvSpPr>
            <a:spLocks noGrp="1"/>
          </p:cNvSpPr>
          <p:nvPr>
            <p:ph type="dt" sz="half" idx="12"/>
          </p:nvPr>
        </p:nvSpPr>
        <p:spPr/>
        <p:txBody>
          <a:bodyPr/>
          <a:lstStyle/>
          <a:p>
            <a:pPr>
              <a:defRPr/>
            </a:pPr>
            <a:r>
              <a:rPr lang="en-US"/>
              <a:t>Fall 2021</a:t>
            </a:r>
            <a:endParaRPr lang="en-CA" dirty="0"/>
          </a:p>
        </p:txBody>
      </p:sp>
      <p:pic>
        <p:nvPicPr>
          <p:cNvPr id="11" name="Picture 10" descr="A picture containing drawing&#10;&#10;Description automatically generated">
            <a:extLst>
              <a:ext uri="{FF2B5EF4-FFF2-40B4-BE49-F238E27FC236}">
                <a16:creationId xmlns:a16="http://schemas.microsoft.com/office/drawing/2014/main" id="{F7267483-3A6D-40F2-8EE7-03D6C9EDD6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7894" y="1911095"/>
            <a:ext cx="2261812" cy="951058"/>
          </a:xfrm>
          <a:prstGeom prst="rect">
            <a:avLst/>
          </a:prstGeom>
        </p:spPr>
      </p:pic>
    </p:spTree>
    <p:extLst>
      <p:ext uri="{BB962C8B-B14F-4D97-AF65-F5344CB8AC3E}">
        <p14:creationId xmlns:p14="http://schemas.microsoft.com/office/powerpoint/2010/main" val="3885750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88E6B-7A92-4DB1-BC70-1E07896D63DC}"/>
              </a:ext>
            </a:extLst>
          </p:cNvPr>
          <p:cNvSpPr>
            <a:spLocks noGrp="1"/>
          </p:cNvSpPr>
          <p:nvPr>
            <p:ph type="title"/>
          </p:nvPr>
        </p:nvSpPr>
        <p:spPr/>
        <p:txBody>
          <a:bodyPr/>
          <a:lstStyle/>
          <a:p>
            <a:r>
              <a:rPr lang="en-CA" dirty="0"/>
              <a:t>The OR Gate</a:t>
            </a:r>
          </a:p>
        </p:txBody>
      </p:sp>
      <p:sp>
        <p:nvSpPr>
          <p:cNvPr id="3" name="Content Placeholder 2">
            <a:extLst>
              <a:ext uri="{FF2B5EF4-FFF2-40B4-BE49-F238E27FC236}">
                <a16:creationId xmlns:a16="http://schemas.microsoft.com/office/drawing/2014/main" id="{1DFC75F2-663A-44B4-810E-484EA884D030}"/>
              </a:ext>
            </a:extLst>
          </p:cNvPr>
          <p:cNvSpPr>
            <a:spLocks noGrp="1"/>
          </p:cNvSpPr>
          <p:nvPr>
            <p:ph idx="1"/>
          </p:nvPr>
        </p:nvSpPr>
        <p:spPr/>
        <p:txBody>
          <a:bodyPr/>
          <a:lstStyle/>
          <a:p>
            <a:r>
              <a:rPr lang="en-CA" dirty="0"/>
              <a:t>The OR gate is another two-input digital logic gate:</a:t>
            </a:r>
          </a:p>
        </p:txBody>
      </p:sp>
      <p:sp>
        <p:nvSpPr>
          <p:cNvPr id="4" name="Footer Placeholder 3">
            <a:extLst>
              <a:ext uri="{FF2B5EF4-FFF2-40B4-BE49-F238E27FC236}">
                <a16:creationId xmlns:a16="http://schemas.microsoft.com/office/drawing/2014/main" id="{1B33E268-0DC8-4317-A35A-A8A1BBC398A5}"/>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6A916542-D14E-4C99-91A4-E7DCACDE36E0}"/>
              </a:ext>
            </a:extLst>
          </p:cNvPr>
          <p:cNvSpPr>
            <a:spLocks noGrp="1"/>
          </p:cNvSpPr>
          <p:nvPr>
            <p:ph type="sldNum" sz="quarter" idx="11"/>
          </p:nvPr>
        </p:nvSpPr>
        <p:spPr/>
        <p:txBody>
          <a:bodyPr/>
          <a:lstStyle/>
          <a:p>
            <a:pPr>
              <a:defRPr/>
            </a:pPr>
            <a:fld id="{72682330-DDB7-47C0-8BEC-295D3A41AB1F}" type="slidenum">
              <a:rPr lang="en-US" smtClean="0"/>
              <a:pPr>
                <a:defRPr/>
              </a:pPr>
              <a:t>29</a:t>
            </a:fld>
            <a:endParaRPr lang="en-US" dirty="0"/>
          </a:p>
        </p:txBody>
      </p:sp>
      <p:sp>
        <p:nvSpPr>
          <p:cNvPr id="6" name="Date Placeholder 5">
            <a:extLst>
              <a:ext uri="{FF2B5EF4-FFF2-40B4-BE49-F238E27FC236}">
                <a16:creationId xmlns:a16="http://schemas.microsoft.com/office/drawing/2014/main" id="{A39C3A3A-2F6B-4AD7-856A-CE9C5D51B36D}"/>
              </a:ext>
            </a:extLst>
          </p:cNvPr>
          <p:cNvSpPr>
            <a:spLocks noGrp="1"/>
          </p:cNvSpPr>
          <p:nvPr>
            <p:ph type="dt" sz="half" idx="12"/>
          </p:nvPr>
        </p:nvSpPr>
        <p:spPr/>
        <p:txBody>
          <a:bodyPr/>
          <a:lstStyle/>
          <a:p>
            <a:pPr>
              <a:defRPr/>
            </a:pPr>
            <a:r>
              <a:rPr lang="en-US"/>
              <a:t>Fall 2021</a:t>
            </a:r>
            <a:endParaRPr lang="en-CA" dirty="0"/>
          </a:p>
        </p:txBody>
      </p:sp>
      <p:graphicFrame>
        <p:nvGraphicFramePr>
          <p:cNvPr id="9" name="Table 9">
            <a:extLst>
              <a:ext uri="{FF2B5EF4-FFF2-40B4-BE49-F238E27FC236}">
                <a16:creationId xmlns:a16="http://schemas.microsoft.com/office/drawing/2014/main" id="{6C8C93EC-DA5D-4ACD-916F-B5B82E83BA03}"/>
              </a:ext>
            </a:extLst>
          </p:cNvPr>
          <p:cNvGraphicFramePr>
            <a:graphicFrameLocks noGrp="1"/>
          </p:cNvGraphicFramePr>
          <p:nvPr/>
        </p:nvGraphicFramePr>
        <p:xfrm>
          <a:off x="3733800" y="1830365"/>
          <a:ext cx="1371600" cy="1854200"/>
        </p:xfrm>
        <a:graphic>
          <a:graphicData uri="http://schemas.openxmlformats.org/drawingml/2006/table">
            <a:tbl>
              <a:tblPr firstRow="1" bandRow="1">
                <a:tableStyleId>{3C2FFA5D-87B4-456A-9821-1D502468CF0F}</a:tableStyleId>
              </a:tblPr>
              <a:tblGrid>
                <a:gridCol w="457200">
                  <a:extLst>
                    <a:ext uri="{9D8B030D-6E8A-4147-A177-3AD203B41FA5}">
                      <a16:colId xmlns:a16="http://schemas.microsoft.com/office/drawing/2014/main" val="287580551"/>
                    </a:ext>
                  </a:extLst>
                </a:gridCol>
                <a:gridCol w="457200">
                  <a:extLst>
                    <a:ext uri="{9D8B030D-6E8A-4147-A177-3AD203B41FA5}">
                      <a16:colId xmlns:a16="http://schemas.microsoft.com/office/drawing/2014/main" val="3848652840"/>
                    </a:ext>
                  </a:extLst>
                </a:gridCol>
                <a:gridCol w="457200">
                  <a:extLst>
                    <a:ext uri="{9D8B030D-6E8A-4147-A177-3AD203B41FA5}">
                      <a16:colId xmlns:a16="http://schemas.microsoft.com/office/drawing/2014/main" val="3262824179"/>
                    </a:ext>
                  </a:extLst>
                </a:gridCol>
              </a:tblGrid>
              <a:tr h="370840">
                <a:tc>
                  <a:txBody>
                    <a:bodyPr/>
                    <a:lstStyle/>
                    <a:p>
                      <a:pPr algn="ctr"/>
                      <a:r>
                        <a:rPr lang="en-CA" dirty="0"/>
                        <a:t>A</a:t>
                      </a:r>
                    </a:p>
                  </a:txBody>
                  <a:tcPr/>
                </a:tc>
                <a:tc>
                  <a:txBody>
                    <a:bodyPr/>
                    <a:lstStyle/>
                    <a:p>
                      <a:pPr algn="ctr"/>
                      <a:r>
                        <a:rPr lang="en-CA" dirty="0"/>
                        <a:t>B</a:t>
                      </a:r>
                    </a:p>
                  </a:txBody>
                  <a:tcPr/>
                </a:tc>
                <a:tc>
                  <a:txBody>
                    <a:bodyPr/>
                    <a:lstStyle/>
                    <a:p>
                      <a:pPr algn="ctr"/>
                      <a:r>
                        <a:rPr lang="en-CA" dirty="0"/>
                        <a:t>C</a:t>
                      </a:r>
                    </a:p>
                  </a:txBody>
                  <a:tcPr/>
                </a:tc>
                <a:extLst>
                  <a:ext uri="{0D108BD9-81ED-4DB2-BD59-A6C34878D82A}">
                    <a16:rowId xmlns:a16="http://schemas.microsoft.com/office/drawing/2014/main" val="2961602566"/>
                  </a:ext>
                </a:extLst>
              </a:tr>
              <a:tr h="370840">
                <a:tc>
                  <a:txBody>
                    <a:bodyPr/>
                    <a:lstStyle/>
                    <a:p>
                      <a:pPr algn="ctr"/>
                      <a:r>
                        <a:rPr lang="en-CA" dirty="0"/>
                        <a:t>0</a:t>
                      </a:r>
                    </a:p>
                  </a:txBody>
                  <a:tcPr/>
                </a:tc>
                <a:tc>
                  <a:txBody>
                    <a:bodyPr/>
                    <a:lstStyle/>
                    <a:p>
                      <a:pPr algn="ctr"/>
                      <a:r>
                        <a:rPr lang="en-CA" dirty="0"/>
                        <a:t>0</a:t>
                      </a:r>
                    </a:p>
                  </a:txBody>
                  <a:tcPr/>
                </a:tc>
                <a:tc>
                  <a:txBody>
                    <a:bodyPr/>
                    <a:lstStyle/>
                    <a:p>
                      <a:pPr algn="ctr"/>
                      <a:r>
                        <a:rPr lang="en-CA" dirty="0"/>
                        <a:t>0</a:t>
                      </a:r>
                    </a:p>
                  </a:txBody>
                  <a:tcPr/>
                </a:tc>
                <a:extLst>
                  <a:ext uri="{0D108BD9-81ED-4DB2-BD59-A6C34878D82A}">
                    <a16:rowId xmlns:a16="http://schemas.microsoft.com/office/drawing/2014/main" val="1965663002"/>
                  </a:ext>
                </a:extLst>
              </a:tr>
              <a:tr h="370840">
                <a:tc>
                  <a:txBody>
                    <a:bodyPr/>
                    <a:lstStyle/>
                    <a:p>
                      <a:pPr algn="ctr"/>
                      <a:r>
                        <a:rPr lang="en-CA" dirty="0"/>
                        <a:t>0</a:t>
                      </a:r>
                    </a:p>
                  </a:txBody>
                  <a:tcPr/>
                </a:tc>
                <a:tc>
                  <a:txBody>
                    <a:bodyPr/>
                    <a:lstStyle/>
                    <a:p>
                      <a:pPr algn="ctr"/>
                      <a:r>
                        <a:rPr lang="en-CA" dirty="0"/>
                        <a:t>1</a:t>
                      </a:r>
                    </a:p>
                  </a:txBody>
                  <a:tcPr/>
                </a:tc>
                <a:tc>
                  <a:txBody>
                    <a:bodyPr/>
                    <a:lstStyle/>
                    <a:p>
                      <a:pPr algn="ctr"/>
                      <a:r>
                        <a:rPr lang="en-CA" dirty="0"/>
                        <a:t>1</a:t>
                      </a:r>
                    </a:p>
                  </a:txBody>
                  <a:tcPr/>
                </a:tc>
                <a:extLst>
                  <a:ext uri="{0D108BD9-81ED-4DB2-BD59-A6C34878D82A}">
                    <a16:rowId xmlns:a16="http://schemas.microsoft.com/office/drawing/2014/main" val="1482734216"/>
                  </a:ext>
                </a:extLst>
              </a:tr>
              <a:tr h="370840">
                <a:tc>
                  <a:txBody>
                    <a:bodyPr/>
                    <a:lstStyle/>
                    <a:p>
                      <a:pPr algn="ctr"/>
                      <a:r>
                        <a:rPr lang="en-CA" dirty="0"/>
                        <a:t>1</a:t>
                      </a:r>
                    </a:p>
                  </a:txBody>
                  <a:tcPr/>
                </a:tc>
                <a:tc>
                  <a:txBody>
                    <a:bodyPr/>
                    <a:lstStyle/>
                    <a:p>
                      <a:pPr algn="ctr"/>
                      <a:r>
                        <a:rPr lang="en-CA" dirty="0"/>
                        <a:t>0</a:t>
                      </a:r>
                    </a:p>
                  </a:txBody>
                  <a:tcPr/>
                </a:tc>
                <a:tc>
                  <a:txBody>
                    <a:bodyPr/>
                    <a:lstStyle/>
                    <a:p>
                      <a:pPr algn="ctr"/>
                      <a:r>
                        <a:rPr lang="en-CA" dirty="0"/>
                        <a:t>1</a:t>
                      </a:r>
                    </a:p>
                  </a:txBody>
                  <a:tcPr/>
                </a:tc>
                <a:extLst>
                  <a:ext uri="{0D108BD9-81ED-4DB2-BD59-A6C34878D82A}">
                    <a16:rowId xmlns:a16="http://schemas.microsoft.com/office/drawing/2014/main" val="1849887607"/>
                  </a:ext>
                </a:extLst>
              </a:tr>
              <a:tr h="370840">
                <a:tc>
                  <a:txBody>
                    <a:bodyPr/>
                    <a:lstStyle/>
                    <a:p>
                      <a:pPr algn="ctr"/>
                      <a:r>
                        <a:rPr lang="en-CA" dirty="0"/>
                        <a:t>1</a:t>
                      </a:r>
                    </a:p>
                  </a:txBody>
                  <a:tcPr/>
                </a:tc>
                <a:tc>
                  <a:txBody>
                    <a:bodyPr/>
                    <a:lstStyle/>
                    <a:p>
                      <a:pPr algn="ctr"/>
                      <a:r>
                        <a:rPr lang="en-CA" dirty="0"/>
                        <a:t>1</a:t>
                      </a:r>
                    </a:p>
                  </a:txBody>
                  <a:tcPr/>
                </a:tc>
                <a:tc>
                  <a:txBody>
                    <a:bodyPr/>
                    <a:lstStyle/>
                    <a:p>
                      <a:pPr algn="ctr"/>
                      <a:r>
                        <a:rPr lang="en-CA" dirty="0"/>
                        <a:t>1</a:t>
                      </a:r>
                    </a:p>
                  </a:txBody>
                  <a:tcPr/>
                </a:tc>
                <a:extLst>
                  <a:ext uri="{0D108BD9-81ED-4DB2-BD59-A6C34878D82A}">
                    <a16:rowId xmlns:a16="http://schemas.microsoft.com/office/drawing/2014/main" val="3078186550"/>
                  </a:ext>
                </a:extLst>
              </a:tr>
            </a:tbl>
          </a:graphicData>
        </a:graphic>
      </p:graphicFrame>
      <p:sp>
        <p:nvSpPr>
          <p:cNvPr id="7" name="TextBox 6">
            <a:extLst>
              <a:ext uri="{FF2B5EF4-FFF2-40B4-BE49-F238E27FC236}">
                <a16:creationId xmlns:a16="http://schemas.microsoft.com/office/drawing/2014/main" id="{272D12BA-79A1-4821-95FC-28201C671EFA}"/>
              </a:ext>
            </a:extLst>
          </p:cNvPr>
          <p:cNvSpPr txBox="1"/>
          <p:nvPr/>
        </p:nvSpPr>
        <p:spPr>
          <a:xfrm>
            <a:off x="6096000" y="2155792"/>
            <a:ext cx="1371600" cy="461665"/>
          </a:xfrm>
          <a:prstGeom prst="rect">
            <a:avLst/>
          </a:prstGeom>
          <a:noFill/>
        </p:spPr>
        <p:txBody>
          <a:bodyPr wrap="square" rtlCol="0">
            <a:spAutoFit/>
          </a:bodyPr>
          <a:lstStyle/>
          <a:p>
            <a:r>
              <a:rPr lang="en-CA" sz="2400" dirty="0">
                <a:latin typeface="+mn-lt"/>
              </a:rPr>
              <a:t>C = A + B</a:t>
            </a:r>
          </a:p>
        </p:txBody>
      </p:sp>
      <p:pic>
        <p:nvPicPr>
          <p:cNvPr id="11" name="Picture 10" descr="A picture containing drawing&#10;&#10;Description automatically generated">
            <a:extLst>
              <a:ext uri="{FF2B5EF4-FFF2-40B4-BE49-F238E27FC236}">
                <a16:creationId xmlns:a16="http://schemas.microsoft.com/office/drawing/2014/main" id="{F7267483-3A6D-40F2-8EE7-03D6C9EDD6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7894" y="1911095"/>
            <a:ext cx="2261812" cy="951058"/>
          </a:xfrm>
          <a:prstGeom prst="rect">
            <a:avLst/>
          </a:prstGeom>
        </p:spPr>
      </p:pic>
    </p:spTree>
    <p:extLst>
      <p:ext uri="{BB962C8B-B14F-4D97-AF65-F5344CB8AC3E}">
        <p14:creationId xmlns:p14="http://schemas.microsoft.com/office/powerpoint/2010/main" val="31085782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88E6B-7A92-4DB1-BC70-1E07896D63DC}"/>
              </a:ext>
            </a:extLst>
          </p:cNvPr>
          <p:cNvSpPr>
            <a:spLocks noGrp="1"/>
          </p:cNvSpPr>
          <p:nvPr>
            <p:ph type="title"/>
          </p:nvPr>
        </p:nvSpPr>
        <p:spPr/>
        <p:txBody>
          <a:bodyPr/>
          <a:lstStyle/>
          <a:p>
            <a:r>
              <a:rPr lang="en-CA" dirty="0"/>
              <a:t>The OR Gate</a:t>
            </a:r>
          </a:p>
        </p:txBody>
      </p:sp>
      <p:sp>
        <p:nvSpPr>
          <p:cNvPr id="3" name="Content Placeholder 2">
            <a:extLst>
              <a:ext uri="{FF2B5EF4-FFF2-40B4-BE49-F238E27FC236}">
                <a16:creationId xmlns:a16="http://schemas.microsoft.com/office/drawing/2014/main" id="{1DFC75F2-663A-44B4-810E-484EA884D030}"/>
              </a:ext>
            </a:extLst>
          </p:cNvPr>
          <p:cNvSpPr>
            <a:spLocks noGrp="1"/>
          </p:cNvSpPr>
          <p:nvPr>
            <p:ph idx="1"/>
          </p:nvPr>
        </p:nvSpPr>
        <p:spPr/>
        <p:txBody>
          <a:bodyPr/>
          <a:lstStyle/>
          <a:p>
            <a:r>
              <a:rPr lang="en-CA" dirty="0"/>
              <a:t>The OR gate is another two-input digital logic gate:</a:t>
            </a:r>
          </a:p>
          <a:p>
            <a:endParaRPr lang="en-CA" dirty="0"/>
          </a:p>
          <a:p>
            <a:endParaRPr lang="en-CA" dirty="0"/>
          </a:p>
          <a:p>
            <a:endParaRPr lang="en-CA" dirty="0"/>
          </a:p>
          <a:p>
            <a:endParaRPr lang="en-CA" dirty="0"/>
          </a:p>
          <a:p>
            <a:r>
              <a:rPr lang="en-CA" dirty="0"/>
              <a:t>This gate outputs a signal C that is a value of 1 if either input is 1</a:t>
            </a:r>
          </a:p>
        </p:txBody>
      </p:sp>
      <p:sp>
        <p:nvSpPr>
          <p:cNvPr id="4" name="Footer Placeholder 3">
            <a:extLst>
              <a:ext uri="{FF2B5EF4-FFF2-40B4-BE49-F238E27FC236}">
                <a16:creationId xmlns:a16="http://schemas.microsoft.com/office/drawing/2014/main" id="{1B33E268-0DC8-4317-A35A-A8A1BBC398A5}"/>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6A916542-D14E-4C99-91A4-E7DCACDE36E0}"/>
              </a:ext>
            </a:extLst>
          </p:cNvPr>
          <p:cNvSpPr>
            <a:spLocks noGrp="1"/>
          </p:cNvSpPr>
          <p:nvPr>
            <p:ph type="sldNum" sz="quarter" idx="11"/>
          </p:nvPr>
        </p:nvSpPr>
        <p:spPr/>
        <p:txBody>
          <a:bodyPr/>
          <a:lstStyle/>
          <a:p>
            <a:pPr>
              <a:defRPr/>
            </a:pPr>
            <a:fld id="{72682330-DDB7-47C0-8BEC-295D3A41AB1F}" type="slidenum">
              <a:rPr lang="en-US" smtClean="0"/>
              <a:pPr>
                <a:defRPr/>
              </a:pPr>
              <a:t>30</a:t>
            </a:fld>
            <a:endParaRPr lang="en-US" dirty="0"/>
          </a:p>
        </p:txBody>
      </p:sp>
      <p:sp>
        <p:nvSpPr>
          <p:cNvPr id="6" name="Date Placeholder 5">
            <a:extLst>
              <a:ext uri="{FF2B5EF4-FFF2-40B4-BE49-F238E27FC236}">
                <a16:creationId xmlns:a16="http://schemas.microsoft.com/office/drawing/2014/main" id="{A39C3A3A-2F6B-4AD7-856A-CE9C5D51B36D}"/>
              </a:ext>
            </a:extLst>
          </p:cNvPr>
          <p:cNvSpPr>
            <a:spLocks noGrp="1"/>
          </p:cNvSpPr>
          <p:nvPr>
            <p:ph type="dt" sz="half" idx="12"/>
          </p:nvPr>
        </p:nvSpPr>
        <p:spPr/>
        <p:txBody>
          <a:bodyPr/>
          <a:lstStyle/>
          <a:p>
            <a:pPr>
              <a:defRPr/>
            </a:pPr>
            <a:r>
              <a:rPr lang="en-US"/>
              <a:t>Fall 2021</a:t>
            </a:r>
            <a:endParaRPr lang="en-CA" dirty="0"/>
          </a:p>
        </p:txBody>
      </p:sp>
      <p:graphicFrame>
        <p:nvGraphicFramePr>
          <p:cNvPr id="9" name="Table 9">
            <a:extLst>
              <a:ext uri="{FF2B5EF4-FFF2-40B4-BE49-F238E27FC236}">
                <a16:creationId xmlns:a16="http://schemas.microsoft.com/office/drawing/2014/main" id="{6C8C93EC-DA5D-4ACD-916F-B5B82E83BA03}"/>
              </a:ext>
            </a:extLst>
          </p:cNvPr>
          <p:cNvGraphicFramePr>
            <a:graphicFrameLocks noGrp="1"/>
          </p:cNvGraphicFramePr>
          <p:nvPr/>
        </p:nvGraphicFramePr>
        <p:xfrm>
          <a:off x="3733800" y="1830365"/>
          <a:ext cx="1371600" cy="1854200"/>
        </p:xfrm>
        <a:graphic>
          <a:graphicData uri="http://schemas.openxmlformats.org/drawingml/2006/table">
            <a:tbl>
              <a:tblPr firstRow="1" bandRow="1">
                <a:tableStyleId>{3C2FFA5D-87B4-456A-9821-1D502468CF0F}</a:tableStyleId>
              </a:tblPr>
              <a:tblGrid>
                <a:gridCol w="457200">
                  <a:extLst>
                    <a:ext uri="{9D8B030D-6E8A-4147-A177-3AD203B41FA5}">
                      <a16:colId xmlns:a16="http://schemas.microsoft.com/office/drawing/2014/main" val="287580551"/>
                    </a:ext>
                  </a:extLst>
                </a:gridCol>
                <a:gridCol w="457200">
                  <a:extLst>
                    <a:ext uri="{9D8B030D-6E8A-4147-A177-3AD203B41FA5}">
                      <a16:colId xmlns:a16="http://schemas.microsoft.com/office/drawing/2014/main" val="3848652840"/>
                    </a:ext>
                  </a:extLst>
                </a:gridCol>
                <a:gridCol w="457200">
                  <a:extLst>
                    <a:ext uri="{9D8B030D-6E8A-4147-A177-3AD203B41FA5}">
                      <a16:colId xmlns:a16="http://schemas.microsoft.com/office/drawing/2014/main" val="3262824179"/>
                    </a:ext>
                  </a:extLst>
                </a:gridCol>
              </a:tblGrid>
              <a:tr h="370840">
                <a:tc>
                  <a:txBody>
                    <a:bodyPr/>
                    <a:lstStyle/>
                    <a:p>
                      <a:pPr algn="ctr"/>
                      <a:r>
                        <a:rPr lang="en-CA" dirty="0"/>
                        <a:t>A</a:t>
                      </a:r>
                    </a:p>
                  </a:txBody>
                  <a:tcPr/>
                </a:tc>
                <a:tc>
                  <a:txBody>
                    <a:bodyPr/>
                    <a:lstStyle/>
                    <a:p>
                      <a:pPr algn="ctr"/>
                      <a:r>
                        <a:rPr lang="en-CA" dirty="0"/>
                        <a:t>B</a:t>
                      </a:r>
                    </a:p>
                  </a:txBody>
                  <a:tcPr/>
                </a:tc>
                <a:tc>
                  <a:txBody>
                    <a:bodyPr/>
                    <a:lstStyle/>
                    <a:p>
                      <a:pPr algn="ctr"/>
                      <a:r>
                        <a:rPr lang="en-CA" dirty="0"/>
                        <a:t>C</a:t>
                      </a:r>
                    </a:p>
                  </a:txBody>
                  <a:tcPr/>
                </a:tc>
                <a:extLst>
                  <a:ext uri="{0D108BD9-81ED-4DB2-BD59-A6C34878D82A}">
                    <a16:rowId xmlns:a16="http://schemas.microsoft.com/office/drawing/2014/main" val="2961602566"/>
                  </a:ext>
                </a:extLst>
              </a:tr>
              <a:tr h="370840">
                <a:tc>
                  <a:txBody>
                    <a:bodyPr/>
                    <a:lstStyle/>
                    <a:p>
                      <a:pPr algn="ctr"/>
                      <a:r>
                        <a:rPr lang="en-CA" dirty="0"/>
                        <a:t>0</a:t>
                      </a:r>
                    </a:p>
                  </a:txBody>
                  <a:tcPr/>
                </a:tc>
                <a:tc>
                  <a:txBody>
                    <a:bodyPr/>
                    <a:lstStyle/>
                    <a:p>
                      <a:pPr algn="ctr"/>
                      <a:r>
                        <a:rPr lang="en-CA" dirty="0"/>
                        <a:t>0</a:t>
                      </a:r>
                    </a:p>
                  </a:txBody>
                  <a:tcPr/>
                </a:tc>
                <a:tc>
                  <a:txBody>
                    <a:bodyPr/>
                    <a:lstStyle/>
                    <a:p>
                      <a:pPr algn="ctr"/>
                      <a:r>
                        <a:rPr lang="en-CA" dirty="0"/>
                        <a:t>0</a:t>
                      </a:r>
                    </a:p>
                  </a:txBody>
                  <a:tcPr/>
                </a:tc>
                <a:extLst>
                  <a:ext uri="{0D108BD9-81ED-4DB2-BD59-A6C34878D82A}">
                    <a16:rowId xmlns:a16="http://schemas.microsoft.com/office/drawing/2014/main" val="1965663002"/>
                  </a:ext>
                </a:extLst>
              </a:tr>
              <a:tr h="370840">
                <a:tc>
                  <a:txBody>
                    <a:bodyPr/>
                    <a:lstStyle/>
                    <a:p>
                      <a:pPr algn="ctr"/>
                      <a:r>
                        <a:rPr lang="en-CA" dirty="0"/>
                        <a:t>0</a:t>
                      </a:r>
                    </a:p>
                  </a:txBody>
                  <a:tcPr/>
                </a:tc>
                <a:tc>
                  <a:txBody>
                    <a:bodyPr/>
                    <a:lstStyle/>
                    <a:p>
                      <a:pPr algn="ctr"/>
                      <a:r>
                        <a:rPr lang="en-CA" dirty="0"/>
                        <a:t>1</a:t>
                      </a:r>
                    </a:p>
                  </a:txBody>
                  <a:tcPr/>
                </a:tc>
                <a:tc>
                  <a:txBody>
                    <a:bodyPr/>
                    <a:lstStyle/>
                    <a:p>
                      <a:pPr algn="ctr"/>
                      <a:r>
                        <a:rPr lang="en-CA" dirty="0"/>
                        <a:t>1</a:t>
                      </a:r>
                    </a:p>
                  </a:txBody>
                  <a:tcPr/>
                </a:tc>
                <a:extLst>
                  <a:ext uri="{0D108BD9-81ED-4DB2-BD59-A6C34878D82A}">
                    <a16:rowId xmlns:a16="http://schemas.microsoft.com/office/drawing/2014/main" val="1482734216"/>
                  </a:ext>
                </a:extLst>
              </a:tr>
              <a:tr h="370840">
                <a:tc>
                  <a:txBody>
                    <a:bodyPr/>
                    <a:lstStyle/>
                    <a:p>
                      <a:pPr algn="ctr"/>
                      <a:r>
                        <a:rPr lang="en-CA" dirty="0"/>
                        <a:t>1</a:t>
                      </a:r>
                    </a:p>
                  </a:txBody>
                  <a:tcPr/>
                </a:tc>
                <a:tc>
                  <a:txBody>
                    <a:bodyPr/>
                    <a:lstStyle/>
                    <a:p>
                      <a:pPr algn="ctr"/>
                      <a:r>
                        <a:rPr lang="en-CA" dirty="0"/>
                        <a:t>0</a:t>
                      </a:r>
                    </a:p>
                  </a:txBody>
                  <a:tcPr/>
                </a:tc>
                <a:tc>
                  <a:txBody>
                    <a:bodyPr/>
                    <a:lstStyle/>
                    <a:p>
                      <a:pPr algn="ctr"/>
                      <a:r>
                        <a:rPr lang="en-CA" dirty="0"/>
                        <a:t>1</a:t>
                      </a:r>
                    </a:p>
                  </a:txBody>
                  <a:tcPr/>
                </a:tc>
                <a:extLst>
                  <a:ext uri="{0D108BD9-81ED-4DB2-BD59-A6C34878D82A}">
                    <a16:rowId xmlns:a16="http://schemas.microsoft.com/office/drawing/2014/main" val="1849887607"/>
                  </a:ext>
                </a:extLst>
              </a:tr>
              <a:tr h="370840">
                <a:tc>
                  <a:txBody>
                    <a:bodyPr/>
                    <a:lstStyle/>
                    <a:p>
                      <a:pPr algn="ctr"/>
                      <a:r>
                        <a:rPr lang="en-CA" dirty="0"/>
                        <a:t>1</a:t>
                      </a:r>
                    </a:p>
                  </a:txBody>
                  <a:tcPr/>
                </a:tc>
                <a:tc>
                  <a:txBody>
                    <a:bodyPr/>
                    <a:lstStyle/>
                    <a:p>
                      <a:pPr algn="ctr"/>
                      <a:r>
                        <a:rPr lang="en-CA" dirty="0"/>
                        <a:t>1</a:t>
                      </a:r>
                    </a:p>
                  </a:txBody>
                  <a:tcPr/>
                </a:tc>
                <a:tc>
                  <a:txBody>
                    <a:bodyPr/>
                    <a:lstStyle/>
                    <a:p>
                      <a:pPr algn="ctr"/>
                      <a:r>
                        <a:rPr lang="en-CA" dirty="0"/>
                        <a:t>1</a:t>
                      </a:r>
                    </a:p>
                  </a:txBody>
                  <a:tcPr/>
                </a:tc>
                <a:extLst>
                  <a:ext uri="{0D108BD9-81ED-4DB2-BD59-A6C34878D82A}">
                    <a16:rowId xmlns:a16="http://schemas.microsoft.com/office/drawing/2014/main" val="3078186550"/>
                  </a:ext>
                </a:extLst>
              </a:tr>
            </a:tbl>
          </a:graphicData>
        </a:graphic>
      </p:graphicFrame>
      <p:sp>
        <p:nvSpPr>
          <p:cNvPr id="7" name="TextBox 6">
            <a:extLst>
              <a:ext uri="{FF2B5EF4-FFF2-40B4-BE49-F238E27FC236}">
                <a16:creationId xmlns:a16="http://schemas.microsoft.com/office/drawing/2014/main" id="{272D12BA-79A1-4821-95FC-28201C671EFA}"/>
              </a:ext>
            </a:extLst>
          </p:cNvPr>
          <p:cNvSpPr txBox="1"/>
          <p:nvPr/>
        </p:nvSpPr>
        <p:spPr>
          <a:xfrm>
            <a:off x="6096000" y="2155792"/>
            <a:ext cx="1371600" cy="461665"/>
          </a:xfrm>
          <a:prstGeom prst="rect">
            <a:avLst/>
          </a:prstGeom>
          <a:noFill/>
        </p:spPr>
        <p:txBody>
          <a:bodyPr wrap="square" rtlCol="0">
            <a:spAutoFit/>
          </a:bodyPr>
          <a:lstStyle/>
          <a:p>
            <a:r>
              <a:rPr lang="en-CA" sz="2400" dirty="0">
                <a:latin typeface="+mn-lt"/>
              </a:rPr>
              <a:t>C = A + B</a:t>
            </a:r>
          </a:p>
        </p:txBody>
      </p:sp>
      <p:pic>
        <p:nvPicPr>
          <p:cNvPr id="11" name="Picture 10" descr="A picture containing drawing&#10;&#10;Description automatically generated">
            <a:extLst>
              <a:ext uri="{FF2B5EF4-FFF2-40B4-BE49-F238E27FC236}">
                <a16:creationId xmlns:a16="http://schemas.microsoft.com/office/drawing/2014/main" id="{F7267483-3A6D-40F2-8EE7-03D6C9EDD6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7894" y="1911095"/>
            <a:ext cx="2261812" cy="951058"/>
          </a:xfrm>
          <a:prstGeom prst="rect">
            <a:avLst/>
          </a:prstGeom>
        </p:spPr>
      </p:pic>
    </p:spTree>
    <p:extLst>
      <p:ext uri="{BB962C8B-B14F-4D97-AF65-F5344CB8AC3E}">
        <p14:creationId xmlns:p14="http://schemas.microsoft.com/office/powerpoint/2010/main" val="22949767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88E6B-7A92-4DB1-BC70-1E07896D63DC}"/>
              </a:ext>
            </a:extLst>
          </p:cNvPr>
          <p:cNvSpPr>
            <a:spLocks noGrp="1"/>
          </p:cNvSpPr>
          <p:nvPr>
            <p:ph type="title"/>
          </p:nvPr>
        </p:nvSpPr>
        <p:spPr/>
        <p:txBody>
          <a:bodyPr/>
          <a:lstStyle/>
          <a:p>
            <a:r>
              <a:rPr lang="en-CA" dirty="0"/>
              <a:t>The XOR Gate</a:t>
            </a:r>
          </a:p>
        </p:txBody>
      </p:sp>
      <p:sp>
        <p:nvSpPr>
          <p:cNvPr id="3" name="Content Placeholder 2">
            <a:extLst>
              <a:ext uri="{FF2B5EF4-FFF2-40B4-BE49-F238E27FC236}">
                <a16:creationId xmlns:a16="http://schemas.microsoft.com/office/drawing/2014/main" id="{1DFC75F2-663A-44B4-810E-484EA884D030}"/>
              </a:ext>
            </a:extLst>
          </p:cNvPr>
          <p:cNvSpPr>
            <a:spLocks noGrp="1"/>
          </p:cNvSpPr>
          <p:nvPr>
            <p:ph idx="1"/>
          </p:nvPr>
        </p:nvSpPr>
        <p:spPr/>
        <p:txBody>
          <a:bodyPr/>
          <a:lstStyle/>
          <a:p>
            <a:r>
              <a:rPr lang="en-CA" dirty="0"/>
              <a:t>The XOR gate is another two-input digital logic gate:</a:t>
            </a:r>
          </a:p>
        </p:txBody>
      </p:sp>
      <p:sp>
        <p:nvSpPr>
          <p:cNvPr id="4" name="Footer Placeholder 3">
            <a:extLst>
              <a:ext uri="{FF2B5EF4-FFF2-40B4-BE49-F238E27FC236}">
                <a16:creationId xmlns:a16="http://schemas.microsoft.com/office/drawing/2014/main" id="{1B33E268-0DC8-4317-A35A-A8A1BBC398A5}"/>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6A916542-D14E-4C99-91A4-E7DCACDE36E0}"/>
              </a:ext>
            </a:extLst>
          </p:cNvPr>
          <p:cNvSpPr>
            <a:spLocks noGrp="1"/>
          </p:cNvSpPr>
          <p:nvPr>
            <p:ph type="sldNum" sz="quarter" idx="11"/>
          </p:nvPr>
        </p:nvSpPr>
        <p:spPr/>
        <p:txBody>
          <a:bodyPr/>
          <a:lstStyle/>
          <a:p>
            <a:pPr>
              <a:defRPr/>
            </a:pPr>
            <a:fld id="{72682330-DDB7-47C0-8BEC-295D3A41AB1F}" type="slidenum">
              <a:rPr lang="en-US" smtClean="0"/>
              <a:pPr>
                <a:defRPr/>
              </a:pPr>
              <a:t>31</a:t>
            </a:fld>
            <a:endParaRPr lang="en-US" dirty="0"/>
          </a:p>
        </p:txBody>
      </p:sp>
      <p:sp>
        <p:nvSpPr>
          <p:cNvPr id="6" name="Date Placeholder 5">
            <a:extLst>
              <a:ext uri="{FF2B5EF4-FFF2-40B4-BE49-F238E27FC236}">
                <a16:creationId xmlns:a16="http://schemas.microsoft.com/office/drawing/2014/main" id="{A39C3A3A-2F6B-4AD7-856A-CE9C5D51B36D}"/>
              </a:ext>
            </a:extLst>
          </p:cNvPr>
          <p:cNvSpPr>
            <a:spLocks noGrp="1"/>
          </p:cNvSpPr>
          <p:nvPr>
            <p:ph type="dt" sz="half" idx="12"/>
          </p:nvPr>
        </p:nvSpPr>
        <p:spPr/>
        <p:txBody>
          <a:bodyPr/>
          <a:lstStyle/>
          <a:p>
            <a:pPr>
              <a:defRPr/>
            </a:pPr>
            <a:r>
              <a:rPr lang="en-US"/>
              <a:t>Fall 2021</a:t>
            </a:r>
            <a:endParaRPr lang="en-CA" dirty="0"/>
          </a:p>
        </p:txBody>
      </p:sp>
      <p:pic>
        <p:nvPicPr>
          <p:cNvPr id="10" name="Picture 9" descr="A picture containing drawing&#10;&#10;Description automatically generated">
            <a:extLst>
              <a:ext uri="{FF2B5EF4-FFF2-40B4-BE49-F238E27FC236}">
                <a16:creationId xmlns:a16="http://schemas.microsoft.com/office/drawing/2014/main" id="{22CEA4B4-DD02-4ED2-A433-5C387200BE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7894" y="1911095"/>
            <a:ext cx="2261812" cy="951058"/>
          </a:xfrm>
          <a:prstGeom prst="rect">
            <a:avLst/>
          </a:prstGeom>
        </p:spPr>
      </p:pic>
    </p:spTree>
    <p:extLst>
      <p:ext uri="{BB962C8B-B14F-4D97-AF65-F5344CB8AC3E}">
        <p14:creationId xmlns:p14="http://schemas.microsoft.com/office/powerpoint/2010/main" val="18781886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88E6B-7A92-4DB1-BC70-1E07896D63DC}"/>
              </a:ext>
            </a:extLst>
          </p:cNvPr>
          <p:cNvSpPr>
            <a:spLocks noGrp="1"/>
          </p:cNvSpPr>
          <p:nvPr>
            <p:ph type="title"/>
          </p:nvPr>
        </p:nvSpPr>
        <p:spPr/>
        <p:txBody>
          <a:bodyPr/>
          <a:lstStyle/>
          <a:p>
            <a:r>
              <a:rPr lang="en-CA" dirty="0"/>
              <a:t>The XOR Gate</a:t>
            </a:r>
          </a:p>
        </p:txBody>
      </p:sp>
      <p:sp>
        <p:nvSpPr>
          <p:cNvPr id="3" name="Content Placeholder 2">
            <a:extLst>
              <a:ext uri="{FF2B5EF4-FFF2-40B4-BE49-F238E27FC236}">
                <a16:creationId xmlns:a16="http://schemas.microsoft.com/office/drawing/2014/main" id="{1DFC75F2-663A-44B4-810E-484EA884D030}"/>
              </a:ext>
            </a:extLst>
          </p:cNvPr>
          <p:cNvSpPr>
            <a:spLocks noGrp="1"/>
          </p:cNvSpPr>
          <p:nvPr>
            <p:ph idx="1"/>
          </p:nvPr>
        </p:nvSpPr>
        <p:spPr/>
        <p:txBody>
          <a:bodyPr/>
          <a:lstStyle/>
          <a:p>
            <a:r>
              <a:rPr lang="en-CA" dirty="0"/>
              <a:t>The XOR gate is another two-input digital logic gate:</a:t>
            </a:r>
          </a:p>
        </p:txBody>
      </p:sp>
      <p:sp>
        <p:nvSpPr>
          <p:cNvPr id="4" name="Footer Placeholder 3">
            <a:extLst>
              <a:ext uri="{FF2B5EF4-FFF2-40B4-BE49-F238E27FC236}">
                <a16:creationId xmlns:a16="http://schemas.microsoft.com/office/drawing/2014/main" id="{1B33E268-0DC8-4317-A35A-A8A1BBC398A5}"/>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6A916542-D14E-4C99-91A4-E7DCACDE36E0}"/>
              </a:ext>
            </a:extLst>
          </p:cNvPr>
          <p:cNvSpPr>
            <a:spLocks noGrp="1"/>
          </p:cNvSpPr>
          <p:nvPr>
            <p:ph type="sldNum" sz="quarter" idx="11"/>
          </p:nvPr>
        </p:nvSpPr>
        <p:spPr/>
        <p:txBody>
          <a:bodyPr/>
          <a:lstStyle/>
          <a:p>
            <a:pPr>
              <a:defRPr/>
            </a:pPr>
            <a:fld id="{72682330-DDB7-47C0-8BEC-295D3A41AB1F}" type="slidenum">
              <a:rPr lang="en-US" smtClean="0"/>
              <a:pPr>
                <a:defRPr/>
              </a:pPr>
              <a:t>32</a:t>
            </a:fld>
            <a:endParaRPr lang="en-US" dirty="0"/>
          </a:p>
        </p:txBody>
      </p:sp>
      <p:sp>
        <p:nvSpPr>
          <p:cNvPr id="6" name="Date Placeholder 5">
            <a:extLst>
              <a:ext uri="{FF2B5EF4-FFF2-40B4-BE49-F238E27FC236}">
                <a16:creationId xmlns:a16="http://schemas.microsoft.com/office/drawing/2014/main" id="{A39C3A3A-2F6B-4AD7-856A-CE9C5D51B36D}"/>
              </a:ext>
            </a:extLst>
          </p:cNvPr>
          <p:cNvSpPr>
            <a:spLocks noGrp="1"/>
          </p:cNvSpPr>
          <p:nvPr>
            <p:ph type="dt" sz="half" idx="12"/>
          </p:nvPr>
        </p:nvSpPr>
        <p:spPr/>
        <p:txBody>
          <a:bodyPr/>
          <a:lstStyle/>
          <a:p>
            <a:pPr>
              <a:defRPr/>
            </a:pPr>
            <a:r>
              <a:rPr lang="en-US"/>
              <a:t>Fall 2021</a:t>
            </a:r>
            <a:endParaRPr lang="en-CA" dirty="0"/>
          </a:p>
        </p:txBody>
      </p:sp>
      <p:graphicFrame>
        <p:nvGraphicFramePr>
          <p:cNvPr id="9" name="Table 9">
            <a:extLst>
              <a:ext uri="{FF2B5EF4-FFF2-40B4-BE49-F238E27FC236}">
                <a16:creationId xmlns:a16="http://schemas.microsoft.com/office/drawing/2014/main" id="{6C8C93EC-DA5D-4ACD-916F-B5B82E83BA03}"/>
              </a:ext>
            </a:extLst>
          </p:cNvPr>
          <p:cNvGraphicFramePr>
            <a:graphicFrameLocks noGrp="1"/>
          </p:cNvGraphicFramePr>
          <p:nvPr/>
        </p:nvGraphicFramePr>
        <p:xfrm>
          <a:off x="3733800" y="1830365"/>
          <a:ext cx="1371600" cy="1854200"/>
        </p:xfrm>
        <a:graphic>
          <a:graphicData uri="http://schemas.openxmlformats.org/drawingml/2006/table">
            <a:tbl>
              <a:tblPr firstRow="1" bandRow="1">
                <a:tableStyleId>{3C2FFA5D-87B4-456A-9821-1D502468CF0F}</a:tableStyleId>
              </a:tblPr>
              <a:tblGrid>
                <a:gridCol w="457200">
                  <a:extLst>
                    <a:ext uri="{9D8B030D-6E8A-4147-A177-3AD203B41FA5}">
                      <a16:colId xmlns:a16="http://schemas.microsoft.com/office/drawing/2014/main" val="287580551"/>
                    </a:ext>
                  </a:extLst>
                </a:gridCol>
                <a:gridCol w="457200">
                  <a:extLst>
                    <a:ext uri="{9D8B030D-6E8A-4147-A177-3AD203B41FA5}">
                      <a16:colId xmlns:a16="http://schemas.microsoft.com/office/drawing/2014/main" val="3848652840"/>
                    </a:ext>
                  </a:extLst>
                </a:gridCol>
                <a:gridCol w="457200">
                  <a:extLst>
                    <a:ext uri="{9D8B030D-6E8A-4147-A177-3AD203B41FA5}">
                      <a16:colId xmlns:a16="http://schemas.microsoft.com/office/drawing/2014/main" val="3262824179"/>
                    </a:ext>
                  </a:extLst>
                </a:gridCol>
              </a:tblGrid>
              <a:tr h="370840">
                <a:tc>
                  <a:txBody>
                    <a:bodyPr/>
                    <a:lstStyle/>
                    <a:p>
                      <a:pPr algn="ctr"/>
                      <a:r>
                        <a:rPr lang="en-CA" dirty="0"/>
                        <a:t>A</a:t>
                      </a:r>
                    </a:p>
                  </a:txBody>
                  <a:tcPr/>
                </a:tc>
                <a:tc>
                  <a:txBody>
                    <a:bodyPr/>
                    <a:lstStyle/>
                    <a:p>
                      <a:pPr algn="ctr"/>
                      <a:r>
                        <a:rPr lang="en-CA" dirty="0"/>
                        <a:t>B</a:t>
                      </a:r>
                    </a:p>
                  </a:txBody>
                  <a:tcPr/>
                </a:tc>
                <a:tc>
                  <a:txBody>
                    <a:bodyPr/>
                    <a:lstStyle/>
                    <a:p>
                      <a:pPr algn="ctr"/>
                      <a:r>
                        <a:rPr lang="en-CA" dirty="0"/>
                        <a:t>C</a:t>
                      </a:r>
                    </a:p>
                  </a:txBody>
                  <a:tcPr/>
                </a:tc>
                <a:extLst>
                  <a:ext uri="{0D108BD9-81ED-4DB2-BD59-A6C34878D82A}">
                    <a16:rowId xmlns:a16="http://schemas.microsoft.com/office/drawing/2014/main" val="2961602566"/>
                  </a:ext>
                </a:extLst>
              </a:tr>
              <a:tr h="370840">
                <a:tc>
                  <a:txBody>
                    <a:bodyPr/>
                    <a:lstStyle/>
                    <a:p>
                      <a:pPr algn="ctr"/>
                      <a:r>
                        <a:rPr lang="en-CA" dirty="0"/>
                        <a:t>0</a:t>
                      </a:r>
                    </a:p>
                  </a:txBody>
                  <a:tcPr/>
                </a:tc>
                <a:tc>
                  <a:txBody>
                    <a:bodyPr/>
                    <a:lstStyle/>
                    <a:p>
                      <a:pPr algn="ctr"/>
                      <a:r>
                        <a:rPr lang="en-CA" dirty="0"/>
                        <a:t>0</a:t>
                      </a:r>
                    </a:p>
                  </a:txBody>
                  <a:tcPr/>
                </a:tc>
                <a:tc>
                  <a:txBody>
                    <a:bodyPr/>
                    <a:lstStyle/>
                    <a:p>
                      <a:pPr algn="ctr"/>
                      <a:r>
                        <a:rPr lang="en-CA" dirty="0"/>
                        <a:t>0</a:t>
                      </a:r>
                    </a:p>
                  </a:txBody>
                  <a:tcPr/>
                </a:tc>
                <a:extLst>
                  <a:ext uri="{0D108BD9-81ED-4DB2-BD59-A6C34878D82A}">
                    <a16:rowId xmlns:a16="http://schemas.microsoft.com/office/drawing/2014/main" val="1965663002"/>
                  </a:ext>
                </a:extLst>
              </a:tr>
              <a:tr h="370840">
                <a:tc>
                  <a:txBody>
                    <a:bodyPr/>
                    <a:lstStyle/>
                    <a:p>
                      <a:pPr algn="ctr"/>
                      <a:r>
                        <a:rPr lang="en-CA" dirty="0"/>
                        <a:t>0</a:t>
                      </a:r>
                    </a:p>
                  </a:txBody>
                  <a:tcPr/>
                </a:tc>
                <a:tc>
                  <a:txBody>
                    <a:bodyPr/>
                    <a:lstStyle/>
                    <a:p>
                      <a:pPr algn="ctr"/>
                      <a:r>
                        <a:rPr lang="en-CA" dirty="0"/>
                        <a:t>1</a:t>
                      </a:r>
                    </a:p>
                  </a:txBody>
                  <a:tcPr/>
                </a:tc>
                <a:tc>
                  <a:txBody>
                    <a:bodyPr/>
                    <a:lstStyle/>
                    <a:p>
                      <a:pPr algn="ctr"/>
                      <a:r>
                        <a:rPr lang="en-CA" dirty="0"/>
                        <a:t>1</a:t>
                      </a:r>
                    </a:p>
                  </a:txBody>
                  <a:tcPr/>
                </a:tc>
                <a:extLst>
                  <a:ext uri="{0D108BD9-81ED-4DB2-BD59-A6C34878D82A}">
                    <a16:rowId xmlns:a16="http://schemas.microsoft.com/office/drawing/2014/main" val="1482734216"/>
                  </a:ext>
                </a:extLst>
              </a:tr>
              <a:tr h="370840">
                <a:tc>
                  <a:txBody>
                    <a:bodyPr/>
                    <a:lstStyle/>
                    <a:p>
                      <a:pPr algn="ctr"/>
                      <a:r>
                        <a:rPr lang="en-CA" dirty="0"/>
                        <a:t>1</a:t>
                      </a:r>
                    </a:p>
                  </a:txBody>
                  <a:tcPr/>
                </a:tc>
                <a:tc>
                  <a:txBody>
                    <a:bodyPr/>
                    <a:lstStyle/>
                    <a:p>
                      <a:pPr algn="ctr"/>
                      <a:r>
                        <a:rPr lang="en-CA" dirty="0"/>
                        <a:t>0</a:t>
                      </a:r>
                    </a:p>
                  </a:txBody>
                  <a:tcPr/>
                </a:tc>
                <a:tc>
                  <a:txBody>
                    <a:bodyPr/>
                    <a:lstStyle/>
                    <a:p>
                      <a:pPr algn="ctr"/>
                      <a:r>
                        <a:rPr lang="en-CA" dirty="0"/>
                        <a:t>1</a:t>
                      </a:r>
                    </a:p>
                  </a:txBody>
                  <a:tcPr/>
                </a:tc>
                <a:extLst>
                  <a:ext uri="{0D108BD9-81ED-4DB2-BD59-A6C34878D82A}">
                    <a16:rowId xmlns:a16="http://schemas.microsoft.com/office/drawing/2014/main" val="1849887607"/>
                  </a:ext>
                </a:extLst>
              </a:tr>
              <a:tr h="370840">
                <a:tc>
                  <a:txBody>
                    <a:bodyPr/>
                    <a:lstStyle/>
                    <a:p>
                      <a:pPr algn="ctr"/>
                      <a:r>
                        <a:rPr lang="en-CA" dirty="0"/>
                        <a:t>1</a:t>
                      </a:r>
                    </a:p>
                  </a:txBody>
                  <a:tcPr/>
                </a:tc>
                <a:tc>
                  <a:txBody>
                    <a:bodyPr/>
                    <a:lstStyle/>
                    <a:p>
                      <a:pPr algn="ctr"/>
                      <a:r>
                        <a:rPr lang="en-CA" dirty="0"/>
                        <a:t>1</a:t>
                      </a:r>
                    </a:p>
                  </a:txBody>
                  <a:tcPr/>
                </a:tc>
                <a:tc>
                  <a:txBody>
                    <a:bodyPr/>
                    <a:lstStyle/>
                    <a:p>
                      <a:pPr algn="ctr"/>
                      <a:r>
                        <a:rPr lang="en-CA" dirty="0"/>
                        <a:t>0</a:t>
                      </a:r>
                    </a:p>
                  </a:txBody>
                  <a:tcPr/>
                </a:tc>
                <a:extLst>
                  <a:ext uri="{0D108BD9-81ED-4DB2-BD59-A6C34878D82A}">
                    <a16:rowId xmlns:a16="http://schemas.microsoft.com/office/drawing/2014/main" val="3078186550"/>
                  </a:ext>
                </a:extLst>
              </a:tr>
            </a:tbl>
          </a:graphicData>
        </a:graphic>
      </p:graphicFrame>
      <p:sp>
        <p:nvSpPr>
          <p:cNvPr id="7" name="TextBox 6">
            <a:extLst>
              <a:ext uri="{FF2B5EF4-FFF2-40B4-BE49-F238E27FC236}">
                <a16:creationId xmlns:a16="http://schemas.microsoft.com/office/drawing/2014/main" id="{272D12BA-79A1-4821-95FC-28201C671EFA}"/>
              </a:ext>
            </a:extLst>
          </p:cNvPr>
          <p:cNvSpPr txBox="1"/>
          <p:nvPr/>
        </p:nvSpPr>
        <p:spPr>
          <a:xfrm>
            <a:off x="6096000" y="2155792"/>
            <a:ext cx="1752600" cy="461665"/>
          </a:xfrm>
          <a:prstGeom prst="rect">
            <a:avLst/>
          </a:prstGeom>
          <a:noFill/>
        </p:spPr>
        <p:txBody>
          <a:bodyPr wrap="square" rtlCol="0">
            <a:spAutoFit/>
          </a:bodyPr>
          <a:lstStyle/>
          <a:p>
            <a:r>
              <a:rPr lang="en-CA" sz="2400" dirty="0">
                <a:latin typeface="+mn-lt"/>
              </a:rPr>
              <a:t>C = A </a:t>
            </a:r>
            <a:r>
              <a:rPr lang="en-CA" sz="2400" dirty="0">
                <a:latin typeface="Cambria Math" panose="02040503050406030204" pitchFamily="18" charset="0"/>
                <a:ea typeface="Cambria Math" panose="02040503050406030204" pitchFamily="18" charset="0"/>
              </a:rPr>
              <a:t>⊕</a:t>
            </a:r>
            <a:r>
              <a:rPr lang="en-CA" sz="2400" dirty="0">
                <a:latin typeface="+mn-lt"/>
              </a:rPr>
              <a:t> B</a:t>
            </a:r>
          </a:p>
        </p:txBody>
      </p:sp>
      <p:pic>
        <p:nvPicPr>
          <p:cNvPr id="10" name="Picture 9" descr="A picture containing drawing&#10;&#10;Description automatically generated">
            <a:extLst>
              <a:ext uri="{FF2B5EF4-FFF2-40B4-BE49-F238E27FC236}">
                <a16:creationId xmlns:a16="http://schemas.microsoft.com/office/drawing/2014/main" id="{22CEA4B4-DD02-4ED2-A433-5C387200BE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7894" y="1911095"/>
            <a:ext cx="2261812" cy="951058"/>
          </a:xfrm>
          <a:prstGeom prst="rect">
            <a:avLst/>
          </a:prstGeom>
        </p:spPr>
      </p:pic>
    </p:spTree>
    <p:extLst>
      <p:ext uri="{BB962C8B-B14F-4D97-AF65-F5344CB8AC3E}">
        <p14:creationId xmlns:p14="http://schemas.microsoft.com/office/powerpoint/2010/main" val="28104620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88E6B-7A92-4DB1-BC70-1E07896D63DC}"/>
              </a:ext>
            </a:extLst>
          </p:cNvPr>
          <p:cNvSpPr>
            <a:spLocks noGrp="1"/>
          </p:cNvSpPr>
          <p:nvPr>
            <p:ph type="title"/>
          </p:nvPr>
        </p:nvSpPr>
        <p:spPr/>
        <p:txBody>
          <a:bodyPr/>
          <a:lstStyle/>
          <a:p>
            <a:r>
              <a:rPr lang="en-CA" dirty="0"/>
              <a:t>The XOR Gate</a:t>
            </a:r>
          </a:p>
        </p:txBody>
      </p:sp>
      <p:sp>
        <p:nvSpPr>
          <p:cNvPr id="3" name="Content Placeholder 2">
            <a:extLst>
              <a:ext uri="{FF2B5EF4-FFF2-40B4-BE49-F238E27FC236}">
                <a16:creationId xmlns:a16="http://schemas.microsoft.com/office/drawing/2014/main" id="{1DFC75F2-663A-44B4-810E-484EA884D030}"/>
              </a:ext>
            </a:extLst>
          </p:cNvPr>
          <p:cNvSpPr>
            <a:spLocks noGrp="1"/>
          </p:cNvSpPr>
          <p:nvPr>
            <p:ph idx="1"/>
          </p:nvPr>
        </p:nvSpPr>
        <p:spPr/>
        <p:txBody>
          <a:bodyPr/>
          <a:lstStyle/>
          <a:p>
            <a:r>
              <a:rPr lang="en-CA" dirty="0"/>
              <a:t>The XOR gate is another two-input digital logic gate:</a:t>
            </a:r>
          </a:p>
          <a:p>
            <a:endParaRPr lang="en-CA" dirty="0"/>
          </a:p>
          <a:p>
            <a:endParaRPr lang="en-CA" dirty="0"/>
          </a:p>
          <a:p>
            <a:endParaRPr lang="en-CA" dirty="0"/>
          </a:p>
          <a:p>
            <a:endParaRPr lang="en-CA" dirty="0"/>
          </a:p>
          <a:p>
            <a:r>
              <a:rPr lang="en-CA" dirty="0"/>
              <a:t>This gate outputs a signal C that is a value of 1 if exactly one input (A or B) is a value of 1</a:t>
            </a:r>
          </a:p>
        </p:txBody>
      </p:sp>
      <p:sp>
        <p:nvSpPr>
          <p:cNvPr id="4" name="Footer Placeholder 3">
            <a:extLst>
              <a:ext uri="{FF2B5EF4-FFF2-40B4-BE49-F238E27FC236}">
                <a16:creationId xmlns:a16="http://schemas.microsoft.com/office/drawing/2014/main" id="{1B33E268-0DC8-4317-A35A-A8A1BBC398A5}"/>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6A916542-D14E-4C99-91A4-E7DCACDE36E0}"/>
              </a:ext>
            </a:extLst>
          </p:cNvPr>
          <p:cNvSpPr>
            <a:spLocks noGrp="1"/>
          </p:cNvSpPr>
          <p:nvPr>
            <p:ph type="sldNum" sz="quarter" idx="11"/>
          </p:nvPr>
        </p:nvSpPr>
        <p:spPr/>
        <p:txBody>
          <a:bodyPr/>
          <a:lstStyle/>
          <a:p>
            <a:pPr>
              <a:defRPr/>
            </a:pPr>
            <a:fld id="{72682330-DDB7-47C0-8BEC-295D3A41AB1F}" type="slidenum">
              <a:rPr lang="en-US" smtClean="0"/>
              <a:pPr>
                <a:defRPr/>
              </a:pPr>
              <a:t>33</a:t>
            </a:fld>
            <a:endParaRPr lang="en-US" dirty="0"/>
          </a:p>
        </p:txBody>
      </p:sp>
      <p:sp>
        <p:nvSpPr>
          <p:cNvPr id="6" name="Date Placeholder 5">
            <a:extLst>
              <a:ext uri="{FF2B5EF4-FFF2-40B4-BE49-F238E27FC236}">
                <a16:creationId xmlns:a16="http://schemas.microsoft.com/office/drawing/2014/main" id="{A39C3A3A-2F6B-4AD7-856A-CE9C5D51B36D}"/>
              </a:ext>
            </a:extLst>
          </p:cNvPr>
          <p:cNvSpPr>
            <a:spLocks noGrp="1"/>
          </p:cNvSpPr>
          <p:nvPr>
            <p:ph type="dt" sz="half" idx="12"/>
          </p:nvPr>
        </p:nvSpPr>
        <p:spPr/>
        <p:txBody>
          <a:bodyPr/>
          <a:lstStyle/>
          <a:p>
            <a:pPr>
              <a:defRPr/>
            </a:pPr>
            <a:r>
              <a:rPr lang="en-US"/>
              <a:t>Fall 2021</a:t>
            </a:r>
            <a:endParaRPr lang="en-CA" dirty="0"/>
          </a:p>
        </p:txBody>
      </p:sp>
      <p:graphicFrame>
        <p:nvGraphicFramePr>
          <p:cNvPr id="9" name="Table 9">
            <a:extLst>
              <a:ext uri="{FF2B5EF4-FFF2-40B4-BE49-F238E27FC236}">
                <a16:creationId xmlns:a16="http://schemas.microsoft.com/office/drawing/2014/main" id="{6C8C93EC-DA5D-4ACD-916F-B5B82E83BA03}"/>
              </a:ext>
            </a:extLst>
          </p:cNvPr>
          <p:cNvGraphicFramePr>
            <a:graphicFrameLocks noGrp="1"/>
          </p:cNvGraphicFramePr>
          <p:nvPr/>
        </p:nvGraphicFramePr>
        <p:xfrm>
          <a:off x="3733800" y="1830365"/>
          <a:ext cx="1371600" cy="1854200"/>
        </p:xfrm>
        <a:graphic>
          <a:graphicData uri="http://schemas.openxmlformats.org/drawingml/2006/table">
            <a:tbl>
              <a:tblPr firstRow="1" bandRow="1">
                <a:tableStyleId>{3C2FFA5D-87B4-456A-9821-1D502468CF0F}</a:tableStyleId>
              </a:tblPr>
              <a:tblGrid>
                <a:gridCol w="457200">
                  <a:extLst>
                    <a:ext uri="{9D8B030D-6E8A-4147-A177-3AD203B41FA5}">
                      <a16:colId xmlns:a16="http://schemas.microsoft.com/office/drawing/2014/main" val="287580551"/>
                    </a:ext>
                  </a:extLst>
                </a:gridCol>
                <a:gridCol w="457200">
                  <a:extLst>
                    <a:ext uri="{9D8B030D-6E8A-4147-A177-3AD203B41FA5}">
                      <a16:colId xmlns:a16="http://schemas.microsoft.com/office/drawing/2014/main" val="3848652840"/>
                    </a:ext>
                  </a:extLst>
                </a:gridCol>
                <a:gridCol w="457200">
                  <a:extLst>
                    <a:ext uri="{9D8B030D-6E8A-4147-A177-3AD203B41FA5}">
                      <a16:colId xmlns:a16="http://schemas.microsoft.com/office/drawing/2014/main" val="3262824179"/>
                    </a:ext>
                  </a:extLst>
                </a:gridCol>
              </a:tblGrid>
              <a:tr h="370840">
                <a:tc>
                  <a:txBody>
                    <a:bodyPr/>
                    <a:lstStyle/>
                    <a:p>
                      <a:pPr algn="ctr"/>
                      <a:r>
                        <a:rPr lang="en-CA" dirty="0"/>
                        <a:t>A</a:t>
                      </a:r>
                    </a:p>
                  </a:txBody>
                  <a:tcPr/>
                </a:tc>
                <a:tc>
                  <a:txBody>
                    <a:bodyPr/>
                    <a:lstStyle/>
                    <a:p>
                      <a:pPr algn="ctr"/>
                      <a:r>
                        <a:rPr lang="en-CA" dirty="0"/>
                        <a:t>B</a:t>
                      </a:r>
                    </a:p>
                  </a:txBody>
                  <a:tcPr/>
                </a:tc>
                <a:tc>
                  <a:txBody>
                    <a:bodyPr/>
                    <a:lstStyle/>
                    <a:p>
                      <a:pPr algn="ctr"/>
                      <a:r>
                        <a:rPr lang="en-CA" dirty="0"/>
                        <a:t>C</a:t>
                      </a:r>
                    </a:p>
                  </a:txBody>
                  <a:tcPr/>
                </a:tc>
                <a:extLst>
                  <a:ext uri="{0D108BD9-81ED-4DB2-BD59-A6C34878D82A}">
                    <a16:rowId xmlns:a16="http://schemas.microsoft.com/office/drawing/2014/main" val="2961602566"/>
                  </a:ext>
                </a:extLst>
              </a:tr>
              <a:tr h="370840">
                <a:tc>
                  <a:txBody>
                    <a:bodyPr/>
                    <a:lstStyle/>
                    <a:p>
                      <a:pPr algn="ctr"/>
                      <a:r>
                        <a:rPr lang="en-CA" dirty="0"/>
                        <a:t>0</a:t>
                      </a:r>
                    </a:p>
                  </a:txBody>
                  <a:tcPr/>
                </a:tc>
                <a:tc>
                  <a:txBody>
                    <a:bodyPr/>
                    <a:lstStyle/>
                    <a:p>
                      <a:pPr algn="ctr"/>
                      <a:r>
                        <a:rPr lang="en-CA" dirty="0"/>
                        <a:t>0</a:t>
                      </a:r>
                    </a:p>
                  </a:txBody>
                  <a:tcPr/>
                </a:tc>
                <a:tc>
                  <a:txBody>
                    <a:bodyPr/>
                    <a:lstStyle/>
                    <a:p>
                      <a:pPr algn="ctr"/>
                      <a:r>
                        <a:rPr lang="en-CA" dirty="0"/>
                        <a:t>0</a:t>
                      </a:r>
                    </a:p>
                  </a:txBody>
                  <a:tcPr/>
                </a:tc>
                <a:extLst>
                  <a:ext uri="{0D108BD9-81ED-4DB2-BD59-A6C34878D82A}">
                    <a16:rowId xmlns:a16="http://schemas.microsoft.com/office/drawing/2014/main" val="1965663002"/>
                  </a:ext>
                </a:extLst>
              </a:tr>
              <a:tr h="370840">
                <a:tc>
                  <a:txBody>
                    <a:bodyPr/>
                    <a:lstStyle/>
                    <a:p>
                      <a:pPr algn="ctr"/>
                      <a:r>
                        <a:rPr lang="en-CA" dirty="0"/>
                        <a:t>0</a:t>
                      </a:r>
                    </a:p>
                  </a:txBody>
                  <a:tcPr/>
                </a:tc>
                <a:tc>
                  <a:txBody>
                    <a:bodyPr/>
                    <a:lstStyle/>
                    <a:p>
                      <a:pPr algn="ctr"/>
                      <a:r>
                        <a:rPr lang="en-CA" dirty="0"/>
                        <a:t>1</a:t>
                      </a:r>
                    </a:p>
                  </a:txBody>
                  <a:tcPr/>
                </a:tc>
                <a:tc>
                  <a:txBody>
                    <a:bodyPr/>
                    <a:lstStyle/>
                    <a:p>
                      <a:pPr algn="ctr"/>
                      <a:r>
                        <a:rPr lang="en-CA" dirty="0"/>
                        <a:t>1</a:t>
                      </a:r>
                    </a:p>
                  </a:txBody>
                  <a:tcPr/>
                </a:tc>
                <a:extLst>
                  <a:ext uri="{0D108BD9-81ED-4DB2-BD59-A6C34878D82A}">
                    <a16:rowId xmlns:a16="http://schemas.microsoft.com/office/drawing/2014/main" val="1482734216"/>
                  </a:ext>
                </a:extLst>
              </a:tr>
              <a:tr h="370840">
                <a:tc>
                  <a:txBody>
                    <a:bodyPr/>
                    <a:lstStyle/>
                    <a:p>
                      <a:pPr algn="ctr"/>
                      <a:r>
                        <a:rPr lang="en-CA" dirty="0"/>
                        <a:t>1</a:t>
                      </a:r>
                    </a:p>
                  </a:txBody>
                  <a:tcPr/>
                </a:tc>
                <a:tc>
                  <a:txBody>
                    <a:bodyPr/>
                    <a:lstStyle/>
                    <a:p>
                      <a:pPr algn="ctr"/>
                      <a:r>
                        <a:rPr lang="en-CA" dirty="0"/>
                        <a:t>0</a:t>
                      </a:r>
                    </a:p>
                  </a:txBody>
                  <a:tcPr/>
                </a:tc>
                <a:tc>
                  <a:txBody>
                    <a:bodyPr/>
                    <a:lstStyle/>
                    <a:p>
                      <a:pPr algn="ctr"/>
                      <a:r>
                        <a:rPr lang="en-CA" dirty="0"/>
                        <a:t>1</a:t>
                      </a:r>
                    </a:p>
                  </a:txBody>
                  <a:tcPr/>
                </a:tc>
                <a:extLst>
                  <a:ext uri="{0D108BD9-81ED-4DB2-BD59-A6C34878D82A}">
                    <a16:rowId xmlns:a16="http://schemas.microsoft.com/office/drawing/2014/main" val="1849887607"/>
                  </a:ext>
                </a:extLst>
              </a:tr>
              <a:tr h="370840">
                <a:tc>
                  <a:txBody>
                    <a:bodyPr/>
                    <a:lstStyle/>
                    <a:p>
                      <a:pPr algn="ctr"/>
                      <a:r>
                        <a:rPr lang="en-CA" dirty="0"/>
                        <a:t>1</a:t>
                      </a:r>
                    </a:p>
                  </a:txBody>
                  <a:tcPr/>
                </a:tc>
                <a:tc>
                  <a:txBody>
                    <a:bodyPr/>
                    <a:lstStyle/>
                    <a:p>
                      <a:pPr algn="ctr"/>
                      <a:r>
                        <a:rPr lang="en-CA" dirty="0"/>
                        <a:t>1</a:t>
                      </a:r>
                    </a:p>
                  </a:txBody>
                  <a:tcPr/>
                </a:tc>
                <a:tc>
                  <a:txBody>
                    <a:bodyPr/>
                    <a:lstStyle/>
                    <a:p>
                      <a:pPr algn="ctr"/>
                      <a:r>
                        <a:rPr lang="en-CA" dirty="0"/>
                        <a:t>0</a:t>
                      </a:r>
                    </a:p>
                  </a:txBody>
                  <a:tcPr/>
                </a:tc>
                <a:extLst>
                  <a:ext uri="{0D108BD9-81ED-4DB2-BD59-A6C34878D82A}">
                    <a16:rowId xmlns:a16="http://schemas.microsoft.com/office/drawing/2014/main" val="3078186550"/>
                  </a:ext>
                </a:extLst>
              </a:tr>
            </a:tbl>
          </a:graphicData>
        </a:graphic>
      </p:graphicFrame>
      <p:sp>
        <p:nvSpPr>
          <p:cNvPr id="7" name="TextBox 6">
            <a:extLst>
              <a:ext uri="{FF2B5EF4-FFF2-40B4-BE49-F238E27FC236}">
                <a16:creationId xmlns:a16="http://schemas.microsoft.com/office/drawing/2014/main" id="{272D12BA-79A1-4821-95FC-28201C671EFA}"/>
              </a:ext>
            </a:extLst>
          </p:cNvPr>
          <p:cNvSpPr txBox="1"/>
          <p:nvPr/>
        </p:nvSpPr>
        <p:spPr>
          <a:xfrm>
            <a:off x="6096000" y="2155792"/>
            <a:ext cx="1752600" cy="461665"/>
          </a:xfrm>
          <a:prstGeom prst="rect">
            <a:avLst/>
          </a:prstGeom>
          <a:noFill/>
        </p:spPr>
        <p:txBody>
          <a:bodyPr wrap="square" rtlCol="0">
            <a:spAutoFit/>
          </a:bodyPr>
          <a:lstStyle/>
          <a:p>
            <a:r>
              <a:rPr lang="en-CA" sz="2400" dirty="0">
                <a:latin typeface="+mn-lt"/>
              </a:rPr>
              <a:t>C = A </a:t>
            </a:r>
            <a:r>
              <a:rPr lang="en-CA" sz="2400" dirty="0">
                <a:latin typeface="Cambria Math" panose="02040503050406030204" pitchFamily="18" charset="0"/>
                <a:ea typeface="Cambria Math" panose="02040503050406030204" pitchFamily="18" charset="0"/>
              </a:rPr>
              <a:t>⊕</a:t>
            </a:r>
            <a:r>
              <a:rPr lang="en-CA" sz="2400" dirty="0">
                <a:latin typeface="+mn-lt"/>
              </a:rPr>
              <a:t> B</a:t>
            </a:r>
          </a:p>
        </p:txBody>
      </p:sp>
      <p:pic>
        <p:nvPicPr>
          <p:cNvPr id="10" name="Picture 9" descr="A picture containing drawing&#10;&#10;Description automatically generated">
            <a:extLst>
              <a:ext uri="{FF2B5EF4-FFF2-40B4-BE49-F238E27FC236}">
                <a16:creationId xmlns:a16="http://schemas.microsoft.com/office/drawing/2014/main" id="{22CEA4B4-DD02-4ED2-A433-5C387200BE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7894" y="1911095"/>
            <a:ext cx="2261812" cy="951058"/>
          </a:xfrm>
          <a:prstGeom prst="rect">
            <a:avLst/>
          </a:prstGeom>
        </p:spPr>
      </p:pic>
    </p:spTree>
    <p:extLst>
      <p:ext uri="{BB962C8B-B14F-4D97-AF65-F5344CB8AC3E}">
        <p14:creationId xmlns:p14="http://schemas.microsoft.com/office/powerpoint/2010/main" val="42385535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9F278-3D2A-4341-B97D-320C3C72B447}"/>
              </a:ext>
            </a:extLst>
          </p:cNvPr>
          <p:cNvSpPr>
            <a:spLocks noGrp="1"/>
          </p:cNvSpPr>
          <p:nvPr>
            <p:ph type="title"/>
          </p:nvPr>
        </p:nvSpPr>
        <p:spPr/>
        <p:txBody>
          <a:bodyPr/>
          <a:lstStyle/>
          <a:p>
            <a:r>
              <a:rPr lang="en-CA" dirty="0"/>
              <a:t>Uses of the XOR Gate</a:t>
            </a:r>
          </a:p>
        </p:txBody>
      </p:sp>
      <p:sp>
        <p:nvSpPr>
          <p:cNvPr id="3" name="Content Placeholder 2">
            <a:extLst>
              <a:ext uri="{FF2B5EF4-FFF2-40B4-BE49-F238E27FC236}">
                <a16:creationId xmlns:a16="http://schemas.microsoft.com/office/drawing/2014/main" id="{8C33EB42-2258-4408-87FB-140DEF5DAB83}"/>
              </a:ext>
            </a:extLst>
          </p:cNvPr>
          <p:cNvSpPr>
            <a:spLocks noGrp="1"/>
          </p:cNvSpPr>
          <p:nvPr>
            <p:ph idx="1"/>
          </p:nvPr>
        </p:nvSpPr>
        <p:spPr/>
        <p:txBody>
          <a:bodyPr/>
          <a:lstStyle/>
          <a:p>
            <a:r>
              <a:rPr lang="en-CA" dirty="0"/>
              <a:t>The XOR Gate has some interesting uses:</a:t>
            </a:r>
          </a:p>
        </p:txBody>
      </p:sp>
      <p:sp>
        <p:nvSpPr>
          <p:cNvPr id="4" name="Footer Placeholder 3">
            <a:extLst>
              <a:ext uri="{FF2B5EF4-FFF2-40B4-BE49-F238E27FC236}">
                <a16:creationId xmlns:a16="http://schemas.microsoft.com/office/drawing/2014/main" id="{121BF6FF-6C8A-4024-AF51-DA4E725B5086}"/>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572C79AA-1914-443F-B5B9-43FB9F649BFC}"/>
              </a:ext>
            </a:extLst>
          </p:cNvPr>
          <p:cNvSpPr>
            <a:spLocks noGrp="1"/>
          </p:cNvSpPr>
          <p:nvPr>
            <p:ph type="sldNum" sz="quarter" idx="11"/>
          </p:nvPr>
        </p:nvSpPr>
        <p:spPr/>
        <p:txBody>
          <a:bodyPr/>
          <a:lstStyle/>
          <a:p>
            <a:pPr>
              <a:defRPr/>
            </a:pPr>
            <a:fld id="{72682330-DDB7-47C0-8BEC-295D3A41AB1F}" type="slidenum">
              <a:rPr lang="en-US" smtClean="0"/>
              <a:pPr>
                <a:defRPr/>
              </a:pPr>
              <a:t>34</a:t>
            </a:fld>
            <a:endParaRPr lang="en-US" dirty="0"/>
          </a:p>
        </p:txBody>
      </p:sp>
      <p:sp>
        <p:nvSpPr>
          <p:cNvPr id="6" name="Date Placeholder 5">
            <a:extLst>
              <a:ext uri="{FF2B5EF4-FFF2-40B4-BE49-F238E27FC236}">
                <a16:creationId xmlns:a16="http://schemas.microsoft.com/office/drawing/2014/main" id="{ED804237-A114-423E-B0BC-B628306A1E18}"/>
              </a:ext>
            </a:extLst>
          </p:cNvPr>
          <p:cNvSpPr>
            <a:spLocks noGrp="1"/>
          </p:cNvSpPr>
          <p:nvPr>
            <p:ph type="dt" sz="half" idx="12"/>
          </p:nvPr>
        </p:nvSpPr>
        <p:spPr/>
        <p:txBody>
          <a:bodyPr/>
          <a:lstStyle/>
          <a:p>
            <a:pPr>
              <a:defRPr/>
            </a:pPr>
            <a:r>
              <a:rPr lang="en-US"/>
              <a:t>Fall 2021</a:t>
            </a:r>
            <a:endParaRPr lang="en-CA" dirty="0"/>
          </a:p>
        </p:txBody>
      </p:sp>
    </p:spTree>
    <p:extLst>
      <p:ext uri="{BB962C8B-B14F-4D97-AF65-F5344CB8AC3E}">
        <p14:creationId xmlns:p14="http://schemas.microsoft.com/office/powerpoint/2010/main" val="33598558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9F278-3D2A-4341-B97D-320C3C72B447}"/>
              </a:ext>
            </a:extLst>
          </p:cNvPr>
          <p:cNvSpPr>
            <a:spLocks noGrp="1"/>
          </p:cNvSpPr>
          <p:nvPr>
            <p:ph type="title"/>
          </p:nvPr>
        </p:nvSpPr>
        <p:spPr/>
        <p:txBody>
          <a:bodyPr/>
          <a:lstStyle/>
          <a:p>
            <a:r>
              <a:rPr lang="en-CA" dirty="0"/>
              <a:t>Uses of the XOR Gate</a:t>
            </a:r>
          </a:p>
        </p:txBody>
      </p:sp>
      <p:sp>
        <p:nvSpPr>
          <p:cNvPr id="3" name="Content Placeholder 2">
            <a:extLst>
              <a:ext uri="{FF2B5EF4-FFF2-40B4-BE49-F238E27FC236}">
                <a16:creationId xmlns:a16="http://schemas.microsoft.com/office/drawing/2014/main" id="{8C33EB42-2258-4408-87FB-140DEF5DAB83}"/>
              </a:ext>
            </a:extLst>
          </p:cNvPr>
          <p:cNvSpPr>
            <a:spLocks noGrp="1"/>
          </p:cNvSpPr>
          <p:nvPr>
            <p:ph idx="1"/>
          </p:nvPr>
        </p:nvSpPr>
        <p:spPr/>
        <p:txBody>
          <a:bodyPr/>
          <a:lstStyle/>
          <a:p>
            <a:r>
              <a:rPr lang="en-CA" dirty="0"/>
              <a:t>The XOR Gate has some interesting uses:</a:t>
            </a:r>
          </a:p>
          <a:p>
            <a:pPr lvl="1"/>
            <a:r>
              <a:rPr lang="en-CA" dirty="0"/>
              <a:t>It can be used as an even parity bit generator by producing an output that will ensure the combination of input bits and output bits always has an even number of values of 1</a:t>
            </a:r>
          </a:p>
        </p:txBody>
      </p:sp>
      <p:sp>
        <p:nvSpPr>
          <p:cNvPr id="4" name="Footer Placeholder 3">
            <a:extLst>
              <a:ext uri="{FF2B5EF4-FFF2-40B4-BE49-F238E27FC236}">
                <a16:creationId xmlns:a16="http://schemas.microsoft.com/office/drawing/2014/main" id="{121BF6FF-6C8A-4024-AF51-DA4E725B5086}"/>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572C79AA-1914-443F-B5B9-43FB9F649BFC}"/>
              </a:ext>
            </a:extLst>
          </p:cNvPr>
          <p:cNvSpPr>
            <a:spLocks noGrp="1"/>
          </p:cNvSpPr>
          <p:nvPr>
            <p:ph type="sldNum" sz="quarter" idx="11"/>
          </p:nvPr>
        </p:nvSpPr>
        <p:spPr/>
        <p:txBody>
          <a:bodyPr/>
          <a:lstStyle/>
          <a:p>
            <a:pPr>
              <a:defRPr/>
            </a:pPr>
            <a:fld id="{72682330-DDB7-47C0-8BEC-295D3A41AB1F}" type="slidenum">
              <a:rPr lang="en-US" smtClean="0"/>
              <a:pPr>
                <a:defRPr/>
              </a:pPr>
              <a:t>35</a:t>
            </a:fld>
            <a:endParaRPr lang="en-US" dirty="0"/>
          </a:p>
        </p:txBody>
      </p:sp>
      <p:sp>
        <p:nvSpPr>
          <p:cNvPr id="6" name="Date Placeholder 5">
            <a:extLst>
              <a:ext uri="{FF2B5EF4-FFF2-40B4-BE49-F238E27FC236}">
                <a16:creationId xmlns:a16="http://schemas.microsoft.com/office/drawing/2014/main" id="{ED804237-A114-423E-B0BC-B628306A1E18}"/>
              </a:ext>
            </a:extLst>
          </p:cNvPr>
          <p:cNvSpPr>
            <a:spLocks noGrp="1"/>
          </p:cNvSpPr>
          <p:nvPr>
            <p:ph type="dt" sz="half" idx="12"/>
          </p:nvPr>
        </p:nvSpPr>
        <p:spPr/>
        <p:txBody>
          <a:bodyPr/>
          <a:lstStyle/>
          <a:p>
            <a:pPr>
              <a:defRPr/>
            </a:pPr>
            <a:r>
              <a:rPr lang="en-US"/>
              <a:t>Fall 2021</a:t>
            </a:r>
            <a:endParaRPr lang="en-CA" dirty="0"/>
          </a:p>
        </p:txBody>
      </p:sp>
    </p:spTree>
    <p:extLst>
      <p:ext uri="{BB962C8B-B14F-4D97-AF65-F5344CB8AC3E}">
        <p14:creationId xmlns:p14="http://schemas.microsoft.com/office/powerpoint/2010/main" val="32860161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9F278-3D2A-4341-B97D-320C3C72B447}"/>
              </a:ext>
            </a:extLst>
          </p:cNvPr>
          <p:cNvSpPr>
            <a:spLocks noGrp="1"/>
          </p:cNvSpPr>
          <p:nvPr>
            <p:ph type="title"/>
          </p:nvPr>
        </p:nvSpPr>
        <p:spPr/>
        <p:txBody>
          <a:bodyPr/>
          <a:lstStyle/>
          <a:p>
            <a:r>
              <a:rPr lang="en-CA" dirty="0"/>
              <a:t>Uses of the XOR Gate</a:t>
            </a:r>
          </a:p>
        </p:txBody>
      </p:sp>
      <p:sp>
        <p:nvSpPr>
          <p:cNvPr id="3" name="Content Placeholder 2">
            <a:extLst>
              <a:ext uri="{FF2B5EF4-FFF2-40B4-BE49-F238E27FC236}">
                <a16:creationId xmlns:a16="http://schemas.microsoft.com/office/drawing/2014/main" id="{8C33EB42-2258-4408-87FB-140DEF5DAB83}"/>
              </a:ext>
            </a:extLst>
          </p:cNvPr>
          <p:cNvSpPr>
            <a:spLocks noGrp="1"/>
          </p:cNvSpPr>
          <p:nvPr>
            <p:ph idx="1"/>
          </p:nvPr>
        </p:nvSpPr>
        <p:spPr/>
        <p:txBody>
          <a:bodyPr/>
          <a:lstStyle/>
          <a:p>
            <a:r>
              <a:rPr lang="en-CA" dirty="0"/>
              <a:t>The XOR Gate has some interesting uses:</a:t>
            </a:r>
          </a:p>
          <a:p>
            <a:pPr lvl="1"/>
            <a:r>
              <a:rPr lang="en-CA" dirty="0"/>
              <a:t>It can be used as an even parity bit generator by producing an output that will ensure the combination of input bits and output bits always has an even number of values of 1</a:t>
            </a:r>
          </a:p>
          <a:p>
            <a:pPr lvl="1"/>
            <a:r>
              <a:rPr lang="en-CA" dirty="0"/>
              <a:t>It can also be used as a controlled inversion which proves very useful in computer architecture:</a:t>
            </a:r>
          </a:p>
        </p:txBody>
      </p:sp>
      <p:sp>
        <p:nvSpPr>
          <p:cNvPr id="4" name="Footer Placeholder 3">
            <a:extLst>
              <a:ext uri="{FF2B5EF4-FFF2-40B4-BE49-F238E27FC236}">
                <a16:creationId xmlns:a16="http://schemas.microsoft.com/office/drawing/2014/main" id="{121BF6FF-6C8A-4024-AF51-DA4E725B5086}"/>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572C79AA-1914-443F-B5B9-43FB9F649BFC}"/>
              </a:ext>
            </a:extLst>
          </p:cNvPr>
          <p:cNvSpPr>
            <a:spLocks noGrp="1"/>
          </p:cNvSpPr>
          <p:nvPr>
            <p:ph type="sldNum" sz="quarter" idx="11"/>
          </p:nvPr>
        </p:nvSpPr>
        <p:spPr/>
        <p:txBody>
          <a:bodyPr/>
          <a:lstStyle/>
          <a:p>
            <a:pPr>
              <a:defRPr/>
            </a:pPr>
            <a:fld id="{72682330-DDB7-47C0-8BEC-295D3A41AB1F}" type="slidenum">
              <a:rPr lang="en-US" smtClean="0"/>
              <a:pPr>
                <a:defRPr/>
              </a:pPr>
              <a:t>36</a:t>
            </a:fld>
            <a:endParaRPr lang="en-US" dirty="0"/>
          </a:p>
        </p:txBody>
      </p:sp>
      <p:sp>
        <p:nvSpPr>
          <p:cNvPr id="6" name="Date Placeholder 5">
            <a:extLst>
              <a:ext uri="{FF2B5EF4-FFF2-40B4-BE49-F238E27FC236}">
                <a16:creationId xmlns:a16="http://schemas.microsoft.com/office/drawing/2014/main" id="{ED804237-A114-423E-B0BC-B628306A1E18}"/>
              </a:ext>
            </a:extLst>
          </p:cNvPr>
          <p:cNvSpPr>
            <a:spLocks noGrp="1"/>
          </p:cNvSpPr>
          <p:nvPr>
            <p:ph type="dt" sz="half" idx="12"/>
          </p:nvPr>
        </p:nvSpPr>
        <p:spPr/>
        <p:txBody>
          <a:bodyPr/>
          <a:lstStyle/>
          <a:p>
            <a:pPr>
              <a:defRPr/>
            </a:pPr>
            <a:r>
              <a:rPr lang="en-US"/>
              <a:t>Fall 2021</a:t>
            </a:r>
            <a:endParaRPr lang="en-CA" dirty="0"/>
          </a:p>
        </p:txBody>
      </p:sp>
      <p:pic>
        <p:nvPicPr>
          <p:cNvPr id="8" name="Picture 7" descr="A picture containing drawing&#10;&#10;Description automatically generated">
            <a:extLst>
              <a:ext uri="{FF2B5EF4-FFF2-40B4-BE49-F238E27FC236}">
                <a16:creationId xmlns:a16="http://schemas.microsoft.com/office/drawing/2014/main" id="{9F2101E0-4297-4BF7-9D08-4D13F30FEC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34332" y="3590462"/>
            <a:ext cx="2261812" cy="951058"/>
          </a:xfrm>
          <a:prstGeom prst="rect">
            <a:avLst/>
          </a:prstGeom>
        </p:spPr>
      </p:pic>
    </p:spTree>
    <p:extLst>
      <p:ext uri="{BB962C8B-B14F-4D97-AF65-F5344CB8AC3E}">
        <p14:creationId xmlns:p14="http://schemas.microsoft.com/office/powerpoint/2010/main" val="25484722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9F278-3D2A-4341-B97D-320C3C72B447}"/>
              </a:ext>
            </a:extLst>
          </p:cNvPr>
          <p:cNvSpPr>
            <a:spLocks noGrp="1"/>
          </p:cNvSpPr>
          <p:nvPr>
            <p:ph type="title"/>
          </p:nvPr>
        </p:nvSpPr>
        <p:spPr/>
        <p:txBody>
          <a:bodyPr/>
          <a:lstStyle/>
          <a:p>
            <a:r>
              <a:rPr lang="en-CA" dirty="0"/>
              <a:t>Uses of the XOR Gate</a:t>
            </a:r>
          </a:p>
        </p:txBody>
      </p:sp>
      <p:sp>
        <p:nvSpPr>
          <p:cNvPr id="3" name="Content Placeholder 2">
            <a:extLst>
              <a:ext uri="{FF2B5EF4-FFF2-40B4-BE49-F238E27FC236}">
                <a16:creationId xmlns:a16="http://schemas.microsoft.com/office/drawing/2014/main" id="{8C33EB42-2258-4408-87FB-140DEF5DAB83}"/>
              </a:ext>
            </a:extLst>
          </p:cNvPr>
          <p:cNvSpPr>
            <a:spLocks noGrp="1"/>
          </p:cNvSpPr>
          <p:nvPr>
            <p:ph idx="1"/>
          </p:nvPr>
        </p:nvSpPr>
        <p:spPr/>
        <p:txBody>
          <a:bodyPr/>
          <a:lstStyle/>
          <a:p>
            <a:r>
              <a:rPr lang="en-CA" dirty="0"/>
              <a:t>The XOR Gate has some interesting uses:</a:t>
            </a:r>
          </a:p>
          <a:p>
            <a:pPr lvl="1"/>
            <a:r>
              <a:rPr lang="en-CA" dirty="0"/>
              <a:t>It can be used as an even parity bit generator by producing an output that will ensure the combination of input bits and output bits always has an even number of values of 1</a:t>
            </a:r>
          </a:p>
          <a:p>
            <a:pPr lvl="1"/>
            <a:r>
              <a:rPr lang="en-CA" dirty="0"/>
              <a:t>It can also be used as a controlled inversion which proves very useful in computer architecture:</a:t>
            </a:r>
          </a:p>
        </p:txBody>
      </p:sp>
      <p:sp>
        <p:nvSpPr>
          <p:cNvPr id="4" name="Footer Placeholder 3">
            <a:extLst>
              <a:ext uri="{FF2B5EF4-FFF2-40B4-BE49-F238E27FC236}">
                <a16:creationId xmlns:a16="http://schemas.microsoft.com/office/drawing/2014/main" id="{121BF6FF-6C8A-4024-AF51-DA4E725B5086}"/>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572C79AA-1914-443F-B5B9-43FB9F649BFC}"/>
              </a:ext>
            </a:extLst>
          </p:cNvPr>
          <p:cNvSpPr>
            <a:spLocks noGrp="1"/>
          </p:cNvSpPr>
          <p:nvPr>
            <p:ph type="sldNum" sz="quarter" idx="11"/>
          </p:nvPr>
        </p:nvSpPr>
        <p:spPr/>
        <p:txBody>
          <a:bodyPr/>
          <a:lstStyle/>
          <a:p>
            <a:pPr>
              <a:defRPr/>
            </a:pPr>
            <a:fld id="{72682330-DDB7-47C0-8BEC-295D3A41AB1F}" type="slidenum">
              <a:rPr lang="en-US" smtClean="0"/>
              <a:pPr>
                <a:defRPr/>
              </a:pPr>
              <a:t>37</a:t>
            </a:fld>
            <a:endParaRPr lang="en-US" dirty="0"/>
          </a:p>
        </p:txBody>
      </p:sp>
      <p:sp>
        <p:nvSpPr>
          <p:cNvPr id="6" name="Date Placeholder 5">
            <a:extLst>
              <a:ext uri="{FF2B5EF4-FFF2-40B4-BE49-F238E27FC236}">
                <a16:creationId xmlns:a16="http://schemas.microsoft.com/office/drawing/2014/main" id="{ED804237-A114-423E-B0BC-B628306A1E18}"/>
              </a:ext>
            </a:extLst>
          </p:cNvPr>
          <p:cNvSpPr>
            <a:spLocks noGrp="1"/>
          </p:cNvSpPr>
          <p:nvPr>
            <p:ph type="dt" sz="half" idx="12"/>
          </p:nvPr>
        </p:nvSpPr>
        <p:spPr/>
        <p:txBody>
          <a:bodyPr/>
          <a:lstStyle/>
          <a:p>
            <a:pPr>
              <a:defRPr/>
            </a:pPr>
            <a:r>
              <a:rPr lang="en-US"/>
              <a:t>Fall 2021</a:t>
            </a:r>
            <a:endParaRPr lang="en-CA" dirty="0"/>
          </a:p>
        </p:txBody>
      </p:sp>
      <p:pic>
        <p:nvPicPr>
          <p:cNvPr id="8" name="Picture 7" descr="A picture containing drawing&#10;&#10;Description automatically generated">
            <a:extLst>
              <a:ext uri="{FF2B5EF4-FFF2-40B4-BE49-F238E27FC236}">
                <a16:creationId xmlns:a16="http://schemas.microsoft.com/office/drawing/2014/main" id="{9F2101E0-4297-4BF7-9D08-4D13F30FEC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34332" y="3590462"/>
            <a:ext cx="2261812" cy="951058"/>
          </a:xfrm>
          <a:prstGeom prst="rect">
            <a:avLst/>
          </a:prstGeom>
        </p:spPr>
      </p:pic>
      <p:graphicFrame>
        <p:nvGraphicFramePr>
          <p:cNvPr id="9" name="Table 9">
            <a:extLst>
              <a:ext uri="{FF2B5EF4-FFF2-40B4-BE49-F238E27FC236}">
                <a16:creationId xmlns:a16="http://schemas.microsoft.com/office/drawing/2014/main" id="{44AD6C25-7F2C-42F8-B5C0-08A1443555CB}"/>
              </a:ext>
            </a:extLst>
          </p:cNvPr>
          <p:cNvGraphicFramePr>
            <a:graphicFrameLocks noGrp="1"/>
          </p:cNvGraphicFramePr>
          <p:nvPr/>
        </p:nvGraphicFramePr>
        <p:xfrm>
          <a:off x="4348506" y="3429000"/>
          <a:ext cx="1371600" cy="1854200"/>
        </p:xfrm>
        <a:graphic>
          <a:graphicData uri="http://schemas.openxmlformats.org/drawingml/2006/table">
            <a:tbl>
              <a:tblPr firstRow="1" bandRow="1">
                <a:tableStyleId>{3C2FFA5D-87B4-456A-9821-1D502468CF0F}</a:tableStyleId>
              </a:tblPr>
              <a:tblGrid>
                <a:gridCol w="457200">
                  <a:extLst>
                    <a:ext uri="{9D8B030D-6E8A-4147-A177-3AD203B41FA5}">
                      <a16:colId xmlns:a16="http://schemas.microsoft.com/office/drawing/2014/main" val="287580551"/>
                    </a:ext>
                  </a:extLst>
                </a:gridCol>
                <a:gridCol w="457200">
                  <a:extLst>
                    <a:ext uri="{9D8B030D-6E8A-4147-A177-3AD203B41FA5}">
                      <a16:colId xmlns:a16="http://schemas.microsoft.com/office/drawing/2014/main" val="3848652840"/>
                    </a:ext>
                  </a:extLst>
                </a:gridCol>
                <a:gridCol w="457200">
                  <a:extLst>
                    <a:ext uri="{9D8B030D-6E8A-4147-A177-3AD203B41FA5}">
                      <a16:colId xmlns:a16="http://schemas.microsoft.com/office/drawing/2014/main" val="3262824179"/>
                    </a:ext>
                  </a:extLst>
                </a:gridCol>
              </a:tblGrid>
              <a:tr h="370840">
                <a:tc>
                  <a:txBody>
                    <a:bodyPr/>
                    <a:lstStyle/>
                    <a:p>
                      <a:pPr algn="ctr"/>
                      <a:r>
                        <a:rPr lang="en-CA" dirty="0"/>
                        <a:t>A</a:t>
                      </a:r>
                    </a:p>
                  </a:txBody>
                  <a:tcPr/>
                </a:tc>
                <a:tc>
                  <a:txBody>
                    <a:bodyPr/>
                    <a:lstStyle/>
                    <a:p>
                      <a:pPr algn="ctr"/>
                      <a:r>
                        <a:rPr lang="en-CA" dirty="0"/>
                        <a:t>B</a:t>
                      </a:r>
                    </a:p>
                  </a:txBody>
                  <a:tcPr/>
                </a:tc>
                <a:tc>
                  <a:txBody>
                    <a:bodyPr/>
                    <a:lstStyle/>
                    <a:p>
                      <a:pPr algn="ctr"/>
                      <a:r>
                        <a:rPr lang="en-CA" dirty="0"/>
                        <a:t>C</a:t>
                      </a:r>
                    </a:p>
                  </a:txBody>
                  <a:tcPr/>
                </a:tc>
                <a:extLst>
                  <a:ext uri="{0D108BD9-81ED-4DB2-BD59-A6C34878D82A}">
                    <a16:rowId xmlns:a16="http://schemas.microsoft.com/office/drawing/2014/main" val="2961602566"/>
                  </a:ext>
                </a:extLst>
              </a:tr>
              <a:tr h="370840">
                <a:tc>
                  <a:txBody>
                    <a:bodyPr/>
                    <a:lstStyle/>
                    <a:p>
                      <a:pPr algn="ctr"/>
                      <a:r>
                        <a:rPr lang="en-CA" dirty="0"/>
                        <a:t>0</a:t>
                      </a:r>
                    </a:p>
                  </a:txBody>
                  <a:tcPr/>
                </a:tc>
                <a:tc>
                  <a:txBody>
                    <a:bodyPr/>
                    <a:lstStyle/>
                    <a:p>
                      <a:pPr algn="ctr"/>
                      <a:r>
                        <a:rPr lang="en-CA" dirty="0"/>
                        <a:t>0</a:t>
                      </a:r>
                    </a:p>
                  </a:txBody>
                  <a:tcPr/>
                </a:tc>
                <a:tc>
                  <a:txBody>
                    <a:bodyPr/>
                    <a:lstStyle/>
                    <a:p>
                      <a:pPr algn="ctr"/>
                      <a:r>
                        <a:rPr lang="en-CA" dirty="0"/>
                        <a:t>0</a:t>
                      </a:r>
                    </a:p>
                  </a:txBody>
                  <a:tcPr/>
                </a:tc>
                <a:extLst>
                  <a:ext uri="{0D108BD9-81ED-4DB2-BD59-A6C34878D82A}">
                    <a16:rowId xmlns:a16="http://schemas.microsoft.com/office/drawing/2014/main" val="1965663002"/>
                  </a:ext>
                </a:extLst>
              </a:tr>
              <a:tr h="370840">
                <a:tc>
                  <a:txBody>
                    <a:bodyPr/>
                    <a:lstStyle/>
                    <a:p>
                      <a:pPr algn="ctr"/>
                      <a:r>
                        <a:rPr lang="en-CA" dirty="0"/>
                        <a:t>0</a:t>
                      </a:r>
                    </a:p>
                  </a:txBody>
                  <a:tcPr/>
                </a:tc>
                <a:tc>
                  <a:txBody>
                    <a:bodyPr/>
                    <a:lstStyle/>
                    <a:p>
                      <a:pPr algn="ctr"/>
                      <a:r>
                        <a:rPr lang="en-CA" dirty="0"/>
                        <a:t>1</a:t>
                      </a:r>
                    </a:p>
                  </a:txBody>
                  <a:tcPr/>
                </a:tc>
                <a:tc>
                  <a:txBody>
                    <a:bodyPr/>
                    <a:lstStyle/>
                    <a:p>
                      <a:pPr algn="ctr"/>
                      <a:r>
                        <a:rPr lang="en-CA" dirty="0"/>
                        <a:t>1</a:t>
                      </a:r>
                    </a:p>
                  </a:txBody>
                  <a:tcPr/>
                </a:tc>
                <a:extLst>
                  <a:ext uri="{0D108BD9-81ED-4DB2-BD59-A6C34878D82A}">
                    <a16:rowId xmlns:a16="http://schemas.microsoft.com/office/drawing/2014/main" val="1482734216"/>
                  </a:ext>
                </a:extLst>
              </a:tr>
              <a:tr h="370840">
                <a:tc>
                  <a:txBody>
                    <a:bodyPr/>
                    <a:lstStyle/>
                    <a:p>
                      <a:pPr algn="ctr"/>
                      <a:r>
                        <a:rPr lang="en-CA" dirty="0"/>
                        <a:t>1</a:t>
                      </a:r>
                    </a:p>
                  </a:txBody>
                  <a:tcPr/>
                </a:tc>
                <a:tc>
                  <a:txBody>
                    <a:bodyPr/>
                    <a:lstStyle/>
                    <a:p>
                      <a:pPr algn="ctr"/>
                      <a:r>
                        <a:rPr lang="en-CA" dirty="0"/>
                        <a:t>0</a:t>
                      </a:r>
                    </a:p>
                  </a:txBody>
                  <a:tcPr/>
                </a:tc>
                <a:tc>
                  <a:txBody>
                    <a:bodyPr/>
                    <a:lstStyle/>
                    <a:p>
                      <a:pPr algn="ctr"/>
                      <a:r>
                        <a:rPr lang="en-CA" dirty="0"/>
                        <a:t>1</a:t>
                      </a:r>
                    </a:p>
                  </a:txBody>
                  <a:tcPr/>
                </a:tc>
                <a:extLst>
                  <a:ext uri="{0D108BD9-81ED-4DB2-BD59-A6C34878D82A}">
                    <a16:rowId xmlns:a16="http://schemas.microsoft.com/office/drawing/2014/main" val="1849887607"/>
                  </a:ext>
                </a:extLst>
              </a:tr>
              <a:tr h="370840">
                <a:tc>
                  <a:txBody>
                    <a:bodyPr/>
                    <a:lstStyle/>
                    <a:p>
                      <a:pPr algn="ctr"/>
                      <a:r>
                        <a:rPr lang="en-CA" dirty="0"/>
                        <a:t>1</a:t>
                      </a:r>
                    </a:p>
                  </a:txBody>
                  <a:tcPr/>
                </a:tc>
                <a:tc>
                  <a:txBody>
                    <a:bodyPr/>
                    <a:lstStyle/>
                    <a:p>
                      <a:pPr algn="ctr"/>
                      <a:r>
                        <a:rPr lang="en-CA" dirty="0"/>
                        <a:t>1</a:t>
                      </a:r>
                    </a:p>
                  </a:txBody>
                  <a:tcPr/>
                </a:tc>
                <a:tc>
                  <a:txBody>
                    <a:bodyPr/>
                    <a:lstStyle/>
                    <a:p>
                      <a:pPr algn="ctr"/>
                      <a:r>
                        <a:rPr lang="en-CA" dirty="0"/>
                        <a:t>0</a:t>
                      </a:r>
                    </a:p>
                  </a:txBody>
                  <a:tcPr/>
                </a:tc>
                <a:extLst>
                  <a:ext uri="{0D108BD9-81ED-4DB2-BD59-A6C34878D82A}">
                    <a16:rowId xmlns:a16="http://schemas.microsoft.com/office/drawing/2014/main" val="3078186550"/>
                  </a:ext>
                </a:extLst>
              </a:tr>
            </a:tbl>
          </a:graphicData>
        </a:graphic>
      </p:graphicFrame>
    </p:spTree>
    <p:extLst>
      <p:ext uri="{BB962C8B-B14F-4D97-AF65-F5344CB8AC3E}">
        <p14:creationId xmlns:p14="http://schemas.microsoft.com/office/powerpoint/2010/main" val="28632594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9F278-3D2A-4341-B97D-320C3C72B447}"/>
              </a:ext>
            </a:extLst>
          </p:cNvPr>
          <p:cNvSpPr>
            <a:spLocks noGrp="1"/>
          </p:cNvSpPr>
          <p:nvPr>
            <p:ph type="title"/>
          </p:nvPr>
        </p:nvSpPr>
        <p:spPr/>
        <p:txBody>
          <a:bodyPr/>
          <a:lstStyle/>
          <a:p>
            <a:r>
              <a:rPr lang="en-CA" dirty="0"/>
              <a:t>Uses of the XOR Gate</a:t>
            </a:r>
          </a:p>
        </p:txBody>
      </p:sp>
      <p:sp>
        <p:nvSpPr>
          <p:cNvPr id="3" name="Content Placeholder 2">
            <a:extLst>
              <a:ext uri="{FF2B5EF4-FFF2-40B4-BE49-F238E27FC236}">
                <a16:creationId xmlns:a16="http://schemas.microsoft.com/office/drawing/2014/main" id="{8C33EB42-2258-4408-87FB-140DEF5DAB83}"/>
              </a:ext>
            </a:extLst>
          </p:cNvPr>
          <p:cNvSpPr>
            <a:spLocks noGrp="1"/>
          </p:cNvSpPr>
          <p:nvPr>
            <p:ph idx="1"/>
          </p:nvPr>
        </p:nvSpPr>
        <p:spPr/>
        <p:txBody>
          <a:bodyPr/>
          <a:lstStyle/>
          <a:p>
            <a:r>
              <a:rPr lang="en-CA" dirty="0"/>
              <a:t>The XOR Gate has some interesting uses:</a:t>
            </a:r>
          </a:p>
          <a:p>
            <a:pPr lvl="1"/>
            <a:r>
              <a:rPr lang="en-CA" dirty="0"/>
              <a:t>It can be used as an even parity bit generator by producing an output that will ensure the combination of input bits and output bits always has an even number of values of 1</a:t>
            </a:r>
          </a:p>
          <a:p>
            <a:pPr lvl="1"/>
            <a:r>
              <a:rPr lang="en-CA" dirty="0"/>
              <a:t>It can also be used as a controlled inversion which proves very useful in computer architecture:</a:t>
            </a:r>
          </a:p>
        </p:txBody>
      </p:sp>
      <p:sp>
        <p:nvSpPr>
          <p:cNvPr id="4" name="Footer Placeholder 3">
            <a:extLst>
              <a:ext uri="{FF2B5EF4-FFF2-40B4-BE49-F238E27FC236}">
                <a16:creationId xmlns:a16="http://schemas.microsoft.com/office/drawing/2014/main" id="{121BF6FF-6C8A-4024-AF51-DA4E725B5086}"/>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572C79AA-1914-443F-B5B9-43FB9F649BFC}"/>
              </a:ext>
            </a:extLst>
          </p:cNvPr>
          <p:cNvSpPr>
            <a:spLocks noGrp="1"/>
          </p:cNvSpPr>
          <p:nvPr>
            <p:ph type="sldNum" sz="quarter" idx="11"/>
          </p:nvPr>
        </p:nvSpPr>
        <p:spPr/>
        <p:txBody>
          <a:bodyPr/>
          <a:lstStyle/>
          <a:p>
            <a:pPr>
              <a:defRPr/>
            </a:pPr>
            <a:fld id="{72682330-DDB7-47C0-8BEC-295D3A41AB1F}" type="slidenum">
              <a:rPr lang="en-US" smtClean="0"/>
              <a:pPr>
                <a:defRPr/>
              </a:pPr>
              <a:t>38</a:t>
            </a:fld>
            <a:endParaRPr lang="en-US" dirty="0"/>
          </a:p>
        </p:txBody>
      </p:sp>
      <p:sp>
        <p:nvSpPr>
          <p:cNvPr id="6" name="Date Placeholder 5">
            <a:extLst>
              <a:ext uri="{FF2B5EF4-FFF2-40B4-BE49-F238E27FC236}">
                <a16:creationId xmlns:a16="http://schemas.microsoft.com/office/drawing/2014/main" id="{ED804237-A114-423E-B0BC-B628306A1E18}"/>
              </a:ext>
            </a:extLst>
          </p:cNvPr>
          <p:cNvSpPr>
            <a:spLocks noGrp="1"/>
          </p:cNvSpPr>
          <p:nvPr>
            <p:ph type="dt" sz="half" idx="12"/>
          </p:nvPr>
        </p:nvSpPr>
        <p:spPr/>
        <p:txBody>
          <a:bodyPr/>
          <a:lstStyle/>
          <a:p>
            <a:pPr>
              <a:defRPr/>
            </a:pPr>
            <a:r>
              <a:rPr lang="en-US"/>
              <a:t>Fall 2021</a:t>
            </a:r>
            <a:endParaRPr lang="en-CA" dirty="0"/>
          </a:p>
        </p:txBody>
      </p:sp>
      <p:pic>
        <p:nvPicPr>
          <p:cNvPr id="8" name="Picture 7" descr="A picture containing drawing&#10;&#10;Description automatically generated">
            <a:extLst>
              <a:ext uri="{FF2B5EF4-FFF2-40B4-BE49-F238E27FC236}">
                <a16:creationId xmlns:a16="http://schemas.microsoft.com/office/drawing/2014/main" id="{9F2101E0-4297-4BF7-9D08-4D13F30FEC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34332" y="3590462"/>
            <a:ext cx="2261812" cy="951058"/>
          </a:xfrm>
          <a:prstGeom prst="rect">
            <a:avLst/>
          </a:prstGeom>
        </p:spPr>
      </p:pic>
      <p:graphicFrame>
        <p:nvGraphicFramePr>
          <p:cNvPr id="10" name="Table 9">
            <a:extLst>
              <a:ext uri="{FF2B5EF4-FFF2-40B4-BE49-F238E27FC236}">
                <a16:creationId xmlns:a16="http://schemas.microsoft.com/office/drawing/2014/main" id="{C0074BCC-5464-453F-843A-6AC94A235C67}"/>
              </a:ext>
            </a:extLst>
          </p:cNvPr>
          <p:cNvGraphicFramePr>
            <a:graphicFrameLocks noGrp="1"/>
          </p:cNvGraphicFramePr>
          <p:nvPr>
            <p:extLst>
              <p:ext uri="{D42A27DB-BD31-4B8C-83A1-F6EECF244321}">
                <p14:modId xmlns:p14="http://schemas.microsoft.com/office/powerpoint/2010/main" val="3122390009"/>
              </p:ext>
            </p:extLst>
          </p:nvPr>
        </p:nvGraphicFramePr>
        <p:xfrm>
          <a:off x="6236305" y="3429000"/>
          <a:ext cx="926495" cy="1112520"/>
        </p:xfrm>
        <a:graphic>
          <a:graphicData uri="http://schemas.openxmlformats.org/drawingml/2006/table">
            <a:tbl>
              <a:tblPr firstRow="1" bandRow="1">
                <a:tableStyleId>{3C2FFA5D-87B4-456A-9821-1D502468CF0F}</a:tableStyleId>
              </a:tblPr>
              <a:tblGrid>
                <a:gridCol w="467532">
                  <a:extLst>
                    <a:ext uri="{9D8B030D-6E8A-4147-A177-3AD203B41FA5}">
                      <a16:colId xmlns:a16="http://schemas.microsoft.com/office/drawing/2014/main" val="287580551"/>
                    </a:ext>
                  </a:extLst>
                </a:gridCol>
                <a:gridCol w="458963">
                  <a:extLst>
                    <a:ext uri="{9D8B030D-6E8A-4147-A177-3AD203B41FA5}">
                      <a16:colId xmlns:a16="http://schemas.microsoft.com/office/drawing/2014/main" val="3848652840"/>
                    </a:ext>
                  </a:extLst>
                </a:gridCol>
              </a:tblGrid>
              <a:tr h="370840">
                <a:tc>
                  <a:txBody>
                    <a:bodyPr/>
                    <a:lstStyle/>
                    <a:p>
                      <a:pPr algn="ctr"/>
                      <a:r>
                        <a:rPr lang="en-CA" dirty="0"/>
                        <a:t>B</a:t>
                      </a:r>
                    </a:p>
                  </a:txBody>
                  <a:tcPr/>
                </a:tc>
                <a:tc>
                  <a:txBody>
                    <a:bodyPr/>
                    <a:lstStyle/>
                    <a:p>
                      <a:pPr algn="ctr"/>
                      <a:r>
                        <a:rPr lang="en-CA" dirty="0"/>
                        <a:t>C</a:t>
                      </a:r>
                    </a:p>
                  </a:txBody>
                  <a:tcPr/>
                </a:tc>
                <a:extLst>
                  <a:ext uri="{0D108BD9-81ED-4DB2-BD59-A6C34878D82A}">
                    <a16:rowId xmlns:a16="http://schemas.microsoft.com/office/drawing/2014/main" val="2961602566"/>
                  </a:ext>
                </a:extLst>
              </a:tr>
              <a:tr h="370840">
                <a:tc>
                  <a:txBody>
                    <a:bodyPr/>
                    <a:lstStyle/>
                    <a:p>
                      <a:pPr algn="ctr"/>
                      <a:r>
                        <a:rPr lang="en-CA" dirty="0"/>
                        <a:t>0</a:t>
                      </a:r>
                    </a:p>
                  </a:txBody>
                  <a:tcPr/>
                </a:tc>
                <a:tc>
                  <a:txBody>
                    <a:bodyPr/>
                    <a:lstStyle/>
                    <a:p>
                      <a:pPr algn="ctr"/>
                      <a:r>
                        <a:rPr lang="en-CA" dirty="0"/>
                        <a:t>A</a:t>
                      </a:r>
                    </a:p>
                  </a:txBody>
                  <a:tcPr/>
                </a:tc>
                <a:extLst>
                  <a:ext uri="{0D108BD9-81ED-4DB2-BD59-A6C34878D82A}">
                    <a16:rowId xmlns:a16="http://schemas.microsoft.com/office/drawing/2014/main" val="1965663002"/>
                  </a:ext>
                </a:extLst>
              </a:tr>
              <a:tr h="370840">
                <a:tc>
                  <a:txBody>
                    <a:bodyPr/>
                    <a:lstStyle/>
                    <a:p>
                      <a:pPr algn="ctr"/>
                      <a:r>
                        <a:rPr lang="en-CA" dirty="0"/>
                        <a:t>1</a:t>
                      </a:r>
                    </a:p>
                  </a:txBody>
                  <a:tcPr/>
                </a:tc>
                <a:tc>
                  <a:txBody>
                    <a:bodyPr/>
                    <a:lstStyle/>
                    <a:p>
                      <a:pPr algn="ctr"/>
                      <a:r>
                        <a:rPr lang="en-CA" dirty="0"/>
                        <a:t>A’</a:t>
                      </a:r>
                    </a:p>
                  </a:txBody>
                  <a:tcPr/>
                </a:tc>
                <a:extLst>
                  <a:ext uri="{0D108BD9-81ED-4DB2-BD59-A6C34878D82A}">
                    <a16:rowId xmlns:a16="http://schemas.microsoft.com/office/drawing/2014/main" val="1482734216"/>
                  </a:ext>
                </a:extLst>
              </a:tr>
            </a:tbl>
          </a:graphicData>
        </a:graphic>
      </p:graphicFrame>
      <p:graphicFrame>
        <p:nvGraphicFramePr>
          <p:cNvPr id="9" name="Table 9">
            <a:extLst>
              <a:ext uri="{FF2B5EF4-FFF2-40B4-BE49-F238E27FC236}">
                <a16:creationId xmlns:a16="http://schemas.microsoft.com/office/drawing/2014/main" id="{44AD6C25-7F2C-42F8-B5C0-08A1443555CB}"/>
              </a:ext>
            </a:extLst>
          </p:cNvPr>
          <p:cNvGraphicFramePr>
            <a:graphicFrameLocks noGrp="1"/>
          </p:cNvGraphicFramePr>
          <p:nvPr/>
        </p:nvGraphicFramePr>
        <p:xfrm>
          <a:off x="4348506" y="3429000"/>
          <a:ext cx="1371600" cy="1854200"/>
        </p:xfrm>
        <a:graphic>
          <a:graphicData uri="http://schemas.openxmlformats.org/drawingml/2006/table">
            <a:tbl>
              <a:tblPr firstRow="1" bandRow="1">
                <a:tableStyleId>{3C2FFA5D-87B4-456A-9821-1D502468CF0F}</a:tableStyleId>
              </a:tblPr>
              <a:tblGrid>
                <a:gridCol w="457200">
                  <a:extLst>
                    <a:ext uri="{9D8B030D-6E8A-4147-A177-3AD203B41FA5}">
                      <a16:colId xmlns:a16="http://schemas.microsoft.com/office/drawing/2014/main" val="287580551"/>
                    </a:ext>
                  </a:extLst>
                </a:gridCol>
                <a:gridCol w="457200">
                  <a:extLst>
                    <a:ext uri="{9D8B030D-6E8A-4147-A177-3AD203B41FA5}">
                      <a16:colId xmlns:a16="http://schemas.microsoft.com/office/drawing/2014/main" val="3848652840"/>
                    </a:ext>
                  </a:extLst>
                </a:gridCol>
                <a:gridCol w="457200">
                  <a:extLst>
                    <a:ext uri="{9D8B030D-6E8A-4147-A177-3AD203B41FA5}">
                      <a16:colId xmlns:a16="http://schemas.microsoft.com/office/drawing/2014/main" val="3262824179"/>
                    </a:ext>
                  </a:extLst>
                </a:gridCol>
              </a:tblGrid>
              <a:tr h="370840">
                <a:tc>
                  <a:txBody>
                    <a:bodyPr/>
                    <a:lstStyle/>
                    <a:p>
                      <a:pPr algn="ctr"/>
                      <a:r>
                        <a:rPr lang="en-CA" dirty="0"/>
                        <a:t>A</a:t>
                      </a:r>
                    </a:p>
                  </a:txBody>
                  <a:tcPr/>
                </a:tc>
                <a:tc>
                  <a:txBody>
                    <a:bodyPr/>
                    <a:lstStyle/>
                    <a:p>
                      <a:pPr algn="ctr"/>
                      <a:r>
                        <a:rPr lang="en-CA" dirty="0"/>
                        <a:t>B</a:t>
                      </a:r>
                    </a:p>
                  </a:txBody>
                  <a:tcPr/>
                </a:tc>
                <a:tc>
                  <a:txBody>
                    <a:bodyPr/>
                    <a:lstStyle/>
                    <a:p>
                      <a:pPr algn="ctr"/>
                      <a:r>
                        <a:rPr lang="en-CA" dirty="0"/>
                        <a:t>C</a:t>
                      </a:r>
                    </a:p>
                  </a:txBody>
                  <a:tcPr/>
                </a:tc>
                <a:extLst>
                  <a:ext uri="{0D108BD9-81ED-4DB2-BD59-A6C34878D82A}">
                    <a16:rowId xmlns:a16="http://schemas.microsoft.com/office/drawing/2014/main" val="2961602566"/>
                  </a:ext>
                </a:extLst>
              </a:tr>
              <a:tr h="370840">
                <a:tc>
                  <a:txBody>
                    <a:bodyPr/>
                    <a:lstStyle/>
                    <a:p>
                      <a:pPr algn="ctr"/>
                      <a:r>
                        <a:rPr lang="en-CA" dirty="0"/>
                        <a:t>0</a:t>
                      </a:r>
                    </a:p>
                  </a:txBody>
                  <a:tcPr/>
                </a:tc>
                <a:tc>
                  <a:txBody>
                    <a:bodyPr/>
                    <a:lstStyle/>
                    <a:p>
                      <a:pPr algn="ctr"/>
                      <a:r>
                        <a:rPr lang="en-CA" dirty="0"/>
                        <a:t>0</a:t>
                      </a:r>
                    </a:p>
                  </a:txBody>
                  <a:tcPr/>
                </a:tc>
                <a:tc>
                  <a:txBody>
                    <a:bodyPr/>
                    <a:lstStyle/>
                    <a:p>
                      <a:pPr algn="ctr"/>
                      <a:r>
                        <a:rPr lang="en-CA" dirty="0"/>
                        <a:t>0</a:t>
                      </a:r>
                    </a:p>
                  </a:txBody>
                  <a:tcPr/>
                </a:tc>
                <a:extLst>
                  <a:ext uri="{0D108BD9-81ED-4DB2-BD59-A6C34878D82A}">
                    <a16:rowId xmlns:a16="http://schemas.microsoft.com/office/drawing/2014/main" val="1965663002"/>
                  </a:ext>
                </a:extLst>
              </a:tr>
              <a:tr h="370840">
                <a:tc>
                  <a:txBody>
                    <a:bodyPr/>
                    <a:lstStyle/>
                    <a:p>
                      <a:pPr algn="ctr"/>
                      <a:r>
                        <a:rPr lang="en-CA" dirty="0"/>
                        <a:t>0</a:t>
                      </a:r>
                    </a:p>
                  </a:txBody>
                  <a:tcPr/>
                </a:tc>
                <a:tc>
                  <a:txBody>
                    <a:bodyPr/>
                    <a:lstStyle/>
                    <a:p>
                      <a:pPr algn="ctr"/>
                      <a:r>
                        <a:rPr lang="en-CA" dirty="0"/>
                        <a:t>1</a:t>
                      </a:r>
                    </a:p>
                  </a:txBody>
                  <a:tcPr/>
                </a:tc>
                <a:tc>
                  <a:txBody>
                    <a:bodyPr/>
                    <a:lstStyle/>
                    <a:p>
                      <a:pPr algn="ctr"/>
                      <a:r>
                        <a:rPr lang="en-CA" dirty="0"/>
                        <a:t>1</a:t>
                      </a:r>
                    </a:p>
                  </a:txBody>
                  <a:tcPr/>
                </a:tc>
                <a:extLst>
                  <a:ext uri="{0D108BD9-81ED-4DB2-BD59-A6C34878D82A}">
                    <a16:rowId xmlns:a16="http://schemas.microsoft.com/office/drawing/2014/main" val="1482734216"/>
                  </a:ext>
                </a:extLst>
              </a:tr>
              <a:tr h="370840">
                <a:tc>
                  <a:txBody>
                    <a:bodyPr/>
                    <a:lstStyle/>
                    <a:p>
                      <a:pPr algn="ctr"/>
                      <a:r>
                        <a:rPr lang="en-CA" dirty="0"/>
                        <a:t>1</a:t>
                      </a:r>
                    </a:p>
                  </a:txBody>
                  <a:tcPr/>
                </a:tc>
                <a:tc>
                  <a:txBody>
                    <a:bodyPr/>
                    <a:lstStyle/>
                    <a:p>
                      <a:pPr algn="ctr"/>
                      <a:r>
                        <a:rPr lang="en-CA" dirty="0"/>
                        <a:t>0</a:t>
                      </a:r>
                    </a:p>
                  </a:txBody>
                  <a:tcPr/>
                </a:tc>
                <a:tc>
                  <a:txBody>
                    <a:bodyPr/>
                    <a:lstStyle/>
                    <a:p>
                      <a:pPr algn="ctr"/>
                      <a:r>
                        <a:rPr lang="en-CA" dirty="0"/>
                        <a:t>1</a:t>
                      </a:r>
                    </a:p>
                  </a:txBody>
                  <a:tcPr/>
                </a:tc>
                <a:extLst>
                  <a:ext uri="{0D108BD9-81ED-4DB2-BD59-A6C34878D82A}">
                    <a16:rowId xmlns:a16="http://schemas.microsoft.com/office/drawing/2014/main" val="1849887607"/>
                  </a:ext>
                </a:extLst>
              </a:tr>
              <a:tr h="370840">
                <a:tc>
                  <a:txBody>
                    <a:bodyPr/>
                    <a:lstStyle/>
                    <a:p>
                      <a:pPr algn="ctr"/>
                      <a:r>
                        <a:rPr lang="en-CA" dirty="0"/>
                        <a:t>1</a:t>
                      </a:r>
                    </a:p>
                  </a:txBody>
                  <a:tcPr/>
                </a:tc>
                <a:tc>
                  <a:txBody>
                    <a:bodyPr/>
                    <a:lstStyle/>
                    <a:p>
                      <a:pPr algn="ctr"/>
                      <a:r>
                        <a:rPr lang="en-CA" dirty="0"/>
                        <a:t>1</a:t>
                      </a:r>
                    </a:p>
                  </a:txBody>
                  <a:tcPr/>
                </a:tc>
                <a:tc>
                  <a:txBody>
                    <a:bodyPr/>
                    <a:lstStyle/>
                    <a:p>
                      <a:pPr algn="ctr"/>
                      <a:r>
                        <a:rPr lang="en-CA" dirty="0"/>
                        <a:t>0</a:t>
                      </a:r>
                    </a:p>
                  </a:txBody>
                  <a:tcPr/>
                </a:tc>
                <a:extLst>
                  <a:ext uri="{0D108BD9-81ED-4DB2-BD59-A6C34878D82A}">
                    <a16:rowId xmlns:a16="http://schemas.microsoft.com/office/drawing/2014/main" val="3078186550"/>
                  </a:ext>
                </a:extLst>
              </a:tr>
            </a:tbl>
          </a:graphicData>
        </a:graphic>
      </p:graphicFrame>
    </p:spTree>
    <p:extLst>
      <p:ext uri="{BB962C8B-B14F-4D97-AF65-F5344CB8AC3E}">
        <p14:creationId xmlns:p14="http://schemas.microsoft.com/office/powerpoint/2010/main" val="37932837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F24C5-1B03-4615-837E-A46B3D76B805}"/>
              </a:ext>
            </a:extLst>
          </p:cNvPr>
          <p:cNvSpPr>
            <a:spLocks noGrp="1"/>
          </p:cNvSpPr>
          <p:nvPr>
            <p:ph type="title"/>
          </p:nvPr>
        </p:nvSpPr>
        <p:spPr/>
        <p:txBody>
          <a:bodyPr/>
          <a:lstStyle/>
          <a:p>
            <a:r>
              <a:rPr lang="en-CA" dirty="0"/>
              <a:t>Totem Pole Output Drivers</a:t>
            </a:r>
          </a:p>
        </p:txBody>
      </p:sp>
      <p:sp>
        <p:nvSpPr>
          <p:cNvPr id="3" name="Content Placeholder 2">
            <a:extLst>
              <a:ext uri="{FF2B5EF4-FFF2-40B4-BE49-F238E27FC236}">
                <a16:creationId xmlns:a16="http://schemas.microsoft.com/office/drawing/2014/main" id="{8101AE23-630D-482C-B7D9-998482DA4496}"/>
              </a:ext>
            </a:extLst>
          </p:cNvPr>
          <p:cNvSpPr>
            <a:spLocks noGrp="1"/>
          </p:cNvSpPr>
          <p:nvPr>
            <p:ph idx="1"/>
          </p:nvPr>
        </p:nvSpPr>
        <p:spPr/>
        <p:txBody>
          <a:bodyPr/>
          <a:lstStyle/>
          <a:p>
            <a:r>
              <a:rPr lang="en-CA" dirty="0"/>
              <a:t>All the digital logic gates presented so far use totem pole output drivers</a:t>
            </a:r>
          </a:p>
        </p:txBody>
      </p:sp>
      <p:sp>
        <p:nvSpPr>
          <p:cNvPr id="4" name="Footer Placeholder 3">
            <a:extLst>
              <a:ext uri="{FF2B5EF4-FFF2-40B4-BE49-F238E27FC236}">
                <a16:creationId xmlns:a16="http://schemas.microsoft.com/office/drawing/2014/main" id="{1C59EE2A-7CD5-4DFF-832F-BE2C4D34C4FF}"/>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F72E0B2E-E1D4-4FAB-9129-513D026C0C1C}"/>
              </a:ext>
            </a:extLst>
          </p:cNvPr>
          <p:cNvSpPr>
            <a:spLocks noGrp="1"/>
          </p:cNvSpPr>
          <p:nvPr>
            <p:ph type="sldNum" sz="quarter" idx="11"/>
          </p:nvPr>
        </p:nvSpPr>
        <p:spPr/>
        <p:txBody>
          <a:bodyPr/>
          <a:lstStyle/>
          <a:p>
            <a:pPr>
              <a:defRPr/>
            </a:pPr>
            <a:fld id="{72682330-DDB7-47C0-8BEC-295D3A41AB1F}" type="slidenum">
              <a:rPr lang="en-US" smtClean="0"/>
              <a:pPr>
                <a:defRPr/>
              </a:pPr>
              <a:t>39</a:t>
            </a:fld>
            <a:endParaRPr lang="en-US" dirty="0"/>
          </a:p>
        </p:txBody>
      </p:sp>
      <p:sp>
        <p:nvSpPr>
          <p:cNvPr id="6" name="Date Placeholder 5">
            <a:extLst>
              <a:ext uri="{FF2B5EF4-FFF2-40B4-BE49-F238E27FC236}">
                <a16:creationId xmlns:a16="http://schemas.microsoft.com/office/drawing/2014/main" id="{45D08B6A-724C-4CF3-A73F-DD9307901149}"/>
              </a:ext>
            </a:extLst>
          </p:cNvPr>
          <p:cNvSpPr>
            <a:spLocks noGrp="1"/>
          </p:cNvSpPr>
          <p:nvPr>
            <p:ph type="dt" sz="half" idx="12"/>
          </p:nvPr>
        </p:nvSpPr>
        <p:spPr/>
        <p:txBody>
          <a:bodyPr/>
          <a:lstStyle/>
          <a:p>
            <a:pPr>
              <a:defRPr/>
            </a:pPr>
            <a:r>
              <a:rPr lang="en-US"/>
              <a:t>Fall 2021</a:t>
            </a:r>
            <a:endParaRPr lang="en-CA" dirty="0"/>
          </a:p>
        </p:txBody>
      </p:sp>
    </p:spTree>
    <p:extLst>
      <p:ext uri="{BB962C8B-B14F-4D97-AF65-F5344CB8AC3E}">
        <p14:creationId xmlns:p14="http://schemas.microsoft.com/office/powerpoint/2010/main" val="1873351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F24C5-1B03-4615-837E-A46B3D76B805}"/>
              </a:ext>
            </a:extLst>
          </p:cNvPr>
          <p:cNvSpPr>
            <a:spLocks noGrp="1"/>
          </p:cNvSpPr>
          <p:nvPr>
            <p:ph type="title"/>
          </p:nvPr>
        </p:nvSpPr>
        <p:spPr/>
        <p:txBody>
          <a:bodyPr/>
          <a:lstStyle/>
          <a:p>
            <a:r>
              <a:rPr lang="en-CA" dirty="0"/>
              <a:t>Totem Pole Output Drivers</a:t>
            </a:r>
          </a:p>
        </p:txBody>
      </p:sp>
      <p:sp>
        <p:nvSpPr>
          <p:cNvPr id="3" name="Content Placeholder 2">
            <a:extLst>
              <a:ext uri="{FF2B5EF4-FFF2-40B4-BE49-F238E27FC236}">
                <a16:creationId xmlns:a16="http://schemas.microsoft.com/office/drawing/2014/main" id="{8101AE23-630D-482C-B7D9-998482DA4496}"/>
              </a:ext>
            </a:extLst>
          </p:cNvPr>
          <p:cNvSpPr>
            <a:spLocks noGrp="1"/>
          </p:cNvSpPr>
          <p:nvPr>
            <p:ph idx="1"/>
          </p:nvPr>
        </p:nvSpPr>
        <p:spPr/>
        <p:txBody>
          <a:bodyPr/>
          <a:lstStyle/>
          <a:p>
            <a:r>
              <a:rPr lang="en-CA" dirty="0"/>
              <a:t>All the digital logic gates presented so far use totem pole output drivers</a:t>
            </a:r>
          </a:p>
          <a:p>
            <a:r>
              <a:rPr lang="en-CA" dirty="0"/>
              <a:t>A totem pole output driver can only output one of two possible values (0 or 1)</a:t>
            </a:r>
          </a:p>
        </p:txBody>
      </p:sp>
      <p:sp>
        <p:nvSpPr>
          <p:cNvPr id="4" name="Footer Placeholder 3">
            <a:extLst>
              <a:ext uri="{FF2B5EF4-FFF2-40B4-BE49-F238E27FC236}">
                <a16:creationId xmlns:a16="http://schemas.microsoft.com/office/drawing/2014/main" id="{1C59EE2A-7CD5-4DFF-832F-BE2C4D34C4FF}"/>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F72E0B2E-E1D4-4FAB-9129-513D026C0C1C}"/>
              </a:ext>
            </a:extLst>
          </p:cNvPr>
          <p:cNvSpPr>
            <a:spLocks noGrp="1"/>
          </p:cNvSpPr>
          <p:nvPr>
            <p:ph type="sldNum" sz="quarter" idx="11"/>
          </p:nvPr>
        </p:nvSpPr>
        <p:spPr/>
        <p:txBody>
          <a:bodyPr/>
          <a:lstStyle/>
          <a:p>
            <a:pPr>
              <a:defRPr/>
            </a:pPr>
            <a:fld id="{72682330-DDB7-47C0-8BEC-295D3A41AB1F}" type="slidenum">
              <a:rPr lang="en-US" smtClean="0"/>
              <a:pPr>
                <a:defRPr/>
              </a:pPr>
              <a:t>40</a:t>
            </a:fld>
            <a:endParaRPr lang="en-US" dirty="0"/>
          </a:p>
        </p:txBody>
      </p:sp>
      <p:sp>
        <p:nvSpPr>
          <p:cNvPr id="6" name="Date Placeholder 5">
            <a:extLst>
              <a:ext uri="{FF2B5EF4-FFF2-40B4-BE49-F238E27FC236}">
                <a16:creationId xmlns:a16="http://schemas.microsoft.com/office/drawing/2014/main" id="{45D08B6A-724C-4CF3-A73F-DD9307901149}"/>
              </a:ext>
            </a:extLst>
          </p:cNvPr>
          <p:cNvSpPr>
            <a:spLocks noGrp="1"/>
          </p:cNvSpPr>
          <p:nvPr>
            <p:ph type="dt" sz="half" idx="12"/>
          </p:nvPr>
        </p:nvSpPr>
        <p:spPr/>
        <p:txBody>
          <a:bodyPr/>
          <a:lstStyle/>
          <a:p>
            <a:pPr>
              <a:defRPr/>
            </a:pPr>
            <a:r>
              <a:rPr lang="en-US"/>
              <a:t>Fall 2021</a:t>
            </a:r>
            <a:endParaRPr lang="en-CA" dirty="0"/>
          </a:p>
        </p:txBody>
      </p:sp>
    </p:spTree>
    <p:extLst>
      <p:ext uri="{BB962C8B-B14F-4D97-AF65-F5344CB8AC3E}">
        <p14:creationId xmlns:p14="http://schemas.microsoft.com/office/powerpoint/2010/main" val="36075999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F24C5-1B03-4615-837E-A46B3D76B805}"/>
              </a:ext>
            </a:extLst>
          </p:cNvPr>
          <p:cNvSpPr>
            <a:spLocks noGrp="1"/>
          </p:cNvSpPr>
          <p:nvPr>
            <p:ph type="title"/>
          </p:nvPr>
        </p:nvSpPr>
        <p:spPr/>
        <p:txBody>
          <a:bodyPr/>
          <a:lstStyle/>
          <a:p>
            <a:r>
              <a:rPr lang="en-CA" dirty="0"/>
              <a:t>Totem Pole Output Drivers</a:t>
            </a:r>
          </a:p>
        </p:txBody>
      </p:sp>
      <p:sp>
        <p:nvSpPr>
          <p:cNvPr id="3" name="Content Placeholder 2">
            <a:extLst>
              <a:ext uri="{FF2B5EF4-FFF2-40B4-BE49-F238E27FC236}">
                <a16:creationId xmlns:a16="http://schemas.microsoft.com/office/drawing/2014/main" id="{8101AE23-630D-482C-B7D9-998482DA4496}"/>
              </a:ext>
            </a:extLst>
          </p:cNvPr>
          <p:cNvSpPr>
            <a:spLocks noGrp="1"/>
          </p:cNvSpPr>
          <p:nvPr>
            <p:ph idx="1"/>
          </p:nvPr>
        </p:nvSpPr>
        <p:spPr/>
        <p:txBody>
          <a:bodyPr/>
          <a:lstStyle/>
          <a:p>
            <a:r>
              <a:rPr lang="en-CA" dirty="0"/>
              <a:t>All the digital logic gates presented so far use totem pole output drivers</a:t>
            </a:r>
          </a:p>
          <a:p>
            <a:r>
              <a:rPr lang="en-CA" dirty="0"/>
              <a:t>A totem pole output driver can only output one of two possible values (0 or 1)</a:t>
            </a:r>
          </a:p>
          <a:p>
            <a:r>
              <a:rPr lang="en-CA" dirty="0"/>
              <a:t>Unless otherwise noted on a digital logic gate, the output is assumed to use a totem pole output driver</a:t>
            </a:r>
          </a:p>
        </p:txBody>
      </p:sp>
      <p:sp>
        <p:nvSpPr>
          <p:cNvPr id="4" name="Footer Placeholder 3">
            <a:extLst>
              <a:ext uri="{FF2B5EF4-FFF2-40B4-BE49-F238E27FC236}">
                <a16:creationId xmlns:a16="http://schemas.microsoft.com/office/drawing/2014/main" id="{1C59EE2A-7CD5-4DFF-832F-BE2C4D34C4FF}"/>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F72E0B2E-E1D4-4FAB-9129-513D026C0C1C}"/>
              </a:ext>
            </a:extLst>
          </p:cNvPr>
          <p:cNvSpPr>
            <a:spLocks noGrp="1"/>
          </p:cNvSpPr>
          <p:nvPr>
            <p:ph type="sldNum" sz="quarter" idx="11"/>
          </p:nvPr>
        </p:nvSpPr>
        <p:spPr/>
        <p:txBody>
          <a:bodyPr/>
          <a:lstStyle/>
          <a:p>
            <a:pPr>
              <a:defRPr/>
            </a:pPr>
            <a:fld id="{72682330-DDB7-47C0-8BEC-295D3A41AB1F}" type="slidenum">
              <a:rPr lang="en-US" smtClean="0"/>
              <a:pPr>
                <a:defRPr/>
              </a:pPr>
              <a:t>41</a:t>
            </a:fld>
            <a:endParaRPr lang="en-US" dirty="0"/>
          </a:p>
        </p:txBody>
      </p:sp>
      <p:sp>
        <p:nvSpPr>
          <p:cNvPr id="6" name="Date Placeholder 5">
            <a:extLst>
              <a:ext uri="{FF2B5EF4-FFF2-40B4-BE49-F238E27FC236}">
                <a16:creationId xmlns:a16="http://schemas.microsoft.com/office/drawing/2014/main" id="{45D08B6A-724C-4CF3-A73F-DD9307901149}"/>
              </a:ext>
            </a:extLst>
          </p:cNvPr>
          <p:cNvSpPr>
            <a:spLocks noGrp="1"/>
          </p:cNvSpPr>
          <p:nvPr>
            <p:ph type="dt" sz="half" idx="12"/>
          </p:nvPr>
        </p:nvSpPr>
        <p:spPr/>
        <p:txBody>
          <a:bodyPr/>
          <a:lstStyle/>
          <a:p>
            <a:pPr>
              <a:defRPr/>
            </a:pPr>
            <a:r>
              <a:rPr lang="en-US"/>
              <a:t>Fall 2021</a:t>
            </a:r>
            <a:endParaRPr lang="en-CA" dirty="0"/>
          </a:p>
        </p:txBody>
      </p:sp>
    </p:spTree>
    <p:extLst>
      <p:ext uri="{BB962C8B-B14F-4D97-AF65-F5344CB8AC3E}">
        <p14:creationId xmlns:p14="http://schemas.microsoft.com/office/powerpoint/2010/main" val="35001353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A1C26-062B-438D-9E11-0985B2480B27}"/>
              </a:ext>
            </a:extLst>
          </p:cNvPr>
          <p:cNvSpPr>
            <a:spLocks noGrp="1"/>
          </p:cNvSpPr>
          <p:nvPr>
            <p:ph type="title"/>
          </p:nvPr>
        </p:nvSpPr>
        <p:spPr/>
        <p:txBody>
          <a:bodyPr/>
          <a:lstStyle/>
          <a:p>
            <a:r>
              <a:rPr lang="en-CA" dirty="0"/>
              <a:t>Open Drain Output Drivers</a:t>
            </a:r>
          </a:p>
        </p:txBody>
      </p:sp>
      <p:sp>
        <p:nvSpPr>
          <p:cNvPr id="3" name="Content Placeholder 2">
            <a:extLst>
              <a:ext uri="{FF2B5EF4-FFF2-40B4-BE49-F238E27FC236}">
                <a16:creationId xmlns:a16="http://schemas.microsoft.com/office/drawing/2014/main" id="{5213B1E4-6889-428F-BCC8-7F0021D3DB65}"/>
              </a:ext>
            </a:extLst>
          </p:cNvPr>
          <p:cNvSpPr>
            <a:spLocks noGrp="1"/>
          </p:cNvSpPr>
          <p:nvPr>
            <p:ph idx="1"/>
          </p:nvPr>
        </p:nvSpPr>
        <p:spPr/>
        <p:txBody>
          <a:bodyPr/>
          <a:lstStyle/>
          <a:p>
            <a:r>
              <a:rPr lang="en-CA" dirty="0"/>
              <a:t>Any digital logic gate can be implemented with open drain output drivers</a:t>
            </a:r>
          </a:p>
        </p:txBody>
      </p:sp>
      <p:sp>
        <p:nvSpPr>
          <p:cNvPr id="4" name="Footer Placeholder 3">
            <a:extLst>
              <a:ext uri="{FF2B5EF4-FFF2-40B4-BE49-F238E27FC236}">
                <a16:creationId xmlns:a16="http://schemas.microsoft.com/office/drawing/2014/main" id="{49379FE6-D7F2-40C3-A374-2E68469E7BA7}"/>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6A8A6885-18AB-4EF5-B29B-3259345677D0}"/>
              </a:ext>
            </a:extLst>
          </p:cNvPr>
          <p:cNvSpPr>
            <a:spLocks noGrp="1"/>
          </p:cNvSpPr>
          <p:nvPr>
            <p:ph type="sldNum" sz="quarter" idx="11"/>
          </p:nvPr>
        </p:nvSpPr>
        <p:spPr/>
        <p:txBody>
          <a:bodyPr/>
          <a:lstStyle/>
          <a:p>
            <a:pPr>
              <a:defRPr/>
            </a:pPr>
            <a:fld id="{72682330-DDB7-47C0-8BEC-295D3A41AB1F}" type="slidenum">
              <a:rPr lang="en-US" smtClean="0"/>
              <a:pPr>
                <a:defRPr/>
              </a:pPr>
              <a:t>42</a:t>
            </a:fld>
            <a:endParaRPr lang="en-US" dirty="0"/>
          </a:p>
        </p:txBody>
      </p:sp>
      <p:sp>
        <p:nvSpPr>
          <p:cNvPr id="6" name="Date Placeholder 5">
            <a:extLst>
              <a:ext uri="{FF2B5EF4-FFF2-40B4-BE49-F238E27FC236}">
                <a16:creationId xmlns:a16="http://schemas.microsoft.com/office/drawing/2014/main" id="{C68A7A63-4951-40BE-9AE9-C5F41E344BED}"/>
              </a:ext>
            </a:extLst>
          </p:cNvPr>
          <p:cNvSpPr>
            <a:spLocks noGrp="1"/>
          </p:cNvSpPr>
          <p:nvPr>
            <p:ph type="dt" sz="half" idx="12"/>
          </p:nvPr>
        </p:nvSpPr>
        <p:spPr/>
        <p:txBody>
          <a:bodyPr/>
          <a:lstStyle/>
          <a:p>
            <a:pPr>
              <a:defRPr/>
            </a:pPr>
            <a:r>
              <a:rPr lang="en-US"/>
              <a:t>Fall 2021</a:t>
            </a:r>
            <a:endParaRPr lang="en-CA" dirty="0"/>
          </a:p>
        </p:txBody>
      </p:sp>
    </p:spTree>
    <p:extLst>
      <p:ext uri="{BB962C8B-B14F-4D97-AF65-F5344CB8AC3E}">
        <p14:creationId xmlns:p14="http://schemas.microsoft.com/office/powerpoint/2010/main" val="31302519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A1C26-062B-438D-9E11-0985B2480B27}"/>
              </a:ext>
            </a:extLst>
          </p:cNvPr>
          <p:cNvSpPr>
            <a:spLocks noGrp="1"/>
          </p:cNvSpPr>
          <p:nvPr>
            <p:ph type="title"/>
          </p:nvPr>
        </p:nvSpPr>
        <p:spPr/>
        <p:txBody>
          <a:bodyPr/>
          <a:lstStyle/>
          <a:p>
            <a:r>
              <a:rPr lang="en-CA" dirty="0"/>
              <a:t>Open Drain Output Drivers</a:t>
            </a:r>
          </a:p>
        </p:txBody>
      </p:sp>
      <p:sp>
        <p:nvSpPr>
          <p:cNvPr id="3" name="Content Placeholder 2">
            <a:extLst>
              <a:ext uri="{FF2B5EF4-FFF2-40B4-BE49-F238E27FC236}">
                <a16:creationId xmlns:a16="http://schemas.microsoft.com/office/drawing/2014/main" id="{5213B1E4-6889-428F-BCC8-7F0021D3DB65}"/>
              </a:ext>
            </a:extLst>
          </p:cNvPr>
          <p:cNvSpPr>
            <a:spLocks noGrp="1"/>
          </p:cNvSpPr>
          <p:nvPr>
            <p:ph idx="1"/>
          </p:nvPr>
        </p:nvSpPr>
        <p:spPr/>
        <p:txBody>
          <a:bodyPr/>
          <a:lstStyle/>
          <a:p>
            <a:r>
              <a:rPr lang="en-CA" dirty="0"/>
              <a:t>Any digital logic gate can be implemented with open drain output drivers</a:t>
            </a:r>
          </a:p>
          <a:p>
            <a:r>
              <a:rPr lang="en-CA" dirty="0"/>
              <a:t>An open drain output driver can output either 0 or Z (a high impedance state)</a:t>
            </a:r>
          </a:p>
        </p:txBody>
      </p:sp>
      <p:sp>
        <p:nvSpPr>
          <p:cNvPr id="4" name="Footer Placeholder 3">
            <a:extLst>
              <a:ext uri="{FF2B5EF4-FFF2-40B4-BE49-F238E27FC236}">
                <a16:creationId xmlns:a16="http://schemas.microsoft.com/office/drawing/2014/main" id="{49379FE6-D7F2-40C3-A374-2E68469E7BA7}"/>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6A8A6885-18AB-4EF5-B29B-3259345677D0}"/>
              </a:ext>
            </a:extLst>
          </p:cNvPr>
          <p:cNvSpPr>
            <a:spLocks noGrp="1"/>
          </p:cNvSpPr>
          <p:nvPr>
            <p:ph type="sldNum" sz="quarter" idx="11"/>
          </p:nvPr>
        </p:nvSpPr>
        <p:spPr/>
        <p:txBody>
          <a:bodyPr/>
          <a:lstStyle/>
          <a:p>
            <a:pPr>
              <a:defRPr/>
            </a:pPr>
            <a:fld id="{72682330-DDB7-47C0-8BEC-295D3A41AB1F}" type="slidenum">
              <a:rPr lang="en-US" smtClean="0"/>
              <a:pPr>
                <a:defRPr/>
              </a:pPr>
              <a:t>43</a:t>
            </a:fld>
            <a:endParaRPr lang="en-US" dirty="0"/>
          </a:p>
        </p:txBody>
      </p:sp>
      <p:sp>
        <p:nvSpPr>
          <p:cNvPr id="6" name="Date Placeholder 5">
            <a:extLst>
              <a:ext uri="{FF2B5EF4-FFF2-40B4-BE49-F238E27FC236}">
                <a16:creationId xmlns:a16="http://schemas.microsoft.com/office/drawing/2014/main" id="{C68A7A63-4951-40BE-9AE9-C5F41E344BED}"/>
              </a:ext>
            </a:extLst>
          </p:cNvPr>
          <p:cNvSpPr>
            <a:spLocks noGrp="1"/>
          </p:cNvSpPr>
          <p:nvPr>
            <p:ph type="dt" sz="half" idx="12"/>
          </p:nvPr>
        </p:nvSpPr>
        <p:spPr/>
        <p:txBody>
          <a:bodyPr/>
          <a:lstStyle/>
          <a:p>
            <a:pPr>
              <a:defRPr/>
            </a:pPr>
            <a:r>
              <a:rPr lang="en-US"/>
              <a:t>Fall 2021</a:t>
            </a:r>
            <a:endParaRPr lang="en-CA" dirty="0"/>
          </a:p>
        </p:txBody>
      </p:sp>
    </p:spTree>
    <p:extLst>
      <p:ext uri="{BB962C8B-B14F-4D97-AF65-F5344CB8AC3E}">
        <p14:creationId xmlns:p14="http://schemas.microsoft.com/office/powerpoint/2010/main" val="33063724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A1C26-062B-438D-9E11-0985B2480B27}"/>
              </a:ext>
            </a:extLst>
          </p:cNvPr>
          <p:cNvSpPr>
            <a:spLocks noGrp="1"/>
          </p:cNvSpPr>
          <p:nvPr>
            <p:ph type="title"/>
          </p:nvPr>
        </p:nvSpPr>
        <p:spPr/>
        <p:txBody>
          <a:bodyPr/>
          <a:lstStyle/>
          <a:p>
            <a:r>
              <a:rPr lang="en-CA" dirty="0"/>
              <a:t>Open Drain Output Drivers</a:t>
            </a:r>
          </a:p>
        </p:txBody>
      </p:sp>
      <p:sp>
        <p:nvSpPr>
          <p:cNvPr id="3" name="Content Placeholder 2">
            <a:extLst>
              <a:ext uri="{FF2B5EF4-FFF2-40B4-BE49-F238E27FC236}">
                <a16:creationId xmlns:a16="http://schemas.microsoft.com/office/drawing/2014/main" id="{5213B1E4-6889-428F-BCC8-7F0021D3DB65}"/>
              </a:ext>
            </a:extLst>
          </p:cNvPr>
          <p:cNvSpPr>
            <a:spLocks noGrp="1"/>
          </p:cNvSpPr>
          <p:nvPr>
            <p:ph idx="1"/>
          </p:nvPr>
        </p:nvSpPr>
        <p:spPr/>
        <p:txBody>
          <a:bodyPr/>
          <a:lstStyle/>
          <a:p>
            <a:r>
              <a:rPr lang="en-CA" dirty="0"/>
              <a:t>Any digital logic gate can be implemented with open drain output drivers</a:t>
            </a:r>
          </a:p>
          <a:p>
            <a:r>
              <a:rPr lang="en-CA" dirty="0"/>
              <a:t>An open drain output driver can output either 0 or Z (a high impedance state)</a:t>
            </a:r>
          </a:p>
          <a:p>
            <a:r>
              <a:rPr lang="en-CA" dirty="0"/>
              <a:t>When the output is in a high impedance state, the output can be viewed as being unconnected</a:t>
            </a:r>
          </a:p>
        </p:txBody>
      </p:sp>
      <p:sp>
        <p:nvSpPr>
          <p:cNvPr id="4" name="Footer Placeholder 3">
            <a:extLst>
              <a:ext uri="{FF2B5EF4-FFF2-40B4-BE49-F238E27FC236}">
                <a16:creationId xmlns:a16="http://schemas.microsoft.com/office/drawing/2014/main" id="{49379FE6-D7F2-40C3-A374-2E68469E7BA7}"/>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6A8A6885-18AB-4EF5-B29B-3259345677D0}"/>
              </a:ext>
            </a:extLst>
          </p:cNvPr>
          <p:cNvSpPr>
            <a:spLocks noGrp="1"/>
          </p:cNvSpPr>
          <p:nvPr>
            <p:ph type="sldNum" sz="quarter" idx="11"/>
          </p:nvPr>
        </p:nvSpPr>
        <p:spPr/>
        <p:txBody>
          <a:bodyPr/>
          <a:lstStyle/>
          <a:p>
            <a:pPr>
              <a:defRPr/>
            </a:pPr>
            <a:fld id="{72682330-DDB7-47C0-8BEC-295D3A41AB1F}" type="slidenum">
              <a:rPr lang="en-US" smtClean="0"/>
              <a:pPr>
                <a:defRPr/>
              </a:pPr>
              <a:t>44</a:t>
            </a:fld>
            <a:endParaRPr lang="en-US" dirty="0"/>
          </a:p>
        </p:txBody>
      </p:sp>
      <p:sp>
        <p:nvSpPr>
          <p:cNvPr id="6" name="Date Placeholder 5">
            <a:extLst>
              <a:ext uri="{FF2B5EF4-FFF2-40B4-BE49-F238E27FC236}">
                <a16:creationId xmlns:a16="http://schemas.microsoft.com/office/drawing/2014/main" id="{C68A7A63-4951-40BE-9AE9-C5F41E344BED}"/>
              </a:ext>
            </a:extLst>
          </p:cNvPr>
          <p:cNvSpPr>
            <a:spLocks noGrp="1"/>
          </p:cNvSpPr>
          <p:nvPr>
            <p:ph type="dt" sz="half" idx="12"/>
          </p:nvPr>
        </p:nvSpPr>
        <p:spPr/>
        <p:txBody>
          <a:bodyPr/>
          <a:lstStyle/>
          <a:p>
            <a:pPr>
              <a:defRPr/>
            </a:pPr>
            <a:r>
              <a:rPr lang="en-US"/>
              <a:t>Fall 2021</a:t>
            </a:r>
            <a:endParaRPr lang="en-CA" dirty="0"/>
          </a:p>
        </p:txBody>
      </p:sp>
    </p:spTree>
    <p:extLst>
      <p:ext uri="{BB962C8B-B14F-4D97-AF65-F5344CB8AC3E}">
        <p14:creationId xmlns:p14="http://schemas.microsoft.com/office/powerpoint/2010/main" val="12106795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A1C26-062B-438D-9E11-0985B2480B27}"/>
              </a:ext>
            </a:extLst>
          </p:cNvPr>
          <p:cNvSpPr>
            <a:spLocks noGrp="1"/>
          </p:cNvSpPr>
          <p:nvPr>
            <p:ph type="title"/>
          </p:nvPr>
        </p:nvSpPr>
        <p:spPr/>
        <p:txBody>
          <a:bodyPr/>
          <a:lstStyle/>
          <a:p>
            <a:r>
              <a:rPr lang="en-CA" dirty="0"/>
              <a:t>Open Drain Digital Logic Gate Examples</a:t>
            </a:r>
          </a:p>
        </p:txBody>
      </p:sp>
      <p:sp>
        <p:nvSpPr>
          <p:cNvPr id="3" name="Content Placeholder 2">
            <a:extLst>
              <a:ext uri="{FF2B5EF4-FFF2-40B4-BE49-F238E27FC236}">
                <a16:creationId xmlns:a16="http://schemas.microsoft.com/office/drawing/2014/main" id="{5213B1E4-6889-428F-BCC8-7F0021D3DB65}"/>
              </a:ext>
            </a:extLst>
          </p:cNvPr>
          <p:cNvSpPr>
            <a:spLocks noGrp="1"/>
          </p:cNvSpPr>
          <p:nvPr>
            <p:ph idx="1"/>
          </p:nvPr>
        </p:nvSpPr>
        <p:spPr/>
        <p:txBody>
          <a:bodyPr/>
          <a:lstStyle/>
          <a:p>
            <a:r>
              <a:rPr lang="en-CA" dirty="0"/>
              <a:t>Open drain output drivers are denoted using the symbol shown on the digital logic gates below:</a:t>
            </a:r>
          </a:p>
        </p:txBody>
      </p:sp>
      <p:sp>
        <p:nvSpPr>
          <p:cNvPr id="4" name="Footer Placeholder 3">
            <a:extLst>
              <a:ext uri="{FF2B5EF4-FFF2-40B4-BE49-F238E27FC236}">
                <a16:creationId xmlns:a16="http://schemas.microsoft.com/office/drawing/2014/main" id="{49379FE6-D7F2-40C3-A374-2E68469E7BA7}"/>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6A8A6885-18AB-4EF5-B29B-3259345677D0}"/>
              </a:ext>
            </a:extLst>
          </p:cNvPr>
          <p:cNvSpPr>
            <a:spLocks noGrp="1"/>
          </p:cNvSpPr>
          <p:nvPr>
            <p:ph type="sldNum" sz="quarter" idx="11"/>
          </p:nvPr>
        </p:nvSpPr>
        <p:spPr/>
        <p:txBody>
          <a:bodyPr/>
          <a:lstStyle/>
          <a:p>
            <a:pPr>
              <a:defRPr/>
            </a:pPr>
            <a:fld id="{72682330-DDB7-47C0-8BEC-295D3A41AB1F}" type="slidenum">
              <a:rPr lang="en-US" smtClean="0"/>
              <a:pPr>
                <a:defRPr/>
              </a:pPr>
              <a:t>45</a:t>
            </a:fld>
            <a:endParaRPr lang="en-US" dirty="0"/>
          </a:p>
        </p:txBody>
      </p:sp>
      <p:sp>
        <p:nvSpPr>
          <p:cNvPr id="6" name="Date Placeholder 5">
            <a:extLst>
              <a:ext uri="{FF2B5EF4-FFF2-40B4-BE49-F238E27FC236}">
                <a16:creationId xmlns:a16="http://schemas.microsoft.com/office/drawing/2014/main" id="{C68A7A63-4951-40BE-9AE9-C5F41E344BED}"/>
              </a:ext>
            </a:extLst>
          </p:cNvPr>
          <p:cNvSpPr>
            <a:spLocks noGrp="1"/>
          </p:cNvSpPr>
          <p:nvPr>
            <p:ph type="dt" sz="half" idx="12"/>
          </p:nvPr>
        </p:nvSpPr>
        <p:spPr/>
        <p:txBody>
          <a:bodyPr/>
          <a:lstStyle/>
          <a:p>
            <a:pPr>
              <a:defRPr/>
            </a:pPr>
            <a:r>
              <a:rPr lang="en-US"/>
              <a:t>Fall 2021</a:t>
            </a:r>
            <a:endParaRPr lang="en-CA" dirty="0"/>
          </a:p>
        </p:txBody>
      </p:sp>
      <p:pic>
        <p:nvPicPr>
          <p:cNvPr id="8" name="Picture 7" descr="A picture containing drawing&#10;&#10;Description automatically generated">
            <a:extLst>
              <a:ext uri="{FF2B5EF4-FFF2-40B4-BE49-F238E27FC236}">
                <a16:creationId xmlns:a16="http://schemas.microsoft.com/office/drawing/2014/main" id="{14B9D058-11F0-4A15-9A6B-77EFCB4E65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845" y="1905000"/>
            <a:ext cx="2267909" cy="963251"/>
          </a:xfrm>
          <a:prstGeom prst="rect">
            <a:avLst/>
          </a:prstGeom>
        </p:spPr>
      </p:pic>
      <p:pic>
        <p:nvPicPr>
          <p:cNvPr id="10" name="Picture 9" descr="A close up of a sign&#10;&#10;Description automatically generated">
            <a:extLst>
              <a:ext uri="{FF2B5EF4-FFF2-40B4-BE49-F238E27FC236}">
                <a16:creationId xmlns:a16="http://schemas.microsoft.com/office/drawing/2014/main" id="{BE2F0F3D-04BE-4CEE-ADA4-5096C03959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38045" y="1905000"/>
            <a:ext cx="2267909" cy="963251"/>
          </a:xfrm>
          <a:prstGeom prst="rect">
            <a:avLst/>
          </a:prstGeom>
        </p:spPr>
      </p:pic>
      <p:pic>
        <p:nvPicPr>
          <p:cNvPr id="12" name="Picture 11" descr="A picture containing drawing, clock&#10;&#10;Description automatically generated">
            <a:extLst>
              <a:ext uri="{FF2B5EF4-FFF2-40B4-BE49-F238E27FC236}">
                <a16:creationId xmlns:a16="http://schemas.microsoft.com/office/drawing/2014/main" id="{704CDAC0-DA98-42F4-AAA8-BF29AF3918C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144" y="1905000"/>
            <a:ext cx="2261812" cy="951058"/>
          </a:xfrm>
          <a:prstGeom prst="rect">
            <a:avLst/>
          </a:prstGeom>
        </p:spPr>
      </p:pic>
    </p:spTree>
    <p:extLst>
      <p:ext uri="{BB962C8B-B14F-4D97-AF65-F5344CB8AC3E}">
        <p14:creationId xmlns:p14="http://schemas.microsoft.com/office/powerpoint/2010/main" val="241246400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A1C26-062B-438D-9E11-0985B2480B27}"/>
              </a:ext>
            </a:extLst>
          </p:cNvPr>
          <p:cNvSpPr>
            <a:spLocks noGrp="1"/>
          </p:cNvSpPr>
          <p:nvPr>
            <p:ph type="title"/>
          </p:nvPr>
        </p:nvSpPr>
        <p:spPr/>
        <p:txBody>
          <a:bodyPr/>
          <a:lstStyle/>
          <a:p>
            <a:r>
              <a:rPr lang="en-CA" dirty="0"/>
              <a:t>Open Drain Digital Logic Gate Examples</a:t>
            </a:r>
          </a:p>
        </p:txBody>
      </p:sp>
      <p:sp>
        <p:nvSpPr>
          <p:cNvPr id="3" name="Content Placeholder 2">
            <a:extLst>
              <a:ext uri="{FF2B5EF4-FFF2-40B4-BE49-F238E27FC236}">
                <a16:creationId xmlns:a16="http://schemas.microsoft.com/office/drawing/2014/main" id="{5213B1E4-6889-428F-BCC8-7F0021D3DB65}"/>
              </a:ext>
            </a:extLst>
          </p:cNvPr>
          <p:cNvSpPr>
            <a:spLocks noGrp="1"/>
          </p:cNvSpPr>
          <p:nvPr>
            <p:ph idx="1"/>
          </p:nvPr>
        </p:nvSpPr>
        <p:spPr/>
        <p:txBody>
          <a:bodyPr/>
          <a:lstStyle/>
          <a:p>
            <a:r>
              <a:rPr lang="en-CA" dirty="0"/>
              <a:t>Open drain output drivers are denoted using the symbol shown on the digital logic gates below:</a:t>
            </a:r>
          </a:p>
        </p:txBody>
      </p:sp>
      <p:sp>
        <p:nvSpPr>
          <p:cNvPr id="4" name="Footer Placeholder 3">
            <a:extLst>
              <a:ext uri="{FF2B5EF4-FFF2-40B4-BE49-F238E27FC236}">
                <a16:creationId xmlns:a16="http://schemas.microsoft.com/office/drawing/2014/main" id="{49379FE6-D7F2-40C3-A374-2E68469E7BA7}"/>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6A8A6885-18AB-4EF5-B29B-3259345677D0}"/>
              </a:ext>
            </a:extLst>
          </p:cNvPr>
          <p:cNvSpPr>
            <a:spLocks noGrp="1"/>
          </p:cNvSpPr>
          <p:nvPr>
            <p:ph type="sldNum" sz="quarter" idx="11"/>
          </p:nvPr>
        </p:nvSpPr>
        <p:spPr/>
        <p:txBody>
          <a:bodyPr/>
          <a:lstStyle/>
          <a:p>
            <a:pPr>
              <a:defRPr/>
            </a:pPr>
            <a:fld id="{72682330-DDB7-47C0-8BEC-295D3A41AB1F}" type="slidenum">
              <a:rPr lang="en-US" smtClean="0"/>
              <a:pPr>
                <a:defRPr/>
              </a:pPr>
              <a:t>46</a:t>
            </a:fld>
            <a:endParaRPr lang="en-US" dirty="0"/>
          </a:p>
        </p:txBody>
      </p:sp>
      <p:sp>
        <p:nvSpPr>
          <p:cNvPr id="6" name="Date Placeholder 5">
            <a:extLst>
              <a:ext uri="{FF2B5EF4-FFF2-40B4-BE49-F238E27FC236}">
                <a16:creationId xmlns:a16="http://schemas.microsoft.com/office/drawing/2014/main" id="{C68A7A63-4951-40BE-9AE9-C5F41E344BED}"/>
              </a:ext>
            </a:extLst>
          </p:cNvPr>
          <p:cNvSpPr>
            <a:spLocks noGrp="1"/>
          </p:cNvSpPr>
          <p:nvPr>
            <p:ph type="dt" sz="half" idx="12"/>
          </p:nvPr>
        </p:nvSpPr>
        <p:spPr/>
        <p:txBody>
          <a:bodyPr/>
          <a:lstStyle/>
          <a:p>
            <a:pPr>
              <a:defRPr/>
            </a:pPr>
            <a:r>
              <a:rPr lang="en-US"/>
              <a:t>Fall 2021</a:t>
            </a:r>
            <a:endParaRPr lang="en-CA" dirty="0"/>
          </a:p>
        </p:txBody>
      </p:sp>
      <p:pic>
        <p:nvPicPr>
          <p:cNvPr id="8" name="Picture 7" descr="A picture containing drawing&#10;&#10;Description automatically generated">
            <a:extLst>
              <a:ext uri="{FF2B5EF4-FFF2-40B4-BE49-F238E27FC236}">
                <a16:creationId xmlns:a16="http://schemas.microsoft.com/office/drawing/2014/main" id="{14B9D058-11F0-4A15-9A6B-77EFCB4E65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845" y="1905000"/>
            <a:ext cx="2267909" cy="963251"/>
          </a:xfrm>
          <a:prstGeom prst="rect">
            <a:avLst/>
          </a:prstGeom>
        </p:spPr>
      </p:pic>
      <p:pic>
        <p:nvPicPr>
          <p:cNvPr id="10" name="Picture 9" descr="A close up of a sign&#10;&#10;Description automatically generated">
            <a:extLst>
              <a:ext uri="{FF2B5EF4-FFF2-40B4-BE49-F238E27FC236}">
                <a16:creationId xmlns:a16="http://schemas.microsoft.com/office/drawing/2014/main" id="{BE2F0F3D-04BE-4CEE-ADA4-5096C03959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38045" y="1905000"/>
            <a:ext cx="2267909" cy="963251"/>
          </a:xfrm>
          <a:prstGeom prst="rect">
            <a:avLst/>
          </a:prstGeom>
        </p:spPr>
      </p:pic>
      <p:pic>
        <p:nvPicPr>
          <p:cNvPr id="12" name="Picture 11" descr="A picture containing drawing, clock&#10;&#10;Description automatically generated">
            <a:extLst>
              <a:ext uri="{FF2B5EF4-FFF2-40B4-BE49-F238E27FC236}">
                <a16:creationId xmlns:a16="http://schemas.microsoft.com/office/drawing/2014/main" id="{704CDAC0-DA98-42F4-AAA8-BF29AF3918C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144" y="1905000"/>
            <a:ext cx="2261812" cy="951058"/>
          </a:xfrm>
          <a:prstGeom prst="rect">
            <a:avLst/>
          </a:prstGeom>
        </p:spPr>
      </p:pic>
      <p:graphicFrame>
        <p:nvGraphicFramePr>
          <p:cNvPr id="14" name="Table 9">
            <a:extLst>
              <a:ext uri="{FF2B5EF4-FFF2-40B4-BE49-F238E27FC236}">
                <a16:creationId xmlns:a16="http://schemas.microsoft.com/office/drawing/2014/main" id="{4700F032-1429-4C63-8298-1535F6239ADB}"/>
              </a:ext>
            </a:extLst>
          </p:cNvPr>
          <p:cNvGraphicFramePr>
            <a:graphicFrameLocks noGrp="1"/>
          </p:cNvGraphicFramePr>
          <p:nvPr/>
        </p:nvGraphicFramePr>
        <p:xfrm>
          <a:off x="1142999" y="3154680"/>
          <a:ext cx="1371600" cy="1112520"/>
        </p:xfrm>
        <a:graphic>
          <a:graphicData uri="http://schemas.openxmlformats.org/drawingml/2006/table">
            <a:tbl>
              <a:tblPr firstRow="1" bandRow="1">
                <a:tableStyleId>{3C2FFA5D-87B4-456A-9821-1D502468CF0F}</a:tableStyleId>
              </a:tblPr>
              <a:tblGrid>
                <a:gridCol w="685800">
                  <a:extLst>
                    <a:ext uri="{9D8B030D-6E8A-4147-A177-3AD203B41FA5}">
                      <a16:colId xmlns:a16="http://schemas.microsoft.com/office/drawing/2014/main" val="287580551"/>
                    </a:ext>
                  </a:extLst>
                </a:gridCol>
                <a:gridCol w="685800">
                  <a:extLst>
                    <a:ext uri="{9D8B030D-6E8A-4147-A177-3AD203B41FA5}">
                      <a16:colId xmlns:a16="http://schemas.microsoft.com/office/drawing/2014/main" val="3848652840"/>
                    </a:ext>
                  </a:extLst>
                </a:gridCol>
              </a:tblGrid>
              <a:tr h="370840">
                <a:tc>
                  <a:txBody>
                    <a:bodyPr/>
                    <a:lstStyle/>
                    <a:p>
                      <a:pPr algn="ctr"/>
                      <a:r>
                        <a:rPr lang="en-CA" dirty="0"/>
                        <a:t>A</a:t>
                      </a:r>
                    </a:p>
                  </a:txBody>
                  <a:tcPr/>
                </a:tc>
                <a:tc>
                  <a:txBody>
                    <a:bodyPr/>
                    <a:lstStyle/>
                    <a:p>
                      <a:pPr algn="ctr"/>
                      <a:r>
                        <a:rPr lang="en-CA" dirty="0"/>
                        <a:t>B</a:t>
                      </a:r>
                    </a:p>
                  </a:txBody>
                  <a:tcPr/>
                </a:tc>
                <a:extLst>
                  <a:ext uri="{0D108BD9-81ED-4DB2-BD59-A6C34878D82A}">
                    <a16:rowId xmlns:a16="http://schemas.microsoft.com/office/drawing/2014/main" val="2961602566"/>
                  </a:ext>
                </a:extLst>
              </a:tr>
              <a:tr h="370840">
                <a:tc>
                  <a:txBody>
                    <a:bodyPr/>
                    <a:lstStyle/>
                    <a:p>
                      <a:pPr algn="ctr"/>
                      <a:r>
                        <a:rPr lang="en-CA" dirty="0"/>
                        <a:t>0</a:t>
                      </a:r>
                    </a:p>
                  </a:txBody>
                  <a:tcPr/>
                </a:tc>
                <a:tc>
                  <a:txBody>
                    <a:bodyPr/>
                    <a:lstStyle/>
                    <a:p>
                      <a:pPr algn="ctr"/>
                      <a:r>
                        <a:rPr lang="en-CA" dirty="0"/>
                        <a:t>0</a:t>
                      </a:r>
                    </a:p>
                  </a:txBody>
                  <a:tcPr/>
                </a:tc>
                <a:extLst>
                  <a:ext uri="{0D108BD9-81ED-4DB2-BD59-A6C34878D82A}">
                    <a16:rowId xmlns:a16="http://schemas.microsoft.com/office/drawing/2014/main" val="1965663002"/>
                  </a:ext>
                </a:extLst>
              </a:tr>
              <a:tr h="370840">
                <a:tc>
                  <a:txBody>
                    <a:bodyPr/>
                    <a:lstStyle/>
                    <a:p>
                      <a:pPr algn="ctr"/>
                      <a:r>
                        <a:rPr lang="en-CA" dirty="0"/>
                        <a:t>1</a:t>
                      </a:r>
                    </a:p>
                  </a:txBody>
                  <a:tcPr/>
                </a:tc>
                <a:tc>
                  <a:txBody>
                    <a:bodyPr/>
                    <a:lstStyle/>
                    <a:p>
                      <a:pPr algn="ctr"/>
                      <a:r>
                        <a:rPr lang="en-CA" dirty="0"/>
                        <a:t>Z</a:t>
                      </a:r>
                    </a:p>
                  </a:txBody>
                  <a:tcPr/>
                </a:tc>
                <a:extLst>
                  <a:ext uri="{0D108BD9-81ED-4DB2-BD59-A6C34878D82A}">
                    <a16:rowId xmlns:a16="http://schemas.microsoft.com/office/drawing/2014/main" val="1482734216"/>
                  </a:ext>
                </a:extLst>
              </a:tr>
            </a:tbl>
          </a:graphicData>
        </a:graphic>
      </p:graphicFrame>
    </p:spTree>
    <p:extLst>
      <p:ext uri="{BB962C8B-B14F-4D97-AF65-F5344CB8AC3E}">
        <p14:creationId xmlns:p14="http://schemas.microsoft.com/office/powerpoint/2010/main" val="7470380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A1C26-062B-438D-9E11-0985B2480B27}"/>
              </a:ext>
            </a:extLst>
          </p:cNvPr>
          <p:cNvSpPr>
            <a:spLocks noGrp="1"/>
          </p:cNvSpPr>
          <p:nvPr>
            <p:ph type="title"/>
          </p:nvPr>
        </p:nvSpPr>
        <p:spPr/>
        <p:txBody>
          <a:bodyPr/>
          <a:lstStyle/>
          <a:p>
            <a:r>
              <a:rPr lang="en-CA" dirty="0"/>
              <a:t>Open Drain Digital Logic Gate Examples</a:t>
            </a:r>
          </a:p>
        </p:txBody>
      </p:sp>
      <p:sp>
        <p:nvSpPr>
          <p:cNvPr id="3" name="Content Placeholder 2">
            <a:extLst>
              <a:ext uri="{FF2B5EF4-FFF2-40B4-BE49-F238E27FC236}">
                <a16:creationId xmlns:a16="http://schemas.microsoft.com/office/drawing/2014/main" id="{5213B1E4-6889-428F-BCC8-7F0021D3DB65}"/>
              </a:ext>
            </a:extLst>
          </p:cNvPr>
          <p:cNvSpPr>
            <a:spLocks noGrp="1"/>
          </p:cNvSpPr>
          <p:nvPr>
            <p:ph idx="1"/>
          </p:nvPr>
        </p:nvSpPr>
        <p:spPr/>
        <p:txBody>
          <a:bodyPr/>
          <a:lstStyle/>
          <a:p>
            <a:r>
              <a:rPr lang="en-CA" dirty="0"/>
              <a:t>Open drain output drivers are denoted using the symbol shown on the digital logic gates below:</a:t>
            </a:r>
          </a:p>
        </p:txBody>
      </p:sp>
      <p:sp>
        <p:nvSpPr>
          <p:cNvPr id="4" name="Footer Placeholder 3">
            <a:extLst>
              <a:ext uri="{FF2B5EF4-FFF2-40B4-BE49-F238E27FC236}">
                <a16:creationId xmlns:a16="http://schemas.microsoft.com/office/drawing/2014/main" id="{49379FE6-D7F2-40C3-A374-2E68469E7BA7}"/>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6A8A6885-18AB-4EF5-B29B-3259345677D0}"/>
              </a:ext>
            </a:extLst>
          </p:cNvPr>
          <p:cNvSpPr>
            <a:spLocks noGrp="1"/>
          </p:cNvSpPr>
          <p:nvPr>
            <p:ph type="sldNum" sz="quarter" idx="11"/>
          </p:nvPr>
        </p:nvSpPr>
        <p:spPr/>
        <p:txBody>
          <a:bodyPr/>
          <a:lstStyle/>
          <a:p>
            <a:pPr>
              <a:defRPr/>
            </a:pPr>
            <a:fld id="{72682330-DDB7-47C0-8BEC-295D3A41AB1F}" type="slidenum">
              <a:rPr lang="en-US" smtClean="0"/>
              <a:pPr>
                <a:defRPr/>
              </a:pPr>
              <a:t>47</a:t>
            </a:fld>
            <a:endParaRPr lang="en-US" dirty="0"/>
          </a:p>
        </p:txBody>
      </p:sp>
      <p:sp>
        <p:nvSpPr>
          <p:cNvPr id="6" name="Date Placeholder 5">
            <a:extLst>
              <a:ext uri="{FF2B5EF4-FFF2-40B4-BE49-F238E27FC236}">
                <a16:creationId xmlns:a16="http://schemas.microsoft.com/office/drawing/2014/main" id="{C68A7A63-4951-40BE-9AE9-C5F41E344BED}"/>
              </a:ext>
            </a:extLst>
          </p:cNvPr>
          <p:cNvSpPr>
            <a:spLocks noGrp="1"/>
          </p:cNvSpPr>
          <p:nvPr>
            <p:ph type="dt" sz="half" idx="12"/>
          </p:nvPr>
        </p:nvSpPr>
        <p:spPr/>
        <p:txBody>
          <a:bodyPr/>
          <a:lstStyle/>
          <a:p>
            <a:pPr>
              <a:defRPr/>
            </a:pPr>
            <a:r>
              <a:rPr lang="en-US"/>
              <a:t>Fall 2021</a:t>
            </a:r>
            <a:endParaRPr lang="en-CA" dirty="0"/>
          </a:p>
        </p:txBody>
      </p:sp>
      <p:pic>
        <p:nvPicPr>
          <p:cNvPr id="8" name="Picture 7" descr="A picture containing drawing&#10;&#10;Description automatically generated">
            <a:extLst>
              <a:ext uri="{FF2B5EF4-FFF2-40B4-BE49-F238E27FC236}">
                <a16:creationId xmlns:a16="http://schemas.microsoft.com/office/drawing/2014/main" id="{14B9D058-11F0-4A15-9A6B-77EFCB4E65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845" y="1905000"/>
            <a:ext cx="2267909" cy="963251"/>
          </a:xfrm>
          <a:prstGeom prst="rect">
            <a:avLst/>
          </a:prstGeom>
        </p:spPr>
      </p:pic>
      <p:pic>
        <p:nvPicPr>
          <p:cNvPr id="10" name="Picture 9" descr="A close up of a sign&#10;&#10;Description automatically generated">
            <a:extLst>
              <a:ext uri="{FF2B5EF4-FFF2-40B4-BE49-F238E27FC236}">
                <a16:creationId xmlns:a16="http://schemas.microsoft.com/office/drawing/2014/main" id="{BE2F0F3D-04BE-4CEE-ADA4-5096C03959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38045" y="1905000"/>
            <a:ext cx="2267909" cy="963251"/>
          </a:xfrm>
          <a:prstGeom prst="rect">
            <a:avLst/>
          </a:prstGeom>
        </p:spPr>
      </p:pic>
      <p:pic>
        <p:nvPicPr>
          <p:cNvPr id="12" name="Picture 11" descr="A picture containing drawing, clock&#10;&#10;Description automatically generated">
            <a:extLst>
              <a:ext uri="{FF2B5EF4-FFF2-40B4-BE49-F238E27FC236}">
                <a16:creationId xmlns:a16="http://schemas.microsoft.com/office/drawing/2014/main" id="{704CDAC0-DA98-42F4-AAA8-BF29AF3918C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144" y="1905000"/>
            <a:ext cx="2261812" cy="951058"/>
          </a:xfrm>
          <a:prstGeom prst="rect">
            <a:avLst/>
          </a:prstGeom>
        </p:spPr>
      </p:pic>
      <p:graphicFrame>
        <p:nvGraphicFramePr>
          <p:cNvPr id="14" name="Table 9">
            <a:extLst>
              <a:ext uri="{FF2B5EF4-FFF2-40B4-BE49-F238E27FC236}">
                <a16:creationId xmlns:a16="http://schemas.microsoft.com/office/drawing/2014/main" id="{4700F032-1429-4C63-8298-1535F6239ADB}"/>
              </a:ext>
            </a:extLst>
          </p:cNvPr>
          <p:cNvGraphicFramePr>
            <a:graphicFrameLocks noGrp="1"/>
          </p:cNvGraphicFramePr>
          <p:nvPr/>
        </p:nvGraphicFramePr>
        <p:xfrm>
          <a:off x="1142999" y="3154680"/>
          <a:ext cx="1371600" cy="1112520"/>
        </p:xfrm>
        <a:graphic>
          <a:graphicData uri="http://schemas.openxmlformats.org/drawingml/2006/table">
            <a:tbl>
              <a:tblPr firstRow="1" bandRow="1">
                <a:tableStyleId>{3C2FFA5D-87B4-456A-9821-1D502468CF0F}</a:tableStyleId>
              </a:tblPr>
              <a:tblGrid>
                <a:gridCol w="685800">
                  <a:extLst>
                    <a:ext uri="{9D8B030D-6E8A-4147-A177-3AD203B41FA5}">
                      <a16:colId xmlns:a16="http://schemas.microsoft.com/office/drawing/2014/main" val="287580551"/>
                    </a:ext>
                  </a:extLst>
                </a:gridCol>
                <a:gridCol w="685800">
                  <a:extLst>
                    <a:ext uri="{9D8B030D-6E8A-4147-A177-3AD203B41FA5}">
                      <a16:colId xmlns:a16="http://schemas.microsoft.com/office/drawing/2014/main" val="3848652840"/>
                    </a:ext>
                  </a:extLst>
                </a:gridCol>
              </a:tblGrid>
              <a:tr h="370840">
                <a:tc>
                  <a:txBody>
                    <a:bodyPr/>
                    <a:lstStyle/>
                    <a:p>
                      <a:pPr algn="ctr"/>
                      <a:r>
                        <a:rPr lang="en-CA" dirty="0"/>
                        <a:t>A</a:t>
                      </a:r>
                    </a:p>
                  </a:txBody>
                  <a:tcPr/>
                </a:tc>
                <a:tc>
                  <a:txBody>
                    <a:bodyPr/>
                    <a:lstStyle/>
                    <a:p>
                      <a:pPr algn="ctr"/>
                      <a:r>
                        <a:rPr lang="en-CA" dirty="0"/>
                        <a:t>B</a:t>
                      </a:r>
                    </a:p>
                  </a:txBody>
                  <a:tcPr/>
                </a:tc>
                <a:extLst>
                  <a:ext uri="{0D108BD9-81ED-4DB2-BD59-A6C34878D82A}">
                    <a16:rowId xmlns:a16="http://schemas.microsoft.com/office/drawing/2014/main" val="2961602566"/>
                  </a:ext>
                </a:extLst>
              </a:tr>
              <a:tr h="370840">
                <a:tc>
                  <a:txBody>
                    <a:bodyPr/>
                    <a:lstStyle/>
                    <a:p>
                      <a:pPr algn="ctr"/>
                      <a:r>
                        <a:rPr lang="en-CA" dirty="0"/>
                        <a:t>0</a:t>
                      </a:r>
                    </a:p>
                  </a:txBody>
                  <a:tcPr/>
                </a:tc>
                <a:tc>
                  <a:txBody>
                    <a:bodyPr/>
                    <a:lstStyle/>
                    <a:p>
                      <a:pPr algn="ctr"/>
                      <a:r>
                        <a:rPr lang="en-CA" dirty="0"/>
                        <a:t>0</a:t>
                      </a:r>
                    </a:p>
                  </a:txBody>
                  <a:tcPr/>
                </a:tc>
                <a:extLst>
                  <a:ext uri="{0D108BD9-81ED-4DB2-BD59-A6C34878D82A}">
                    <a16:rowId xmlns:a16="http://schemas.microsoft.com/office/drawing/2014/main" val="1965663002"/>
                  </a:ext>
                </a:extLst>
              </a:tr>
              <a:tr h="370840">
                <a:tc>
                  <a:txBody>
                    <a:bodyPr/>
                    <a:lstStyle/>
                    <a:p>
                      <a:pPr algn="ctr"/>
                      <a:r>
                        <a:rPr lang="en-CA" dirty="0"/>
                        <a:t>1</a:t>
                      </a:r>
                    </a:p>
                  </a:txBody>
                  <a:tcPr/>
                </a:tc>
                <a:tc>
                  <a:txBody>
                    <a:bodyPr/>
                    <a:lstStyle/>
                    <a:p>
                      <a:pPr algn="ctr"/>
                      <a:r>
                        <a:rPr lang="en-CA" dirty="0"/>
                        <a:t>Z</a:t>
                      </a:r>
                    </a:p>
                  </a:txBody>
                  <a:tcPr/>
                </a:tc>
                <a:extLst>
                  <a:ext uri="{0D108BD9-81ED-4DB2-BD59-A6C34878D82A}">
                    <a16:rowId xmlns:a16="http://schemas.microsoft.com/office/drawing/2014/main" val="1482734216"/>
                  </a:ext>
                </a:extLst>
              </a:tr>
            </a:tbl>
          </a:graphicData>
        </a:graphic>
      </p:graphicFrame>
      <p:graphicFrame>
        <p:nvGraphicFramePr>
          <p:cNvPr id="16" name="Table 9">
            <a:extLst>
              <a:ext uri="{FF2B5EF4-FFF2-40B4-BE49-F238E27FC236}">
                <a16:creationId xmlns:a16="http://schemas.microsoft.com/office/drawing/2014/main" id="{516CA843-B430-4B1A-B5CC-B5C9BE7DD817}"/>
              </a:ext>
            </a:extLst>
          </p:cNvPr>
          <p:cNvGraphicFramePr>
            <a:graphicFrameLocks noGrp="1"/>
          </p:cNvGraphicFramePr>
          <p:nvPr/>
        </p:nvGraphicFramePr>
        <p:xfrm>
          <a:off x="3886199" y="3154680"/>
          <a:ext cx="1371600" cy="1112520"/>
        </p:xfrm>
        <a:graphic>
          <a:graphicData uri="http://schemas.openxmlformats.org/drawingml/2006/table">
            <a:tbl>
              <a:tblPr firstRow="1" bandRow="1">
                <a:tableStyleId>{3C2FFA5D-87B4-456A-9821-1D502468CF0F}</a:tableStyleId>
              </a:tblPr>
              <a:tblGrid>
                <a:gridCol w="685800">
                  <a:extLst>
                    <a:ext uri="{9D8B030D-6E8A-4147-A177-3AD203B41FA5}">
                      <a16:colId xmlns:a16="http://schemas.microsoft.com/office/drawing/2014/main" val="287580551"/>
                    </a:ext>
                  </a:extLst>
                </a:gridCol>
                <a:gridCol w="685800">
                  <a:extLst>
                    <a:ext uri="{9D8B030D-6E8A-4147-A177-3AD203B41FA5}">
                      <a16:colId xmlns:a16="http://schemas.microsoft.com/office/drawing/2014/main" val="3848652840"/>
                    </a:ext>
                  </a:extLst>
                </a:gridCol>
              </a:tblGrid>
              <a:tr h="370840">
                <a:tc>
                  <a:txBody>
                    <a:bodyPr/>
                    <a:lstStyle/>
                    <a:p>
                      <a:pPr algn="ctr"/>
                      <a:r>
                        <a:rPr lang="en-CA" dirty="0"/>
                        <a:t>A</a:t>
                      </a:r>
                    </a:p>
                  </a:txBody>
                  <a:tcPr/>
                </a:tc>
                <a:tc>
                  <a:txBody>
                    <a:bodyPr/>
                    <a:lstStyle/>
                    <a:p>
                      <a:pPr algn="ctr"/>
                      <a:r>
                        <a:rPr lang="en-CA" dirty="0"/>
                        <a:t>B</a:t>
                      </a:r>
                    </a:p>
                  </a:txBody>
                  <a:tcPr/>
                </a:tc>
                <a:extLst>
                  <a:ext uri="{0D108BD9-81ED-4DB2-BD59-A6C34878D82A}">
                    <a16:rowId xmlns:a16="http://schemas.microsoft.com/office/drawing/2014/main" val="2961602566"/>
                  </a:ext>
                </a:extLst>
              </a:tr>
              <a:tr h="370840">
                <a:tc>
                  <a:txBody>
                    <a:bodyPr/>
                    <a:lstStyle/>
                    <a:p>
                      <a:pPr algn="ctr"/>
                      <a:r>
                        <a:rPr lang="en-CA" dirty="0"/>
                        <a:t>0</a:t>
                      </a:r>
                    </a:p>
                  </a:txBody>
                  <a:tcPr/>
                </a:tc>
                <a:tc>
                  <a:txBody>
                    <a:bodyPr/>
                    <a:lstStyle/>
                    <a:p>
                      <a:pPr algn="ctr"/>
                      <a:r>
                        <a:rPr lang="en-CA" dirty="0"/>
                        <a:t>Z</a:t>
                      </a:r>
                    </a:p>
                  </a:txBody>
                  <a:tcPr/>
                </a:tc>
                <a:extLst>
                  <a:ext uri="{0D108BD9-81ED-4DB2-BD59-A6C34878D82A}">
                    <a16:rowId xmlns:a16="http://schemas.microsoft.com/office/drawing/2014/main" val="1965663002"/>
                  </a:ext>
                </a:extLst>
              </a:tr>
              <a:tr h="370840">
                <a:tc>
                  <a:txBody>
                    <a:bodyPr/>
                    <a:lstStyle/>
                    <a:p>
                      <a:pPr algn="ctr"/>
                      <a:r>
                        <a:rPr lang="en-CA" dirty="0"/>
                        <a:t>1</a:t>
                      </a:r>
                    </a:p>
                  </a:txBody>
                  <a:tcPr/>
                </a:tc>
                <a:tc>
                  <a:txBody>
                    <a:bodyPr/>
                    <a:lstStyle/>
                    <a:p>
                      <a:pPr algn="ctr"/>
                      <a:r>
                        <a:rPr lang="en-CA" dirty="0"/>
                        <a:t>0</a:t>
                      </a:r>
                    </a:p>
                  </a:txBody>
                  <a:tcPr/>
                </a:tc>
                <a:extLst>
                  <a:ext uri="{0D108BD9-81ED-4DB2-BD59-A6C34878D82A}">
                    <a16:rowId xmlns:a16="http://schemas.microsoft.com/office/drawing/2014/main" val="1482734216"/>
                  </a:ext>
                </a:extLst>
              </a:tr>
            </a:tbl>
          </a:graphicData>
        </a:graphic>
      </p:graphicFrame>
    </p:spTree>
    <p:extLst>
      <p:ext uri="{BB962C8B-B14F-4D97-AF65-F5344CB8AC3E}">
        <p14:creationId xmlns:p14="http://schemas.microsoft.com/office/powerpoint/2010/main" val="39451411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A1C26-062B-438D-9E11-0985B2480B27}"/>
              </a:ext>
            </a:extLst>
          </p:cNvPr>
          <p:cNvSpPr>
            <a:spLocks noGrp="1"/>
          </p:cNvSpPr>
          <p:nvPr>
            <p:ph type="title"/>
          </p:nvPr>
        </p:nvSpPr>
        <p:spPr/>
        <p:txBody>
          <a:bodyPr/>
          <a:lstStyle/>
          <a:p>
            <a:r>
              <a:rPr lang="en-CA" dirty="0"/>
              <a:t>Open Drain Digital Logic Gate Examples</a:t>
            </a:r>
          </a:p>
        </p:txBody>
      </p:sp>
      <p:sp>
        <p:nvSpPr>
          <p:cNvPr id="3" name="Content Placeholder 2">
            <a:extLst>
              <a:ext uri="{FF2B5EF4-FFF2-40B4-BE49-F238E27FC236}">
                <a16:creationId xmlns:a16="http://schemas.microsoft.com/office/drawing/2014/main" id="{5213B1E4-6889-428F-BCC8-7F0021D3DB65}"/>
              </a:ext>
            </a:extLst>
          </p:cNvPr>
          <p:cNvSpPr>
            <a:spLocks noGrp="1"/>
          </p:cNvSpPr>
          <p:nvPr>
            <p:ph idx="1"/>
          </p:nvPr>
        </p:nvSpPr>
        <p:spPr/>
        <p:txBody>
          <a:bodyPr/>
          <a:lstStyle/>
          <a:p>
            <a:r>
              <a:rPr lang="en-CA" dirty="0"/>
              <a:t>Open drain output drivers are denoted using the symbol shown on the digital logic gates below:</a:t>
            </a:r>
          </a:p>
        </p:txBody>
      </p:sp>
      <p:sp>
        <p:nvSpPr>
          <p:cNvPr id="4" name="Footer Placeholder 3">
            <a:extLst>
              <a:ext uri="{FF2B5EF4-FFF2-40B4-BE49-F238E27FC236}">
                <a16:creationId xmlns:a16="http://schemas.microsoft.com/office/drawing/2014/main" id="{49379FE6-D7F2-40C3-A374-2E68469E7BA7}"/>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6A8A6885-18AB-4EF5-B29B-3259345677D0}"/>
              </a:ext>
            </a:extLst>
          </p:cNvPr>
          <p:cNvSpPr>
            <a:spLocks noGrp="1"/>
          </p:cNvSpPr>
          <p:nvPr>
            <p:ph type="sldNum" sz="quarter" idx="11"/>
          </p:nvPr>
        </p:nvSpPr>
        <p:spPr/>
        <p:txBody>
          <a:bodyPr/>
          <a:lstStyle/>
          <a:p>
            <a:pPr>
              <a:defRPr/>
            </a:pPr>
            <a:fld id="{72682330-DDB7-47C0-8BEC-295D3A41AB1F}" type="slidenum">
              <a:rPr lang="en-US" smtClean="0"/>
              <a:pPr>
                <a:defRPr/>
              </a:pPr>
              <a:t>48</a:t>
            </a:fld>
            <a:endParaRPr lang="en-US" dirty="0"/>
          </a:p>
        </p:txBody>
      </p:sp>
      <p:sp>
        <p:nvSpPr>
          <p:cNvPr id="6" name="Date Placeholder 5">
            <a:extLst>
              <a:ext uri="{FF2B5EF4-FFF2-40B4-BE49-F238E27FC236}">
                <a16:creationId xmlns:a16="http://schemas.microsoft.com/office/drawing/2014/main" id="{C68A7A63-4951-40BE-9AE9-C5F41E344BED}"/>
              </a:ext>
            </a:extLst>
          </p:cNvPr>
          <p:cNvSpPr>
            <a:spLocks noGrp="1"/>
          </p:cNvSpPr>
          <p:nvPr>
            <p:ph type="dt" sz="half" idx="12"/>
          </p:nvPr>
        </p:nvSpPr>
        <p:spPr/>
        <p:txBody>
          <a:bodyPr/>
          <a:lstStyle/>
          <a:p>
            <a:pPr>
              <a:defRPr/>
            </a:pPr>
            <a:r>
              <a:rPr lang="en-US"/>
              <a:t>Fall 2021</a:t>
            </a:r>
            <a:endParaRPr lang="en-CA" dirty="0"/>
          </a:p>
        </p:txBody>
      </p:sp>
      <p:pic>
        <p:nvPicPr>
          <p:cNvPr id="8" name="Picture 7" descr="A picture containing drawing&#10;&#10;Description automatically generated">
            <a:extLst>
              <a:ext uri="{FF2B5EF4-FFF2-40B4-BE49-F238E27FC236}">
                <a16:creationId xmlns:a16="http://schemas.microsoft.com/office/drawing/2014/main" id="{14B9D058-11F0-4A15-9A6B-77EFCB4E65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845" y="1905000"/>
            <a:ext cx="2267909" cy="963251"/>
          </a:xfrm>
          <a:prstGeom prst="rect">
            <a:avLst/>
          </a:prstGeom>
        </p:spPr>
      </p:pic>
      <p:pic>
        <p:nvPicPr>
          <p:cNvPr id="10" name="Picture 9" descr="A close up of a sign&#10;&#10;Description automatically generated">
            <a:extLst>
              <a:ext uri="{FF2B5EF4-FFF2-40B4-BE49-F238E27FC236}">
                <a16:creationId xmlns:a16="http://schemas.microsoft.com/office/drawing/2014/main" id="{BE2F0F3D-04BE-4CEE-ADA4-5096C03959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38045" y="1905000"/>
            <a:ext cx="2267909" cy="963251"/>
          </a:xfrm>
          <a:prstGeom prst="rect">
            <a:avLst/>
          </a:prstGeom>
        </p:spPr>
      </p:pic>
      <p:pic>
        <p:nvPicPr>
          <p:cNvPr id="12" name="Picture 11" descr="A picture containing drawing, clock&#10;&#10;Description automatically generated">
            <a:extLst>
              <a:ext uri="{FF2B5EF4-FFF2-40B4-BE49-F238E27FC236}">
                <a16:creationId xmlns:a16="http://schemas.microsoft.com/office/drawing/2014/main" id="{704CDAC0-DA98-42F4-AAA8-BF29AF3918C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144" y="1905000"/>
            <a:ext cx="2261812" cy="951058"/>
          </a:xfrm>
          <a:prstGeom prst="rect">
            <a:avLst/>
          </a:prstGeom>
        </p:spPr>
      </p:pic>
      <p:graphicFrame>
        <p:nvGraphicFramePr>
          <p:cNvPr id="14" name="Table 9">
            <a:extLst>
              <a:ext uri="{FF2B5EF4-FFF2-40B4-BE49-F238E27FC236}">
                <a16:creationId xmlns:a16="http://schemas.microsoft.com/office/drawing/2014/main" id="{4700F032-1429-4C63-8298-1535F6239ADB}"/>
              </a:ext>
            </a:extLst>
          </p:cNvPr>
          <p:cNvGraphicFramePr>
            <a:graphicFrameLocks noGrp="1"/>
          </p:cNvGraphicFramePr>
          <p:nvPr/>
        </p:nvGraphicFramePr>
        <p:xfrm>
          <a:off x="1142999" y="3154680"/>
          <a:ext cx="1371600" cy="1112520"/>
        </p:xfrm>
        <a:graphic>
          <a:graphicData uri="http://schemas.openxmlformats.org/drawingml/2006/table">
            <a:tbl>
              <a:tblPr firstRow="1" bandRow="1">
                <a:tableStyleId>{3C2FFA5D-87B4-456A-9821-1D502468CF0F}</a:tableStyleId>
              </a:tblPr>
              <a:tblGrid>
                <a:gridCol w="685800">
                  <a:extLst>
                    <a:ext uri="{9D8B030D-6E8A-4147-A177-3AD203B41FA5}">
                      <a16:colId xmlns:a16="http://schemas.microsoft.com/office/drawing/2014/main" val="287580551"/>
                    </a:ext>
                  </a:extLst>
                </a:gridCol>
                <a:gridCol w="685800">
                  <a:extLst>
                    <a:ext uri="{9D8B030D-6E8A-4147-A177-3AD203B41FA5}">
                      <a16:colId xmlns:a16="http://schemas.microsoft.com/office/drawing/2014/main" val="3848652840"/>
                    </a:ext>
                  </a:extLst>
                </a:gridCol>
              </a:tblGrid>
              <a:tr h="370840">
                <a:tc>
                  <a:txBody>
                    <a:bodyPr/>
                    <a:lstStyle/>
                    <a:p>
                      <a:pPr algn="ctr"/>
                      <a:r>
                        <a:rPr lang="en-CA" dirty="0"/>
                        <a:t>A</a:t>
                      </a:r>
                    </a:p>
                  </a:txBody>
                  <a:tcPr/>
                </a:tc>
                <a:tc>
                  <a:txBody>
                    <a:bodyPr/>
                    <a:lstStyle/>
                    <a:p>
                      <a:pPr algn="ctr"/>
                      <a:r>
                        <a:rPr lang="en-CA" dirty="0"/>
                        <a:t>B</a:t>
                      </a:r>
                    </a:p>
                  </a:txBody>
                  <a:tcPr/>
                </a:tc>
                <a:extLst>
                  <a:ext uri="{0D108BD9-81ED-4DB2-BD59-A6C34878D82A}">
                    <a16:rowId xmlns:a16="http://schemas.microsoft.com/office/drawing/2014/main" val="2961602566"/>
                  </a:ext>
                </a:extLst>
              </a:tr>
              <a:tr h="370840">
                <a:tc>
                  <a:txBody>
                    <a:bodyPr/>
                    <a:lstStyle/>
                    <a:p>
                      <a:pPr algn="ctr"/>
                      <a:r>
                        <a:rPr lang="en-CA" dirty="0"/>
                        <a:t>0</a:t>
                      </a:r>
                    </a:p>
                  </a:txBody>
                  <a:tcPr/>
                </a:tc>
                <a:tc>
                  <a:txBody>
                    <a:bodyPr/>
                    <a:lstStyle/>
                    <a:p>
                      <a:pPr algn="ctr"/>
                      <a:r>
                        <a:rPr lang="en-CA" dirty="0"/>
                        <a:t>0</a:t>
                      </a:r>
                    </a:p>
                  </a:txBody>
                  <a:tcPr/>
                </a:tc>
                <a:extLst>
                  <a:ext uri="{0D108BD9-81ED-4DB2-BD59-A6C34878D82A}">
                    <a16:rowId xmlns:a16="http://schemas.microsoft.com/office/drawing/2014/main" val="1965663002"/>
                  </a:ext>
                </a:extLst>
              </a:tr>
              <a:tr h="370840">
                <a:tc>
                  <a:txBody>
                    <a:bodyPr/>
                    <a:lstStyle/>
                    <a:p>
                      <a:pPr algn="ctr"/>
                      <a:r>
                        <a:rPr lang="en-CA" dirty="0"/>
                        <a:t>1</a:t>
                      </a:r>
                    </a:p>
                  </a:txBody>
                  <a:tcPr/>
                </a:tc>
                <a:tc>
                  <a:txBody>
                    <a:bodyPr/>
                    <a:lstStyle/>
                    <a:p>
                      <a:pPr algn="ctr"/>
                      <a:r>
                        <a:rPr lang="en-CA" dirty="0"/>
                        <a:t>Z</a:t>
                      </a:r>
                    </a:p>
                  </a:txBody>
                  <a:tcPr/>
                </a:tc>
                <a:extLst>
                  <a:ext uri="{0D108BD9-81ED-4DB2-BD59-A6C34878D82A}">
                    <a16:rowId xmlns:a16="http://schemas.microsoft.com/office/drawing/2014/main" val="1482734216"/>
                  </a:ext>
                </a:extLst>
              </a:tr>
            </a:tbl>
          </a:graphicData>
        </a:graphic>
      </p:graphicFrame>
      <p:graphicFrame>
        <p:nvGraphicFramePr>
          <p:cNvPr id="16" name="Table 9">
            <a:extLst>
              <a:ext uri="{FF2B5EF4-FFF2-40B4-BE49-F238E27FC236}">
                <a16:creationId xmlns:a16="http://schemas.microsoft.com/office/drawing/2014/main" id="{516CA843-B430-4B1A-B5CC-B5C9BE7DD817}"/>
              </a:ext>
            </a:extLst>
          </p:cNvPr>
          <p:cNvGraphicFramePr>
            <a:graphicFrameLocks noGrp="1"/>
          </p:cNvGraphicFramePr>
          <p:nvPr/>
        </p:nvGraphicFramePr>
        <p:xfrm>
          <a:off x="3886199" y="3154680"/>
          <a:ext cx="1371600" cy="1112520"/>
        </p:xfrm>
        <a:graphic>
          <a:graphicData uri="http://schemas.openxmlformats.org/drawingml/2006/table">
            <a:tbl>
              <a:tblPr firstRow="1" bandRow="1">
                <a:tableStyleId>{3C2FFA5D-87B4-456A-9821-1D502468CF0F}</a:tableStyleId>
              </a:tblPr>
              <a:tblGrid>
                <a:gridCol w="685800">
                  <a:extLst>
                    <a:ext uri="{9D8B030D-6E8A-4147-A177-3AD203B41FA5}">
                      <a16:colId xmlns:a16="http://schemas.microsoft.com/office/drawing/2014/main" val="287580551"/>
                    </a:ext>
                  </a:extLst>
                </a:gridCol>
                <a:gridCol w="685800">
                  <a:extLst>
                    <a:ext uri="{9D8B030D-6E8A-4147-A177-3AD203B41FA5}">
                      <a16:colId xmlns:a16="http://schemas.microsoft.com/office/drawing/2014/main" val="3848652840"/>
                    </a:ext>
                  </a:extLst>
                </a:gridCol>
              </a:tblGrid>
              <a:tr h="370840">
                <a:tc>
                  <a:txBody>
                    <a:bodyPr/>
                    <a:lstStyle/>
                    <a:p>
                      <a:pPr algn="ctr"/>
                      <a:r>
                        <a:rPr lang="en-CA" dirty="0"/>
                        <a:t>A</a:t>
                      </a:r>
                    </a:p>
                  </a:txBody>
                  <a:tcPr/>
                </a:tc>
                <a:tc>
                  <a:txBody>
                    <a:bodyPr/>
                    <a:lstStyle/>
                    <a:p>
                      <a:pPr algn="ctr"/>
                      <a:r>
                        <a:rPr lang="en-CA" dirty="0"/>
                        <a:t>B</a:t>
                      </a:r>
                    </a:p>
                  </a:txBody>
                  <a:tcPr/>
                </a:tc>
                <a:extLst>
                  <a:ext uri="{0D108BD9-81ED-4DB2-BD59-A6C34878D82A}">
                    <a16:rowId xmlns:a16="http://schemas.microsoft.com/office/drawing/2014/main" val="2961602566"/>
                  </a:ext>
                </a:extLst>
              </a:tr>
              <a:tr h="370840">
                <a:tc>
                  <a:txBody>
                    <a:bodyPr/>
                    <a:lstStyle/>
                    <a:p>
                      <a:pPr algn="ctr"/>
                      <a:r>
                        <a:rPr lang="en-CA" dirty="0"/>
                        <a:t>0</a:t>
                      </a:r>
                    </a:p>
                  </a:txBody>
                  <a:tcPr/>
                </a:tc>
                <a:tc>
                  <a:txBody>
                    <a:bodyPr/>
                    <a:lstStyle/>
                    <a:p>
                      <a:pPr algn="ctr"/>
                      <a:r>
                        <a:rPr lang="en-CA" dirty="0"/>
                        <a:t>Z</a:t>
                      </a:r>
                    </a:p>
                  </a:txBody>
                  <a:tcPr/>
                </a:tc>
                <a:extLst>
                  <a:ext uri="{0D108BD9-81ED-4DB2-BD59-A6C34878D82A}">
                    <a16:rowId xmlns:a16="http://schemas.microsoft.com/office/drawing/2014/main" val="1965663002"/>
                  </a:ext>
                </a:extLst>
              </a:tr>
              <a:tr h="370840">
                <a:tc>
                  <a:txBody>
                    <a:bodyPr/>
                    <a:lstStyle/>
                    <a:p>
                      <a:pPr algn="ctr"/>
                      <a:r>
                        <a:rPr lang="en-CA" dirty="0"/>
                        <a:t>1</a:t>
                      </a:r>
                    </a:p>
                  </a:txBody>
                  <a:tcPr/>
                </a:tc>
                <a:tc>
                  <a:txBody>
                    <a:bodyPr/>
                    <a:lstStyle/>
                    <a:p>
                      <a:pPr algn="ctr"/>
                      <a:r>
                        <a:rPr lang="en-CA" dirty="0"/>
                        <a:t>0</a:t>
                      </a:r>
                    </a:p>
                  </a:txBody>
                  <a:tcPr/>
                </a:tc>
                <a:extLst>
                  <a:ext uri="{0D108BD9-81ED-4DB2-BD59-A6C34878D82A}">
                    <a16:rowId xmlns:a16="http://schemas.microsoft.com/office/drawing/2014/main" val="1482734216"/>
                  </a:ext>
                </a:extLst>
              </a:tr>
            </a:tbl>
          </a:graphicData>
        </a:graphic>
      </p:graphicFrame>
      <p:graphicFrame>
        <p:nvGraphicFramePr>
          <p:cNvPr id="18" name="Table 9">
            <a:extLst>
              <a:ext uri="{FF2B5EF4-FFF2-40B4-BE49-F238E27FC236}">
                <a16:creationId xmlns:a16="http://schemas.microsoft.com/office/drawing/2014/main" id="{19063DEA-3086-4C77-A7C7-A56DBFC0C149}"/>
              </a:ext>
            </a:extLst>
          </p:cNvPr>
          <p:cNvGraphicFramePr>
            <a:graphicFrameLocks noGrp="1"/>
          </p:cNvGraphicFramePr>
          <p:nvPr>
            <p:extLst>
              <p:ext uri="{D42A27DB-BD31-4B8C-83A1-F6EECF244321}">
                <p14:modId xmlns:p14="http://schemas.microsoft.com/office/powerpoint/2010/main" val="418825515"/>
              </p:ext>
            </p:extLst>
          </p:nvPr>
        </p:nvGraphicFramePr>
        <p:xfrm>
          <a:off x="6541250" y="3154680"/>
          <a:ext cx="1371600" cy="1854200"/>
        </p:xfrm>
        <a:graphic>
          <a:graphicData uri="http://schemas.openxmlformats.org/drawingml/2006/table">
            <a:tbl>
              <a:tblPr firstRow="1" bandRow="1">
                <a:tableStyleId>{3C2FFA5D-87B4-456A-9821-1D502468CF0F}</a:tableStyleId>
              </a:tblPr>
              <a:tblGrid>
                <a:gridCol w="457200">
                  <a:extLst>
                    <a:ext uri="{9D8B030D-6E8A-4147-A177-3AD203B41FA5}">
                      <a16:colId xmlns:a16="http://schemas.microsoft.com/office/drawing/2014/main" val="287580551"/>
                    </a:ext>
                  </a:extLst>
                </a:gridCol>
                <a:gridCol w="457200">
                  <a:extLst>
                    <a:ext uri="{9D8B030D-6E8A-4147-A177-3AD203B41FA5}">
                      <a16:colId xmlns:a16="http://schemas.microsoft.com/office/drawing/2014/main" val="3848652840"/>
                    </a:ext>
                  </a:extLst>
                </a:gridCol>
                <a:gridCol w="457200">
                  <a:extLst>
                    <a:ext uri="{9D8B030D-6E8A-4147-A177-3AD203B41FA5}">
                      <a16:colId xmlns:a16="http://schemas.microsoft.com/office/drawing/2014/main" val="3262824179"/>
                    </a:ext>
                  </a:extLst>
                </a:gridCol>
              </a:tblGrid>
              <a:tr h="370840">
                <a:tc>
                  <a:txBody>
                    <a:bodyPr/>
                    <a:lstStyle/>
                    <a:p>
                      <a:pPr algn="ctr"/>
                      <a:r>
                        <a:rPr lang="en-CA" dirty="0"/>
                        <a:t>A</a:t>
                      </a:r>
                    </a:p>
                  </a:txBody>
                  <a:tcPr/>
                </a:tc>
                <a:tc>
                  <a:txBody>
                    <a:bodyPr/>
                    <a:lstStyle/>
                    <a:p>
                      <a:pPr algn="ctr"/>
                      <a:r>
                        <a:rPr lang="en-CA" dirty="0"/>
                        <a:t>B</a:t>
                      </a:r>
                    </a:p>
                  </a:txBody>
                  <a:tcPr/>
                </a:tc>
                <a:tc>
                  <a:txBody>
                    <a:bodyPr/>
                    <a:lstStyle/>
                    <a:p>
                      <a:pPr algn="ctr"/>
                      <a:r>
                        <a:rPr lang="en-CA" dirty="0"/>
                        <a:t>C</a:t>
                      </a:r>
                    </a:p>
                  </a:txBody>
                  <a:tcPr/>
                </a:tc>
                <a:extLst>
                  <a:ext uri="{0D108BD9-81ED-4DB2-BD59-A6C34878D82A}">
                    <a16:rowId xmlns:a16="http://schemas.microsoft.com/office/drawing/2014/main" val="2961602566"/>
                  </a:ext>
                </a:extLst>
              </a:tr>
              <a:tr h="370840">
                <a:tc>
                  <a:txBody>
                    <a:bodyPr/>
                    <a:lstStyle/>
                    <a:p>
                      <a:pPr algn="ctr"/>
                      <a:r>
                        <a:rPr lang="en-CA" dirty="0"/>
                        <a:t>0</a:t>
                      </a:r>
                    </a:p>
                  </a:txBody>
                  <a:tcPr/>
                </a:tc>
                <a:tc>
                  <a:txBody>
                    <a:bodyPr/>
                    <a:lstStyle/>
                    <a:p>
                      <a:pPr algn="ctr"/>
                      <a:r>
                        <a:rPr lang="en-CA" dirty="0"/>
                        <a:t>0</a:t>
                      </a:r>
                    </a:p>
                  </a:txBody>
                  <a:tcPr/>
                </a:tc>
                <a:tc>
                  <a:txBody>
                    <a:bodyPr/>
                    <a:lstStyle/>
                    <a:p>
                      <a:pPr algn="ctr"/>
                      <a:r>
                        <a:rPr lang="en-CA" dirty="0"/>
                        <a:t>Z</a:t>
                      </a:r>
                    </a:p>
                  </a:txBody>
                  <a:tcPr/>
                </a:tc>
                <a:extLst>
                  <a:ext uri="{0D108BD9-81ED-4DB2-BD59-A6C34878D82A}">
                    <a16:rowId xmlns:a16="http://schemas.microsoft.com/office/drawing/2014/main" val="1965663002"/>
                  </a:ext>
                </a:extLst>
              </a:tr>
              <a:tr h="370840">
                <a:tc>
                  <a:txBody>
                    <a:bodyPr/>
                    <a:lstStyle/>
                    <a:p>
                      <a:pPr algn="ctr"/>
                      <a:r>
                        <a:rPr lang="en-CA" dirty="0"/>
                        <a:t>0</a:t>
                      </a:r>
                    </a:p>
                  </a:txBody>
                  <a:tcPr/>
                </a:tc>
                <a:tc>
                  <a:txBody>
                    <a:bodyPr/>
                    <a:lstStyle/>
                    <a:p>
                      <a:pPr algn="ctr"/>
                      <a:r>
                        <a:rPr lang="en-CA" dirty="0"/>
                        <a:t>1</a:t>
                      </a:r>
                    </a:p>
                  </a:txBody>
                  <a:tcPr/>
                </a:tc>
                <a:tc>
                  <a:txBody>
                    <a:bodyPr/>
                    <a:lstStyle/>
                    <a:p>
                      <a:pPr algn="ctr"/>
                      <a:r>
                        <a:rPr lang="en-CA" dirty="0"/>
                        <a:t>Z</a:t>
                      </a:r>
                    </a:p>
                  </a:txBody>
                  <a:tcPr/>
                </a:tc>
                <a:extLst>
                  <a:ext uri="{0D108BD9-81ED-4DB2-BD59-A6C34878D82A}">
                    <a16:rowId xmlns:a16="http://schemas.microsoft.com/office/drawing/2014/main" val="1482734216"/>
                  </a:ext>
                </a:extLst>
              </a:tr>
              <a:tr h="370840">
                <a:tc>
                  <a:txBody>
                    <a:bodyPr/>
                    <a:lstStyle/>
                    <a:p>
                      <a:pPr algn="ctr"/>
                      <a:r>
                        <a:rPr lang="en-CA" dirty="0"/>
                        <a:t>1</a:t>
                      </a:r>
                    </a:p>
                  </a:txBody>
                  <a:tcPr/>
                </a:tc>
                <a:tc>
                  <a:txBody>
                    <a:bodyPr/>
                    <a:lstStyle/>
                    <a:p>
                      <a:pPr algn="ctr"/>
                      <a:r>
                        <a:rPr lang="en-CA" dirty="0"/>
                        <a:t>0</a:t>
                      </a:r>
                    </a:p>
                  </a:txBody>
                  <a:tcPr/>
                </a:tc>
                <a:tc>
                  <a:txBody>
                    <a:bodyPr/>
                    <a:lstStyle/>
                    <a:p>
                      <a:pPr algn="ctr"/>
                      <a:r>
                        <a:rPr lang="en-CA" dirty="0"/>
                        <a:t>Z</a:t>
                      </a:r>
                    </a:p>
                  </a:txBody>
                  <a:tcPr/>
                </a:tc>
                <a:extLst>
                  <a:ext uri="{0D108BD9-81ED-4DB2-BD59-A6C34878D82A}">
                    <a16:rowId xmlns:a16="http://schemas.microsoft.com/office/drawing/2014/main" val="1849887607"/>
                  </a:ext>
                </a:extLst>
              </a:tr>
              <a:tr h="370840">
                <a:tc>
                  <a:txBody>
                    <a:bodyPr/>
                    <a:lstStyle/>
                    <a:p>
                      <a:pPr algn="ctr"/>
                      <a:r>
                        <a:rPr lang="en-CA" dirty="0"/>
                        <a:t>1</a:t>
                      </a:r>
                    </a:p>
                  </a:txBody>
                  <a:tcPr/>
                </a:tc>
                <a:tc>
                  <a:txBody>
                    <a:bodyPr/>
                    <a:lstStyle/>
                    <a:p>
                      <a:pPr algn="ctr"/>
                      <a:r>
                        <a:rPr lang="en-CA" dirty="0"/>
                        <a:t>1</a:t>
                      </a:r>
                    </a:p>
                  </a:txBody>
                  <a:tcPr/>
                </a:tc>
                <a:tc>
                  <a:txBody>
                    <a:bodyPr/>
                    <a:lstStyle/>
                    <a:p>
                      <a:pPr algn="ctr"/>
                      <a:r>
                        <a:rPr lang="en-CA" dirty="0"/>
                        <a:t>0</a:t>
                      </a:r>
                    </a:p>
                  </a:txBody>
                  <a:tcPr/>
                </a:tc>
                <a:extLst>
                  <a:ext uri="{0D108BD9-81ED-4DB2-BD59-A6C34878D82A}">
                    <a16:rowId xmlns:a16="http://schemas.microsoft.com/office/drawing/2014/main" val="3078186550"/>
                  </a:ext>
                </a:extLst>
              </a:tr>
            </a:tbl>
          </a:graphicData>
        </a:graphic>
      </p:graphicFrame>
    </p:spTree>
    <p:extLst>
      <p:ext uri="{BB962C8B-B14F-4D97-AF65-F5344CB8AC3E}">
        <p14:creationId xmlns:p14="http://schemas.microsoft.com/office/powerpoint/2010/main" val="9742089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A1C26-062B-438D-9E11-0985B2480B27}"/>
              </a:ext>
            </a:extLst>
          </p:cNvPr>
          <p:cNvSpPr>
            <a:spLocks noGrp="1"/>
          </p:cNvSpPr>
          <p:nvPr>
            <p:ph type="title"/>
          </p:nvPr>
        </p:nvSpPr>
        <p:spPr/>
        <p:txBody>
          <a:bodyPr/>
          <a:lstStyle/>
          <a:p>
            <a:r>
              <a:rPr lang="en-CA" dirty="0"/>
              <a:t>Open Drain Digital Logic Gate Examples</a:t>
            </a:r>
          </a:p>
        </p:txBody>
      </p:sp>
      <p:sp>
        <p:nvSpPr>
          <p:cNvPr id="3" name="Content Placeholder 2">
            <a:extLst>
              <a:ext uri="{FF2B5EF4-FFF2-40B4-BE49-F238E27FC236}">
                <a16:creationId xmlns:a16="http://schemas.microsoft.com/office/drawing/2014/main" id="{5213B1E4-6889-428F-BCC8-7F0021D3DB65}"/>
              </a:ext>
            </a:extLst>
          </p:cNvPr>
          <p:cNvSpPr>
            <a:spLocks noGrp="1"/>
          </p:cNvSpPr>
          <p:nvPr>
            <p:ph idx="1"/>
          </p:nvPr>
        </p:nvSpPr>
        <p:spPr/>
        <p:txBody>
          <a:bodyPr/>
          <a:lstStyle/>
          <a:p>
            <a:r>
              <a:rPr lang="en-CA" dirty="0"/>
              <a:t>Open drain output drivers are denoted using the symbol shown on the digital logic gates below:</a:t>
            </a:r>
          </a:p>
          <a:p>
            <a:endParaRPr lang="en-CA" dirty="0"/>
          </a:p>
          <a:p>
            <a:endParaRPr lang="en-CA" dirty="0"/>
          </a:p>
          <a:p>
            <a:endParaRPr lang="en-CA" dirty="0"/>
          </a:p>
          <a:p>
            <a:endParaRPr lang="en-CA" dirty="0"/>
          </a:p>
          <a:p>
            <a:endParaRPr lang="en-CA" dirty="0"/>
          </a:p>
          <a:p>
            <a:endParaRPr lang="en-CA" dirty="0"/>
          </a:p>
          <a:p>
            <a:r>
              <a:rPr lang="en-CA" dirty="0"/>
              <a:t>When producing the truth tables, you simply replace outputs of 1 with Z</a:t>
            </a:r>
          </a:p>
        </p:txBody>
      </p:sp>
      <p:sp>
        <p:nvSpPr>
          <p:cNvPr id="4" name="Footer Placeholder 3">
            <a:extLst>
              <a:ext uri="{FF2B5EF4-FFF2-40B4-BE49-F238E27FC236}">
                <a16:creationId xmlns:a16="http://schemas.microsoft.com/office/drawing/2014/main" id="{49379FE6-D7F2-40C3-A374-2E68469E7BA7}"/>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6A8A6885-18AB-4EF5-B29B-3259345677D0}"/>
              </a:ext>
            </a:extLst>
          </p:cNvPr>
          <p:cNvSpPr>
            <a:spLocks noGrp="1"/>
          </p:cNvSpPr>
          <p:nvPr>
            <p:ph type="sldNum" sz="quarter" idx="11"/>
          </p:nvPr>
        </p:nvSpPr>
        <p:spPr/>
        <p:txBody>
          <a:bodyPr/>
          <a:lstStyle/>
          <a:p>
            <a:pPr>
              <a:defRPr/>
            </a:pPr>
            <a:fld id="{72682330-DDB7-47C0-8BEC-295D3A41AB1F}" type="slidenum">
              <a:rPr lang="en-US" smtClean="0"/>
              <a:pPr>
                <a:defRPr/>
              </a:pPr>
              <a:t>49</a:t>
            </a:fld>
            <a:endParaRPr lang="en-US" dirty="0"/>
          </a:p>
        </p:txBody>
      </p:sp>
      <p:sp>
        <p:nvSpPr>
          <p:cNvPr id="6" name="Date Placeholder 5">
            <a:extLst>
              <a:ext uri="{FF2B5EF4-FFF2-40B4-BE49-F238E27FC236}">
                <a16:creationId xmlns:a16="http://schemas.microsoft.com/office/drawing/2014/main" id="{C68A7A63-4951-40BE-9AE9-C5F41E344BED}"/>
              </a:ext>
            </a:extLst>
          </p:cNvPr>
          <p:cNvSpPr>
            <a:spLocks noGrp="1"/>
          </p:cNvSpPr>
          <p:nvPr>
            <p:ph type="dt" sz="half" idx="12"/>
          </p:nvPr>
        </p:nvSpPr>
        <p:spPr/>
        <p:txBody>
          <a:bodyPr/>
          <a:lstStyle/>
          <a:p>
            <a:pPr>
              <a:defRPr/>
            </a:pPr>
            <a:r>
              <a:rPr lang="en-US"/>
              <a:t>Fall 2021</a:t>
            </a:r>
            <a:endParaRPr lang="en-CA" dirty="0"/>
          </a:p>
        </p:txBody>
      </p:sp>
      <p:pic>
        <p:nvPicPr>
          <p:cNvPr id="8" name="Picture 7" descr="A picture containing drawing&#10;&#10;Description automatically generated">
            <a:extLst>
              <a:ext uri="{FF2B5EF4-FFF2-40B4-BE49-F238E27FC236}">
                <a16:creationId xmlns:a16="http://schemas.microsoft.com/office/drawing/2014/main" id="{14B9D058-11F0-4A15-9A6B-77EFCB4E65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845" y="1905000"/>
            <a:ext cx="2267909" cy="963251"/>
          </a:xfrm>
          <a:prstGeom prst="rect">
            <a:avLst/>
          </a:prstGeom>
        </p:spPr>
      </p:pic>
      <p:pic>
        <p:nvPicPr>
          <p:cNvPr id="10" name="Picture 9" descr="A close up of a sign&#10;&#10;Description automatically generated">
            <a:extLst>
              <a:ext uri="{FF2B5EF4-FFF2-40B4-BE49-F238E27FC236}">
                <a16:creationId xmlns:a16="http://schemas.microsoft.com/office/drawing/2014/main" id="{BE2F0F3D-04BE-4CEE-ADA4-5096C03959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38045" y="1905000"/>
            <a:ext cx="2267909" cy="963251"/>
          </a:xfrm>
          <a:prstGeom prst="rect">
            <a:avLst/>
          </a:prstGeom>
        </p:spPr>
      </p:pic>
      <p:pic>
        <p:nvPicPr>
          <p:cNvPr id="12" name="Picture 11" descr="A picture containing drawing, clock&#10;&#10;Description automatically generated">
            <a:extLst>
              <a:ext uri="{FF2B5EF4-FFF2-40B4-BE49-F238E27FC236}">
                <a16:creationId xmlns:a16="http://schemas.microsoft.com/office/drawing/2014/main" id="{704CDAC0-DA98-42F4-AAA8-BF29AF3918C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144" y="1905000"/>
            <a:ext cx="2261812" cy="951058"/>
          </a:xfrm>
          <a:prstGeom prst="rect">
            <a:avLst/>
          </a:prstGeom>
        </p:spPr>
      </p:pic>
      <p:graphicFrame>
        <p:nvGraphicFramePr>
          <p:cNvPr id="14" name="Table 9">
            <a:extLst>
              <a:ext uri="{FF2B5EF4-FFF2-40B4-BE49-F238E27FC236}">
                <a16:creationId xmlns:a16="http://schemas.microsoft.com/office/drawing/2014/main" id="{4700F032-1429-4C63-8298-1535F6239ADB}"/>
              </a:ext>
            </a:extLst>
          </p:cNvPr>
          <p:cNvGraphicFramePr>
            <a:graphicFrameLocks noGrp="1"/>
          </p:cNvGraphicFramePr>
          <p:nvPr/>
        </p:nvGraphicFramePr>
        <p:xfrm>
          <a:off x="1142999" y="3154680"/>
          <a:ext cx="1371600" cy="1112520"/>
        </p:xfrm>
        <a:graphic>
          <a:graphicData uri="http://schemas.openxmlformats.org/drawingml/2006/table">
            <a:tbl>
              <a:tblPr firstRow="1" bandRow="1">
                <a:tableStyleId>{3C2FFA5D-87B4-456A-9821-1D502468CF0F}</a:tableStyleId>
              </a:tblPr>
              <a:tblGrid>
                <a:gridCol w="685800">
                  <a:extLst>
                    <a:ext uri="{9D8B030D-6E8A-4147-A177-3AD203B41FA5}">
                      <a16:colId xmlns:a16="http://schemas.microsoft.com/office/drawing/2014/main" val="287580551"/>
                    </a:ext>
                  </a:extLst>
                </a:gridCol>
                <a:gridCol w="685800">
                  <a:extLst>
                    <a:ext uri="{9D8B030D-6E8A-4147-A177-3AD203B41FA5}">
                      <a16:colId xmlns:a16="http://schemas.microsoft.com/office/drawing/2014/main" val="3848652840"/>
                    </a:ext>
                  </a:extLst>
                </a:gridCol>
              </a:tblGrid>
              <a:tr h="370840">
                <a:tc>
                  <a:txBody>
                    <a:bodyPr/>
                    <a:lstStyle/>
                    <a:p>
                      <a:pPr algn="ctr"/>
                      <a:r>
                        <a:rPr lang="en-CA" dirty="0"/>
                        <a:t>A</a:t>
                      </a:r>
                    </a:p>
                  </a:txBody>
                  <a:tcPr/>
                </a:tc>
                <a:tc>
                  <a:txBody>
                    <a:bodyPr/>
                    <a:lstStyle/>
                    <a:p>
                      <a:pPr algn="ctr"/>
                      <a:r>
                        <a:rPr lang="en-CA" dirty="0"/>
                        <a:t>B</a:t>
                      </a:r>
                    </a:p>
                  </a:txBody>
                  <a:tcPr/>
                </a:tc>
                <a:extLst>
                  <a:ext uri="{0D108BD9-81ED-4DB2-BD59-A6C34878D82A}">
                    <a16:rowId xmlns:a16="http://schemas.microsoft.com/office/drawing/2014/main" val="2961602566"/>
                  </a:ext>
                </a:extLst>
              </a:tr>
              <a:tr h="370840">
                <a:tc>
                  <a:txBody>
                    <a:bodyPr/>
                    <a:lstStyle/>
                    <a:p>
                      <a:pPr algn="ctr"/>
                      <a:r>
                        <a:rPr lang="en-CA" dirty="0"/>
                        <a:t>0</a:t>
                      </a:r>
                    </a:p>
                  </a:txBody>
                  <a:tcPr/>
                </a:tc>
                <a:tc>
                  <a:txBody>
                    <a:bodyPr/>
                    <a:lstStyle/>
                    <a:p>
                      <a:pPr algn="ctr"/>
                      <a:r>
                        <a:rPr lang="en-CA" dirty="0"/>
                        <a:t>0</a:t>
                      </a:r>
                    </a:p>
                  </a:txBody>
                  <a:tcPr/>
                </a:tc>
                <a:extLst>
                  <a:ext uri="{0D108BD9-81ED-4DB2-BD59-A6C34878D82A}">
                    <a16:rowId xmlns:a16="http://schemas.microsoft.com/office/drawing/2014/main" val="1965663002"/>
                  </a:ext>
                </a:extLst>
              </a:tr>
              <a:tr h="370840">
                <a:tc>
                  <a:txBody>
                    <a:bodyPr/>
                    <a:lstStyle/>
                    <a:p>
                      <a:pPr algn="ctr"/>
                      <a:r>
                        <a:rPr lang="en-CA" dirty="0"/>
                        <a:t>1</a:t>
                      </a:r>
                    </a:p>
                  </a:txBody>
                  <a:tcPr/>
                </a:tc>
                <a:tc>
                  <a:txBody>
                    <a:bodyPr/>
                    <a:lstStyle/>
                    <a:p>
                      <a:pPr algn="ctr"/>
                      <a:r>
                        <a:rPr lang="en-CA" dirty="0"/>
                        <a:t>Z</a:t>
                      </a:r>
                    </a:p>
                  </a:txBody>
                  <a:tcPr/>
                </a:tc>
                <a:extLst>
                  <a:ext uri="{0D108BD9-81ED-4DB2-BD59-A6C34878D82A}">
                    <a16:rowId xmlns:a16="http://schemas.microsoft.com/office/drawing/2014/main" val="1482734216"/>
                  </a:ext>
                </a:extLst>
              </a:tr>
            </a:tbl>
          </a:graphicData>
        </a:graphic>
      </p:graphicFrame>
      <p:graphicFrame>
        <p:nvGraphicFramePr>
          <p:cNvPr id="16" name="Table 9">
            <a:extLst>
              <a:ext uri="{FF2B5EF4-FFF2-40B4-BE49-F238E27FC236}">
                <a16:creationId xmlns:a16="http://schemas.microsoft.com/office/drawing/2014/main" id="{516CA843-B430-4B1A-B5CC-B5C9BE7DD817}"/>
              </a:ext>
            </a:extLst>
          </p:cNvPr>
          <p:cNvGraphicFramePr>
            <a:graphicFrameLocks noGrp="1"/>
          </p:cNvGraphicFramePr>
          <p:nvPr/>
        </p:nvGraphicFramePr>
        <p:xfrm>
          <a:off x="3886199" y="3154680"/>
          <a:ext cx="1371600" cy="1112520"/>
        </p:xfrm>
        <a:graphic>
          <a:graphicData uri="http://schemas.openxmlformats.org/drawingml/2006/table">
            <a:tbl>
              <a:tblPr firstRow="1" bandRow="1">
                <a:tableStyleId>{3C2FFA5D-87B4-456A-9821-1D502468CF0F}</a:tableStyleId>
              </a:tblPr>
              <a:tblGrid>
                <a:gridCol w="685800">
                  <a:extLst>
                    <a:ext uri="{9D8B030D-6E8A-4147-A177-3AD203B41FA5}">
                      <a16:colId xmlns:a16="http://schemas.microsoft.com/office/drawing/2014/main" val="287580551"/>
                    </a:ext>
                  </a:extLst>
                </a:gridCol>
                <a:gridCol w="685800">
                  <a:extLst>
                    <a:ext uri="{9D8B030D-6E8A-4147-A177-3AD203B41FA5}">
                      <a16:colId xmlns:a16="http://schemas.microsoft.com/office/drawing/2014/main" val="3848652840"/>
                    </a:ext>
                  </a:extLst>
                </a:gridCol>
              </a:tblGrid>
              <a:tr h="370840">
                <a:tc>
                  <a:txBody>
                    <a:bodyPr/>
                    <a:lstStyle/>
                    <a:p>
                      <a:pPr algn="ctr"/>
                      <a:r>
                        <a:rPr lang="en-CA" dirty="0"/>
                        <a:t>A</a:t>
                      </a:r>
                    </a:p>
                  </a:txBody>
                  <a:tcPr/>
                </a:tc>
                <a:tc>
                  <a:txBody>
                    <a:bodyPr/>
                    <a:lstStyle/>
                    <a:p>
                      <a:pPr algn="ctr"/>
                      <a:r>
                        <a:rPr lang="en-CA" dirty="0"/>
                        <a:t>B</a:t>
                      </a:r>
                    </a:p>
                  </a:txBody>
                  <a:tcPr/>
                </a:tc>
                <a:extLst>
                  <a:ext uri="{0D108BD9-81ED-4DB2-BD59-A6C34878D82A}">
                    <a16:rowId xmlns:a16="http://schemas.microsoft.com/office/drawing/2014/main" val="2961602566"/>
                  </a:ext>
                </a:extLst>
              </a:tr>
              <a:tr h="370840">
                <a:tc>
                  <a:txBody>
                    <a:bodyPr/>
                    <a:lstStyle/>
                    <a:p>
                      <a:pPr algn="ctr"/>
                      <a:r>
                        <a:rPr lang="en-CA" dirty="0"/>
                        <a:t>0</a:t>
                      </a:r>
                    </a:p>
                  </a:txBody>
                  <a:tcPr/>
                </a:tc>
                <a:tc>
                  <a:txBody>
                    <a:bodyPr/>
                    <a:lstStyle/>
                    <a:p>
                      <a:pPr algn="ctr"/>
                      <a:r>
                        <a:rPr lang="en-CA" dirty="0"/>
                        <a:t>Z</a:t>
                      </a:r>
                    </a:p>
                  </a:txBody>
                  <a:tcPr/>
                </a:tc>
                <a:extLst>
                  <a:ext uri="{0D108BD9-81ED-4DB2-BD59-A6C34878D82A}">
                    <a16:rowId xmlns:a16="http://schemas.microsoft.com/office/drawing/2014/main" val="1965663002"/>
                  </a:ext>
                </a:extLst>
              </a:tr>
              <a:tr h="370840">
                <a:tc>
                  <a:txBody>
                    <a:bodyPr/>
                    <a:lstStyle/>
                    <a:p>
                      <a:pPr algn="ctr"/>
                      <a:r>
                        <a:rPr lang="en-CA" dirty="0"/>
                        <a:t>1</a:t>
                      </a:r>
                    </a:p>
                  </a:txBody>
                  <a:tcPr/>
                </a:tc>
                <a:tc>
                  <a:txBody>
                    <a:bodyPr/>
                    <a:lstStyle/>
                    <a:p>
                      <a:pPr algn="ctr"/>
                      <a:r>
                        <a:rPr lang="en-CA" dirty="0"/>
                        <a:t>0</a:t>
                      </a:r>
                    </a:p>
                  </a:txBody>
                  <a:tcPr/>
                </a:tc>
                <a:extLst>
                  <a:ext uri="{0D108BD9-81ED-4DB2-BD59-A6C34878D82A}">
                    <a16:rowId xmlns:a16="http://schemas.microsoft.com/office/drawing/2014/main" val="1482734216"/>
                  </a:ext>
                </a:extLst>
              </a:tr>
            </a:tbl>
          </a:graphicData>
        </a:graphic>
      </p:graphicFrame>
      <p:graphicFrame>
        <p:nvGraphicFramePr>
          <p:cNvPr id="18" name="Table 9">
            <a:extLst>
              <a:ext uri="{FF2B5EF4-FFF2-40B4-BE49-F238E27FC236}">
                <a16:creationId xmlns:a16="http://schemas.microsoft.com/office/drawing/2014/main" id="{19063DEA-3086-4C77-A7C7-A56DBFC0C149}"/>
              </a:ext>
            </a:extLst>
          </p:cNvPr>
          <p:cNvGraphicFramePr>
            <a:graphicFrameLocks noGrp="1"/>
          </p:cNvGraphicFramePr>
          <p:nvPr>
            <p:extLst>
              <p:ext uri="{D42A27DB-BD31-4B8C-83A1-F6EECF244321}">
                <p14:modId xmlns:p14="http://schemas.microsoft.com/office/powerpoint/2010/main" val="2742827830"/>
              </p:ext>
            </p:extLst>
          </p:nvPr>
        </p:nvGraphicFramePr>
        <p:xfrm>
          <a:off x="6541250" y="3154680"/>
          <a:ext cx="1371600" cy="1854200"/>
        </p:xfrm>
        <a:graphic>
          <a:graphicData uri="http://schemas.openxmlformats.org/drawingml/2006/table">
            <a:tbl>
              <a:tblPr firstRow="1" bandRow="1">
                <a:tableStyleId>{3C2FFA5D-87B4-456A-9821-1D502468CF0F}</a:tableStyleId>
              </a:tblPr>
              <a:tblGrid>
                <a:gridCol w="457200">
                  <a:extLst>
                    <a:ext uri="{9D8B030D-6E8A-4147-A177-3AD203B41FA5}">
                      <a16:colId xmlns:a16="http://schemas.microsoft.com/office/drawing/2014/main" val="287580551"/>
                    </a:ext>
                  </a:extLst>
                </a:gridCol>
                <a:gridCol w="457200">
                  <a:extLst>
                    <a:ext uri="{9D8B030D-6E8A-4147-A177-3AD203B41FA5}">
                      <a16:colId xmlns:a16="http://schemas.microsoft.com/office/drawing/2014/main" val="3848652840"/>
                    </a:ext>
                  </a:extLst>
                </a:gridCol>
                <a:gridCol w="457200">
                  <a:extLst>
                    <a:ext uri="{9D8B030D-6E8A-4147-A177-3AD203B41FA5}">
                      <a16:colId xmlns:a16="http://schemas.microsoft.com/office/drawing/2014/main" val="3262824179"/>
                    </a:ext>
                  </a:extLst>
                </a:gridCol>
              </a:tblGrid>
              <a:tr h="370840">
                <a:tc>
                  <a:txBody>
                    <a:bodyPr/>
                    <a:lstStyle/>
                    <a:p>
                      <a:pPr algn="ctr"/>
                      <a:r>
                        <a:rPr lang="en-CA" dirty="0"/>
                        <a:t>A</a:t>
                      </a:r>
                    </a:p>
                  </a:txBody>
                  <a:tcPr/>
                </a:tc>
                <a:tc>
                  <a:txBody>
                    <a:bodyPr/>
                    <a:lstStyle/>
                    <a:p>
                      <a:pPr algn="ctr"/>
                      <a:r>
                        <a:rPr lang="en-CA" dirty="0"/>
                        <a:t>B</a:t>
                      </a:r>
                    </a:p>
                  </a:txBody>
                  <a:tcPr/>
                </a:tc>
                <a:tc>
                  <a:txBody>
                    <a:bodyPr/>
                    <a:lstStyle/>
                    <a:p>
                      <a:pPr algn="ctr"/>
                      <a:r>
                        <a:rPr lang="en-CA" dirty="0"/>
                        <a:t>C</a:t>
                      </a:r>
                    </a:p>
                  </a:txBody>
                  <a:tcPr/>
                </a:tc>
                <a:extLst>
                  <a:ext uri="{0D108BD9-81ED-4DB2-BD59-A6C34878D82A}">
                    <a16:rowId xmlns:a16="http://schemas.microsoft.com/office/drawing/2014/main" val="2961602566"/>
                  </a:ext>
                </a:extLst>
              </a:tr>
              <a:tr h="370840">
                <a:tc>
                  <a:txBody>
                    <a:bodyPr/>
                    <a:lstStyle/>
                    <a:p>
                      <a:pPr algn="ctr"/>
                      <a:r>
                        <a:rPr lang="en-CA" dirty="0"/>
                        <a:t>0</a:t>
                      </a:r>
                    </a:p>
                  </a:txBody>
                  <a:tcPr/>
                </a:tc>
                <a:tc>
                  <a:txBody>
                    <a:bodyPr/>
                    <a:lstStyle/>
                    <a:p>
                      <a:pPr algn="ctr"/>
                      <a:r>
                        <a:rPr lang="en-CA" dirty="0"/>
                        <a:t>0</a:t>
                      </a:r>
                    </a:p>
                  </a:txBody>
                  <a:tcPr/>
                </a:tc>
                <a:tc>
                  <a:txBody>
                    <a:bodyPr/>
                    <a:lstStyle/>
                    <a:p>
                      <a:pPr algn="ctr"/>
                      <a:r>
                        <a:rPr lang="en-CA" dirty="0"/>
                        <a:t>Z</a:t>
                      </a:r>
                    </a:p>
                  </a:txBody>
                  <a:tcPr/>
                </a:tc>
                <a:extLst>
                  <a:ext uri="{0D108BD9-81ED-4DB2-BD59-A6C34878D82A}">
                    <a16:rowId xmlns:a16="http://schemas.microsoft.com/office/drawing/2014/main" val="1965663002"/>
                  </a:ext>
                </a:extLst>
              </a:tr>
              <a:tr h="370840">
                <a:tc>
                  <a:txBody>
                    <a:bodyPr/>
                    <a:lstStyle/>
                    <a:p>
                      <a:pPr algn="ctr"/>
                      <a:r>
                        <a:rPr lang="en-CA" dirty="0"/>
                        <a:t>0</a:t>
                      </a:r>
                    </a:p>
                  </a:txBody>
                  <a:tcPr/>
                </a:tc>
                <a:tc>
                  <a:txBody>
                    <a:bodyPr/>
                    <a:lstStyle/>
                    <a:p>
                      <a:pPr algn="ctr"/>
                      <a:r>
                        <a:rPr lang="en-CA" dirty="0"/>
                        <a:t>1</a:t>
                      </a:r>
                    </a:p>
                  </a:txBody>
                  <a:tcPr/>
                </a:tc>
                <a:tc>
                  <a:txBody>
                    <a:bodyPr/>
                    <a:lstStyle/>
                    <a:p>
                      <a:pPr algn="ctr"/>
                      <a:r>
                        <a:rPr lang="en-CA" dirty="0"/>
                        <a:t>Z</a:t>
                      </a:r>
                    </a:p>
                  </a:txBody>
                  <a:tcPr/>
                </a:tc>
                <a:extLst>
                  <a:ext uri="{0D108BD9-81ED-4DB2-BD59-A6C34878D82A}">
                    <a16:rowId xmlns:a16="http://schemas.microsoft.com/office/drawing/2014/main" val="1482734216"/>
                  </a:ext>
                </a:extLst>
              </a:tr>
              <a:tr h="370840">
                <a:tc>
                  <a:txBody>
                    <a:bodyPr/>
                    <a:lstStyle/>
                    <a:p>
                      <a:pPr algn="ctr"/>
                      <a:r>
                        <a:rPr lang="en-CA" dirty="0"/>
                        <a:t>1</a:t>
                      </a:r>
                    </a:p>
                  </a:txBody>
                  <a:tcPr/>
                </a:tc>
                <a:tc>
                  <a:txBody>
                    <a:bodyPr/>
                    <a:lstStyle/>
                    <a:p>
                      <a:pPr algn="ctr"/>
                      <a:r>
                        <a:rPr lang="en-CA" dirty="0"/>
                        <a:t>0</a:t>
                      </a:r>
                    </a:p>
                  </a:txBody>
                  <a:tcPr/>
                </a:tc>
                <a:tc>
                  <a:txBody>
                    <a:bodyPr/>
                    <a:lstStyle/>
                    <a:p>
                      <a:pPr algn="ctr"/>
                      <a:r>
                        <a:rPr lang="en-CA" dirty="0"/>
                        <a:t>Z</a:t>
                      </a:r>
                    </a:p>
                  </a:txBody>
                  <a:tcPr/>
                </a:tc>
                <a:extLst>
                  <a:ext uri="{0D108BD9-81ED-4DB2-BD59-A6C34878D82A}">
                    <a16:rowId xmlns:a16="http://schemas.microsoft.com/office/drawing/2014/main" val="1849887607"/>
                  </a:ext>
                </a:extLst>
              </a:tr>
              <a:tr h="370840">
                <a:tc>
                  <a:txBody>
                    <a:bodyPr/>
                    <a:lstStyle/>
                    <a:p>
                      <a:pPr algn="ctr"/>
                      <a:r>
                        <a:rPr lang="en-CA" dirty="0"/>
                        <a:t>1</a:t>
                      </a:r>
                    </a:p>
                  </a:txBody>
                  <a:tcPr/>
                </a:tc>
                <a:tc>
                  <a:txBody>
                    <a:bodyPr/>
                    <a:lstStyle/>
                    <a:p>
                      <a:pPr algn="ctr"/>
                      <a:r>
                        <a:rPr lang="en-CA" dirty="0"/>
                        <a:t>1</a:t>
                      </a:r>
                    </a:p>
                  </a:txBody>
                  <a:tcPr/>
                </a:tc>
                <a:tc>
                  <a:txBody>
                    <a:bodyPr/>
                    <a:lstStyle/>
                    <a:p>
                      <a:pPr algn="ctr"/>
                      <a:r>
                        <a:rPr lang="en-CA"/>
                        <a:t>0</a:t>
                      </a:r>
                      <a:endParaRPr lang="en-CA" dirty="0"/>
                    </a:p>
                  </a:txBody>
                  <a:tcPr/>
                </a:tc>
                <a:extLst>
                  <a:ext uri="{0D108BD9-81ED-4DB2-BD59-A6C34878D82A}">
                    <a16:rowId xmlns:a16="http://schemas.microsoft.com/office/drawing/2014/main" val="3078186550"/>
                  </a:ext>
                </a:extLst>
              </a:tr>
            </a:tbl>
          </a:graphicData>
        </a:graphic>
      </p:graphicFrame>
    </p:spTree>
    <p:extLst>
      <p:ext uri="{BB962C8B-B14F-4D97-AF65-F5344CB8AC3E}">
        <p14:creationId xmlns:p14="http://schemas.microsoft.com/office/powerpoint/2010/main" val="251740592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56CD2-1197-4F97-B994-401C23D9B857}"/>
              </a:ext>
            </a:extLst>
          </p:cNvPr>
          <p:cNvSpPr>
            <a:spLocks noGrp="1"/>
          </p:cNvSpPr>
          <p:nvPr>
            <p:ph type="title"/>
          </p:nvPr>
        </p:nvSpPr>
        <p:spPr/>
        <p:txBody>
          <a:bodyPr/>
          <a:lstStyle/>
          <a:p>
            <a:r>
              <a:rPr lang="en-CA" dirty="0"/>
              <a:t>Open Source Output Drivers</a:t>
            </a:r>
          </a:p>
        </p:txBody>
      </p:sp>
      <p:sp>
        <p:nvSpPr>
          <p:cNvPr id="3" name="Content Placeholder 2">
            <a:extLst>
              <a:ext uri="{FF2B5EF4-FFF2-40B4-BE49-F238E27FC236}">
                <a16:creationId xmlns:a16="http://schemas.microsoft.com/office/drawing/2014/main" id="{087ED328-6BCC-44B7-A429-9AD8E49929E1}"/>
              </a:ext>
            </a:extLst>
          </p:cNvPr>
          <p:cNvSpPr>
            <a:spLocks noGrp="1"/>
          </p:cNvSpPr>
          <p:nvPr>
            <p:ph idx="1"/>
          </p:nvPr>
        </p:nvSpPr>
        <p:spPr/>
        <p:txBody>
          <a:bodyPr/>
          <a:lstStyle/>
          <a:p>
            <a:r>
              <a:rPr lang="en-CA" dirty="0"/>
              <a:t>Any digital logic gate can be implemented with open source output drivers</a:t>
            </a:r>
          </a:p>
        </p:txBody>
      </p:sp>
      <p:sp>
        <p:nvSpPr>
          <p:cNvPr id="4" name="Footer Placeholder 3">
            <a:extLst>
              <a:ext uri="{FF2B5EF4-FFF2-40B4-BE49-F238E27FC236}">
                <a16:creationId xmlns:a16="http://schemas.microsoft.com/office/drawing/2014/main" id="{4675A7C8-CAF7-47BD-9AE0-25975E9C010A}"/>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CD2F22F3-2E1E-41A1-8209-1A5C629333DE}"/>
              </a:ext>
            </a:extLst>
          </p:cNvPr>
          <p:cNvSpPr>
            <a:spLocks noGrp="1"/>
          </p:cNvSpPr>
          <p:nvPr>
            <p:ph type="sldNum" sz="quarter" idx="11"/>
          </p:nvPr>
        </p:nvSpPr>
        <p:spPr/>
        <p:txBody>
          <a:bodyPr/>
          <a:lstStyle/>
          <a:p>
            <a:pPr>
              <a:defRPr/>
            </a:pPr>
            <a:fld id="{72682330-DDB7-47C0-8BEC-295D3A41AB1F}" type="slidenum">
              <a:rPr lang="en-US" smtClean="0"/>
              <a:pPr>
                <a:defRPr/>
              </a:pPr>
              <a:t>50</a:t>
            </a:fld>
            <a:endParaRPr lang="en-US" dirty="0"/>
          </a:p>
        </p:txBody>
      </p:sp>
      <p:sp>
        <p:nvSpPr>
          <p:cNvPr id="6" name="Date Placeholder 5">
            <a:extLst>
              <a:ext uri="{FF2B5EF4-FFF2-40B4-BE49-F238E27FC236}">
                <a16:creationId xmlns:a16="http://schemas.microsoft.com/office/drawing/2014/main" id="{12F15531-47EB-4B91-B71B-D51E0A67E839}"/>
              </a:ext>
            </a:extLst>
          </p:cNvPr>
          <p:cNvSpPr>
            <a:spLocks noGrp="1"/>
          </p:cNvSpPr>
          <p:nvPr>
            <p:ph type="dt" sz="half" idx="12"/>
          </p:nvPr>
        </p:nvSpPr>
        <p:spPr/>
        <p:txBody>
          <a:bodyPr/>
          <a:lstStyle/>
          <a:p>
            <a:pPr>
              <a:defRPr/>
            </a:pPr>
            <a:r>
              <a:rPr lang="en-US"/>
              <a:t>Fall 2021</a:t>
            </a:r>
            <a:endParaRPr lang="en-CA" dirty="0"/>
          </a:p>
        </p:txBody>
      </p:sp>
    </p:spTree>
    <p:extLst>
      <p:ext uri="{BB962C8B-B14F-4D97-AF65-F5344CB8AC3E}">
        <p14:creationId xmlns:p14="http://schemas.microsoft.com/office/powerpoint/2010/main" val="121103254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56CD2-1197-4F97-B994-401C23D9B857}"/>
              </a:ext>
            </a:extLst>
          </p:cNvPr>
          <p:cNvSpPr>
            <a:spLocks noGrp="1"/>
          </p:cNvSpPr>
          <p:nvPr>
            <p:ph type="title"/>
          </p:nvPr>
        </p:nvSpPr>
        <p:spPr/>
        <p:txBody>
          <a:bodyPr/>
          <a:lstStyle/>
          <a:p>
            <a:r>
              <a:rPr lang="en-CA" dirty="0"/>
              <a:t>Open Source Output Drivers</a:t>
            </a:r>
          </a:p>
        </p:txBody>
      </p:sp>
      <p:sp>
        <p:nvSpPr>
          <p:cNvPr id="3" name="Content Placeholder 2">
            <a:extLst>
              <a:ext uri="{FF2B5EF4-FFF2-40B4-BE49-F238E27FC236}">
                <a16:creationId xmlns:a16="http://schemas.microsoft.com/office/drawing/2014/main" id="{087ED328-6BCC-44B7-A429-9AD8E49929E1}"/>
              </a:ext>
            </a:extLst>
          </p:cNvPr>
          <p:cNvSpPr>
            <a:spLocks noGrp="1"/>
          </p:cNvSpPr>
          <p:nvPr>
            <p:ph idx="1"/>
          </p:nvPr>
        </p:nvSpPr>
        <p:spPr/>
        <p:txBody>
          <a:bodyPr/>
          <a:lstStyle/>
          <a:p>
            <a:r>
              <a:rPr lang="en-CA" dirty="0"/>
              <a:t>Any digital logic gate can be implemented with open source output drivers</a:t>
            </a:r>
          </a:p>
          <a:p>
            <a:r>
              <a:rPr lang="en-CA" dirty="0"/>
              <a:t>An open source output driver can output either 1 or Z</a:t>
            </a:r>
          </a:p>
        </p:txBody>
      </p:sp>
      <p:sp>
        <p:nvSpPr>
          <p:cNvPr id="4" name="Footer Placeholder 3">
            <a:extLst>
              <a:ext uri="{FF2B5EF4-FFF2-40B4-BE49-F238E27FC236}">
                <a16:creationId xmlns:a16="http://schemas.microsoft.com/office/drawing/2014/main" id="{4675A7C8-CAF7-47BD-9AE0-25975E9C010A}"/>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CD2F22F3-2E1E-41A1-8209-1A5C629333DE}"/>
              </a:ext>
            </a:extLst>
          </p:cNvPr>
          <p:cNvSpPr>
            <a:spLocks noGrp="1"/>
          </p:cNvSpPr>
          <p:nvPr>
            <p:ph type="sldNum" sz="quarter" idx="11"/>
          </p:nvPr>
        </p:nvSpPr>
        <p:spPr/>
        <p:txBody>
          <a:bodyPr/>
          <a:lstStyle/>
          <a:p>
            <a:pPr>
              <a:defRPr/>
            </a:pPr>
            <a:fld id="{72682330-DDB7-47C0-8BEC-295D3A41AB1F}" type="slidenum">
              <a:rPr lang="en-US" smtClean="0"/>
              <a:pPr>
                <a:defRPr/>
              </a:pPr>
              <a:t>51</a:t>
            </a:fld>
            <a:endParaRPr lang="en-US" dirty="0"/>
          </a:p>
        </p:txBody>
      </p:sp>
      <p:sp>
        <p:nvSpPr>
          <p:cNvPr id="6" name="Date Placeholder 5">
            <a:extLst>
              <a:ext uri="{FF2B5EF4-FFF2-40B4-BE49-F238E27FC236}">
                <a16:creationId xmlns:a16="http://schemas.microsoft.com/office/drawing/2014/main" id="{12F15531-47EB-4B91-B71B-D51E0A67E839}"/>
              </a:ext>
            </a:extLst>
          </p:cNvPr>
          <p:cNvSpPr>
            <a:spLocks noGrp="1"/>
          </p:cNvSpPr>
          <p:nvPr>
            <p:ph type="dt" sz="half" idx="12"/>
          </p:nvPr>
        </p:nvSpPr>
        <p:spPr/>
        <p:txBody>
          <a:bodyPr/>
          <a:lstStyle/>
          <a:p>
            <a:pPr>
              <a:defRPr/>
            </a:pPr>
            <a:r>
              <a:rPr lang="en-US"/>
              <a:t>Fall 2021</a:t>
            </a:r>
            <a:endParaRPr lang="en-CA" dirty="0"/>
          </a:p>
        </p:txBody>
      </p:sp>
    </p:spTree>
    <p:extLst>
      <p:ext uri="{BB962C8B-B14F-4D97-AF65-F5344CB8AC3E}">
        <p14:creationId xmlns:p14="http://schemas.microsoft.com/office/powerpoint/2010/main" val="80702734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A1C26-062B-438D-9E11-0985B2480B27}"/>
              </a:ext>
            </a:extLst>
          </p:cNvPr>
          <p:cNvSpPr>
            <a:spLocks noGrp="1"/>
          </p:cNvSpPr>
          <p:nvPr>
            <p:ph type="title"/>
          </p:nvPr>
        </p:nvSpPr>
        <p:spPr/>
        <p:txBody>
          <a:bodyPr/>
          <a:lstStyle/>
          <a:p>
            <a:r>
              <a:rPr lang="en-CA" dirty="0"/>
              <a:t>Open Source Digital Logic Gate Examples</a:t>
            </a:r>
          </a:p>
        </p:txBody>
      </p:sp>
      <p:sp>
        <p:nvSpPr>
          <p:cNvPr id="3" name="Content Placeholder 2">
            <a:extLst>
              <a:ext uri="{FF2B5EF4-FFF2-40B4-BE49-F238E27FC236}">
                <a16:creationId xmlns:a16="http://schemas.microsoft.com/office/drawing/2014/main" id="{5213B1E4-6889-428F-BCC8-7F0021D3DB65}"/>
              </a:ext>
            </a:extLst>
          </p:cNvPr>
          <p:cNvSpPr>
            <a:spLocks noGrp="1"/>
          </p:cNvSpPr>
          <p:nvPr>
            <p:ph idx="1"/>
          </p:nvPr>
        </p:nvSpPr>
        <p:spPr/>
        <p:txBody>
          <a:bodyPr/>
          <a:lstStyle/>
          <a:p>
            <a:r>
              <a:rPr lang="en-CA" dirty="0"/>
              <a:t>Open source output drivers are denoted using the symbol shown on the digital logic gates below:</a:t>
            </a:r>
          </a:p>
        </p:txBody>
      </p:sp>
      <p:sp>
        <p:nvSpPr>
          <p:cNvPr id="4" name="Footer Placeholder 3">
            <a:extLst>
              <a:ext uri="{FF2B5EF4-FFF2-40B4-BE49-F238E27FC236}">
                <a16:creationId xmlns:a16="http://schemas.microsoft.com/office/drawing/2014/main" id="{49379FE6-D7F2-40C3-A374-2E68469E7BA7}"/>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6A8A6885-18AB-4EF5-B29B-3259345677D0}"/>
              </a:ext>
            </a:extLst>
          </p:cNvPr>
          <p:cNvSpPr>
            <a:spLocks noGrp="1"/>
          </p:cNvSpPr>
          <p:nvPr>
            <p:ph type="sldNum" sz="quarter" idx="11"/>
          </p:nvPr>
        </p:nvSpPr>
        <p:spPr/>
        <p:txBody>
          <a:bodyPr/>
          <a:lstStyle/>
          <a:p>
            <a:pPr>
              <a:defRPr/>
            </a:pPr>
            <a:fld id="{72682330-DDB7-47C0-8BEC-295D3A41AB1F}" type="slidenum">
              <a:rPr lang="en-US" smtClean="0"/>
              <a:pPr>
                <a:defRPr/>
              </a:pPr>
              <a:t>52</a:t>
            </a:fld>
            <a:endParaRPr lang="en-US" dirty="0"/>
          </a:p>
        </p:txBody>
      </p:sp>
      <p:sp>
        <p:nvSpPr>
          <p:cNvPr id="6" name="Date Placeholder 5">
            <a:extLst>
              <a:ext uri="{FF2B5EF4-FFF2-40B4-BE49-F238E27FC236}">
                <a16:creationId xmlns:a16="http://schemas.microsoft.com/office/drawing/2014/main" id="{C68A7A63-4951-40BE-9AE9-C5F41E344BED}"/>
              </a:ext>
            </a:extLst>
          </p:cNvPr>
          <p:cNvSpPr>
            <a:spLocks noGrp="1"/>
          </p:cNvSpPr>
          <p:nvPr>
            <p:ph type="dt" sz="half" idx="12"/>
          </p:nvPr>
        </p:nvSpPr>
        <p:spPr/>
        <p:txBody>
          <a:bodyPr/>
          <a:lstStyle/>
          <a:p>
            <a:pPr>
              <a:defRPr/>
            </a:pPr>
            <a:r>
              <a:rPr lang="en-US"/>
              <a:t>Fall 2021</a:t>
            </a:r>
            <a:endParaRPr lang="en-CA" dirty="0"/>
          </a:p>
        </p:txBody>
      </p:sp>
      <p:pic>
        <p:nvPicPr>
          <p:cNvPr id="9" name="Picture 8" descr="A picture containing drawing&#10;&#10;Description automatically generated">
            <a:extLst>
              <a:ext uri="{FF2B5EF4-FFF2-40B4-BE49-F238E27FC236}">
                <a16:creationId xmlns:a16="http://schemas.microsoft.com/office/drawing/2014/main" id="{60C15CBD-98AB-4EF7-9726-78BE761858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844" y="1886629"/>
            <a:ext cx="2267909" cy="963251"/>
          </a:xfrm>
          <a:prstGeom prst="rect">
            <a:avLst/>
          </a:prstGeom>
        </p:spPr>
      </p:pic>
      <p:pic>
        <p:nvPicPr>
          <p:cNvPr id="13" name="Picture 12" descr="A close up of a sign&#10;&#10;Description automatically generated">
            <a:extLst>
              <a:ext uri="{FF2B5EF4-FFF2-40B4-BE49-F238E27FC236}">
                <a16:creationId xmlns:a16="http://schemas.microsoft.com/office/drawing/2014/main" id="{847F2240-B3E1-431A-BBB9-9376F0F0BC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95494" y="1886628"/>
            <a:ext cx="2267909" cy="963251"/>
          </a:xfrm>
          <a:prstGeom prst="rect">
            <a:avLst/>
          </a:prstGeom>
        </p:spPr>
      </p:pic>
      <p:pic>
        <p:nvPicPr>
          <p:cNvPr id="17" name="Picture 16" descr="A picture containing drawing, clock&#10;&#10;Description automatically generated">
            <a:extLst>
              <a:ext uri="{FF2B5EF4-FFF2-40B4-BE49-F238E27FC236}">
                <a16:creationId xmlns:a16="http://schemas.microsoft.com/office/drawing/2014/main" id="{4C30EBD9-95C3-4C14-8D69-13903858751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144" y="1886628"/>
            <a:ext cx="2261812" cy="951058"/>
          </a:xfrm>
          <a:prstGeom prst="rect">
            <a:avLst/>
          </a:prstGeom>
        </p:spPr>
      </p:pic>
    </p:spTree>
    <p:extLst>
      <p:ext uri="{BB962C8B-B14F-4D97-AF65-F5344CB8AC3E}">
        <p14:creationId xmlns:p14="http://schemas.microsoft.com/office/powerpoint/2010/main" val="17289540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A1C26-062B-438D-9E11-0985B2480B27}"/>
              </a:ext>
            </a:extLst>
          </p:cNvPr>
          <p:cNvSpPr>
            <a:spLocks noGrp="1"/>
          </p:cNvSpPr>
          <p:nvPr>
            <p:ph type="title"/>
          </p:nvPr>
        </p:nvSpPr>
        <p:spPr/>
        <p:txBody>
          <a:bodyPr/>
          <a:lstStyle/>
          <a:p>
            <a:r>
              <a:rPr lang="en-CA" dirty="0"/>
              <a:t>Open Source Digital Logic Gate Examples</a:t>
            </a:r>
          </a:p>
        </p:txBody>
      </p:sp>
      <p:sp>
        <p:nvSpPr>
          <p:cNvPr id="3" name="Content Placeholder 2">
            <a:extLst>
              <a:ext uri="{FF2B5EF4-FFF2-40B4-BE49-F238E27FC236}">
                <a16:creationId xmlns:a16="http://schemas.microsoft.com/office/drawing/2014/main" id="{5213B1E4-6889-428F-BCC8-7F0021D3DB65}"/>
              </a:ext>
            </a:extLst>
          </p:cNvPr>
          <p:cNvSpPr>
            <a:spLocks noGrp="1"/>
          </p:cNvSpPr>
          <p:nvPr>
            <p:ph idx="1"/>
          </p:nvPr>
        </p:nvSpPr>
        <p:spPr/>
        <p:txBody>
          <a:bodyPr/>
          <a:lstStyle/>
          <a:p>
            <a:r>
              <a:rPr lang="en-CA" dirty="0"/>
              <a:t>Open source output drivers are denoted using the symbol shown on the digital logic gates below:</a:t>
            </a:r>
          </a:p>
        </p:txBody>
      </p:sp>
      <p:sp>
        <p:nvSpPr>
          <p:cNvPr id="4" name="Footer Placeholder 3">
            <a:extLst>
              <a:ext uri="{FF2B5EF4-FFF2-40B4-BE49-F238E27FC236}">
                <a16:creationId xmlns:a16="http://schemas.microsoft.com/office/drawing/2014/main" id="{49379FE6-D7F2-40C3-A374-2E68469E7BA7}"/>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6A8A6885-18AB-4EF5-B29B-3259345677D0}"/>
              </a:ext>
            </a:extLst>
          </p:cNvPr>
          <p:cNvSpPr>
            <a:spLocks noGrp="1"/>
          </p:cNvSpPr>
          <p:nvPr>
            <p:ph type="sldNum" sz="quarter" idx="11"/>
          </p:nvPr>
        </p:nvSpPr>
        <p:spPr/>
        <p:txBody>
          <a:bodyPr/>
          <a:lstStyle/>
          <a:p>
            <a:pPr>
              <a:defRPr/>
            </a:pPr>
            <a:fld id="{72682330-DDB7-47C0-8BEC-295D3A41AB1F}" type="slidenum">
              <a:rPr lang="en-US" smtClean="0"/>
              <a:pPr>
                <a:defRPr/>
              </a:pPr>
              <a:t>53</a:t>
            </a:fld>
            <a:endParaRPr lang="en-US" dirty="0"/>
          </a:p>
        </p:txBody>
      </p:sp>
      <p:sp>
        <p:nvSpPr>
          <p:cNvPr id="6" name="Date Placeholder 5">
            <a:extLst>
              <a:ext uri="{FF2B5EF4-FFF2-40B4-BE49-F238E27FC236}">
                <a16:creationId xmlns:a16="http://schemas.microsoft.com/office/drawing/2014/main" id="{C68A7A63-4951-40BE-9AE9-C5F41E344BED}"/>
              </a:ext>
            </a:extLst>
          </p:cNvPr>
          <p:cNvSpPr>
            <a:spLocks noGrp="1"/>
          </p:cNvSpPr>
          <p:nvPr>
            <p:ph type="dt" sz="half" idx="12"/>
          </p:nvPr>
        </p:nvSpPr>
        <p:spPr/>
        <p:txBody>
          <a:bodyPr/>
          <a:lstStyle/>
          <a:p>
            <a:pPr>
              <a:defRPr/>
            </a:pPr>
            <a:r>
              <a:rPr lang="en-US"/>
              <a:t>Fall 2021</a:t>
            </a:r>
            <a:endParaRPr lang="en-CA" dirty="0"/>
          </a:p>
        </p:txBody>
      </p:sp>
      <p:graphicFrame>
        <p:nvGraphicFramePr>
          <p:cNvPr id="14" name="Table 9">
            <a:extLst>
              <a:ext uri="{FF2B5EF4-FFF2-40B4-BE49-F238E27FC236}">
                <a16:creationId xmlns:a16="http://schemas.microsoft.com/office/drawing/2014/main" id="{4700F032-1429-4C63-8298-1535F6239ADB}"/>
              </a:ext>
            </a:extLst>
          </p:cNvPr>
          <p:cNvGraphicFramePr>
            <a:graphicFrameLocks noGrp="1"/>
          </p:cNvGraphicFramePr>
          <p:nvPr/>
        </p:nvGraphicFramePr>
        <p:xfrm>
          <a:off x="1142999" y="3154680"/>
          <a:ext cx="1371600" cy="1112520"/>
        </p:xfrm>
        <a:graphic>
          <a:graphicData uri="http://schemas.openxmlformats.org/drawingml/2006/table">
            <a:tbl>
              <a:tblPr firstRow="1" bandRow="1">
                <a:tableStyleId>{3C2FFA5D-87B4-456A-9821-1D502468CF0F}</a:tableStyleId>
              </a:tblPr>
              <a:tblGrid>
                <a:gridCol w="685800">
                  <a:extLst>
                    <a:ext uri="{9D8B030D-6E8A-4147-A177-3AD203B41FA5}">
                      <a16:colId xmlns:a16="http://schemas.microsoft.com/office/drawing/2014/main" val="287580551"/>
                    </a:ext>
                  </a:extLst>
                </a:gridCol>
                <a:gridCol w="685800">
                  <a:extLst>
                    <a:ext uri="{9D8B030D-6E8A-4147-A177-3AD203B41FA5}">
                      <a16:colId xmlns:a16="http://schemas.microsoft.com/office/drawing/2014/main" val="3848652840"/>
                    </a:ext>
                  </a:extLst>
                </a:gridCol>
              </a:tblGrid>
              <a:tr h="370840">
                <a:tc>
                  <a:txBody>
                    <a:bodyPr/>
                    <a:lstStyle/>
                    <a:p>
                      <a:pPr algn="ctr"/>
                      <a:r>
                        <a:rPr lang="en-CA" dirty="0"/>
                        <a:t>A</a:t>
                      </a:r>
                    </a:p>
                  </a:txBody>
                  <a:tcPr/>
                </a:tc>
                <a:tc>
                  <a:txBody>
                    <a:bodyPr/>
                    <a:lstStyle/>
                    <a:p>
                      <a:pPr algn="ctr"/>
                      <a:r>
                        <a:rPr lang="en-CA" dirty="0"/>
                        <a:t>B</a:t>
                      </a:r>
                    </a:p>
                  </a:txBody>
                  <a:tcPr/>
                </a:tc>
                <a:extLst>
                  <a:ext uri="{0D108BD9-81ED-4DB2-BD59-A6C34878D82A}">
                    <a16:rowId xmlns:a16="http://schemas.microsoft.com/office/drawing/2014/main" val="2961602566"/>
                  </a:ext>
                </a:extLst>
              </a:tr>
              <a:tr h="370840">
                <a:tc>
                  <a:txBody>
                    <a:bodyPr/>
                    <a:lstStyle/>
                    <a:p>
                      <a:pPr algn="ctr"/>
                      <a:r>
                        <a:rPr lang="en-CA" dirty="0"/>
                        <a:t>0</a:t>
                      </a:r>
                    </a:p>
                  </a:txBody>
                  <a:tcPr/>
                </a:tc>
                <a:tc>
                  <a:txBody>
                    <a:bodyPr/>
                    <a:lstStyle/>
                    <a:p>
                      <a:pPr algn="ctr"/>
                      <a:r>
                        <a:rPr lang="en-CA" dirty="0"/>
                        <a:t>Z</a:t>
                      </a:r>
                    </a:p>
                  </a:txBody>
                  <a:tcPr/>
                </a:tc>
                <a:extLst>
                  <a:ext uri="{0D108BD9-81ED-4DB2-BD59-A6C34878D82A}">
                    <a16:rowId xmlns:a16="http://schemas.microsoft.com/office/drawing/2014/main" val="1965663002"/>
                  </a:ext>
                </a:extLst>
              </a:tr>
              <a:tr h="370840">
                <a:tc>
                  <a:txBody>
                    <a:bodyPr/>
                    <a:lstStyle/>
                    <a:p>
                      <a:pPr algn="ctr"/>
                      <a:r>
                        <a:rPr lang="en-CA" dirty="0"/>
                        <a:t>1</a:t>
                      </a:r>
                    </a:p>
                  </a:txBody>
                  <a:tcPr/>
                </a:tc>
                <a:tc>
                  <a:txBody>
                    <a:bodyPr/>
                    <a:lstStyle/>
                    <a:p>
                      <a:pPr algn="ctr"/>
                      <a:r>
                        <a:rPr lang="en-CA" dirty="0"/>
                        <a:t>1</a:t>
                      </a:r>
                    </a:p>
                  </a:txBody>
                  <a:tcPr/>
                </a:tc>
                <a:extLst>
                  <a:ext uri="{0D108BD9-81ED-4DB2-BD59-A6C34878D82A}">
                    <a16:rowId xmlns:a16="http://schemas.microsoft.com/office/drawing/2014/main" val="1482734216"/>
                  </a:ext>
                </a:extLst>
              </a:tr>
            </a:tbl>
          </a:graphicData>
        </a:graphic>
      </p:graphicFrame>
      <p:pic>
        <p:nvPicPr>
          <p:cNvPr id="9" name="Picture 8" descr="A picture containing drawing&#10;&#10;Description automatically generated">
            <a:extLst>
              <a:ext uri="{FF2B5EF4-FFF2-40B4-BE49-F238E27FC236}">
                <a16:creationId xmlns:a16="http://schemas.microsoft.com/office/drawing/2014/main" id="{60C15CBD-98AB-4EF7-9726-78BE761858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844" y="1886629"/>
            <a:ext cx="2267909" cy="963251"/>
          </a:xfrm>
          <a:prstGeom prst="rect">
            <a:avLst/>
          </a:prstGeom>
        </p:spPr>
      </p:pic>
      <p:pic>
        <p:nvPicPr>
          <p:cNvPr id="13" name="Picture 12" descr="A close up of a sign&#10;&#10;Description automatically generated">
            <a:extLst>
              <a:ext uri="{FF2B5EF4-FFF2-40B4-BE49-F238E27FC236}">
                <a16:creationId xmlns:a16="http://schemas.microsoft.com/office/drawing/2014/main" id="{847F2240-B3E1-431A-BBB9-9376F0F0BC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95494" y="1886628"/>
            <a:ext cx="2267909" cy="963251"/>
          </a:xfrm>
          <a:prstGeom prst="rect">
            <a:avLst/>
          </a:prstGeom>
        </p:spPr>
      </p:pic>
      <p:pic>
        <p:nvPicPr>
          <p:cNvPr id="17" name="Picture 16" descr="A picture containing drawing, clock&#10;&#10;Description automatically generated">
            <a:extLst>
              <a:ext uri="{FF2B5EF4-FFF2-40B4-BE49-F238E27FC236}">
                <a16:creationId xmlns:a16="http://schemas.microsoft.com/office/drawing/2014/main" id="{4C30EBD9-95C3-4C14-8D69-13903858751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144" y="1886628"/>
            <a:ext cx="2261812" cy="951058"/>
          </a:xfrm>
          <a:prstGeom prst="rect">
            <a:avLst/>
          </a:prstGeom>
        </p:spPr>
      </p:pic>
    </p:spTree>
    <p:extLst>
      <p:ext uri="{BB962C8B-B14F-4D97-AF65-F5344CB8AC3E}">
        <p14:creationId xmlns:p14="http://schemas.microsoft.com/office/powerpoint/2010/main" val="313430433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A1C26-062B-438D-9E11-0985B2480B27}"/>
              </a:ext>
            </a:extLst>
          </p:cNvPr>
          <p:cNvSpPr>
            <a:spLocks noGrp="1"/>
          </p:cNvSpPr>
          <p:nvPr>
            <p:ph type="title"/>
          </p:nvPr>
        </p:nvSpPr>
        <p:spPr/>
        <p:txBody>
          <a:bodyPr/>
          <a:lstStyle/>
          <a:p>
            <a:r>
              <a:rPr lang="en-CA" dirty="0"/>
              <a:t>Open Source Digital Logic Gate Examples</a:t>
            </a:r>
          </a:p>
        </p:txBody>
      </p:sp>
      <p:sp>
        <p:nvSpPr>
          <p:cNvPr id="3" name="Content Placeholder 2">
            <a:extLst>
              <a:ext uri="{FF2B5EF4-FFF2-40B4-BE49-F238E27FC236}">
                <a16:creationId xmlns:a16="http://schemas.microsoft.com/office/drawing/2014/main" id="{5213B1E4-6889-428F-BCC8-7F0021D3DB65}"/>
              </a:ext>
            </a:extLst>
          </p:cNvPr>
          <p:cNvSpPr>
            <a:spLocks noGrp="1"/>
          </p:cNvSpPr>
          <p:nvPr>
            <p:ph idx="1"/>
          </p:nvPr>
        </p:nvSpPr>
        <p:spPr/>
        <p:txBody>
          <a:bodyPr/>
          <a:lstStyle/>
          <a:p>
            <a:r>
              <a:rPr lang="en-CA" dirty="0"/>
              <a:t>Open source output drivers are denoted using the symbol shown on the digital logic gates below:</a:t>
            </a:r>
          </a:p>
        </p:txBody>
      </p:sp>
      <p:sp>
        <p:nvSpPr>
          <p:cNvPr id="4" name="Footer Placeholder 3">
            <a:extLst>
              <a:ext uri="{FF2B5EF4-FFF2-40B4-BE49-F238E27FC236}">
                <a16:creationId xmlns:a16="http://schemas.microsoft.com/office/drawing/2014/main" id="{49379FE6-D7F2-40C3-A374-2E68469E7BA7}"/>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6A8A6885-18AB-4EF5-B29B-3259345677D0}"/>
              </a:ext>
            </a:extLst>
          </p:cNvPr>
          <p:cNvSpPr>
            <a:spLocks noGrp="1"/>
          </p:cNvSpPr>
          <p:nvPr>
            <p:ph type="sldNum" sz="quarter" idx="11"/>
          </p:nvPr>
        </p:nvSpPr>
        <p:spPr/>
        <p:txBody>
          <a:bodyPr/>
          <a:lstStyle/>
          <a:p>
            <a:pPr>
              <a:defRPr/>
            </a:pPr>
            <a:fld id="{72682330-DDB7-47C0-8BEC-295D3A41AB1F}" type="slidenum">
              <a:rPr lang="en-US" smtClean="0"/>
              <a:pPr>
                <a:defRPr/>
              </a:pPr>
              <a:t>54</a:t>
            </a:fld>
            <a:endParaRPr lang="en-US" dirty="0"/>
          </a:p>
        </p:txBody>
      </p:sp>
      <p:sp>
        <p:nvSpPr>
          <p:cNvPr id="6" name="Date Placeholder 5">
            <a:extLst>
              <a:ext uri="{FF2B5EF4-FFF2-40B4-BE49-F238E27FC236}">
                <a16:creationId xmlns:a16="http://schemas.microsoft.com/office/drawing/2014/main" id="{C68A7A63-4951-40BE-9AE9-C5F41E344BED}"/>
              </a:ext>
            </a:extLst>
          </p:cNvPr>
          <p:cNvSpPr>
            <a:spLocks noGrp="1"/>
          </p:cNvSpPr>
          <p:nvPr>
            <p:ph type="dt" sz="half" idx="12"/>
          </p:nvPr>
        </p:nvSpPr>
        <p:spPr/>
        <p:txBody>
          <a:bodyPr/>
          <a:lstStyle/>
          <a:p>
            <a:pPr>
              <a:defRPr/>
            </a:pPr>
            <a:r>
              <a:rPr lang="en-US"/>
              <a:t>Fall 2021</a:t>
            </a:r>
            <a:endParaRPr lang="en-CA" dirty="0"/>
          </a:p>
        </p:txBody>
      </p:sp>
      <p:graphicFrame>
        <p:nvGraphicFramePr>
          <p:cNvPr id="14" name="Table 9">
            <a:extLst>
              <a:ext uri="{FF2B5EF4-FFF2-40B4-BE49-F238E27FC236}">
                <a16:creationId xmlns:a16="http://schemas.microsoft.com/office/drawing/2014/main" id="{4700F032-1429-4C63-8298-1535F6239ADB}"/>
              </a:ext>
            </a:extLst>
          </p:cNvPr>
          <p:cNvGraphicFramePr>
            <a:graphicFrameLocks noGrp="1"/>
          </p:cNvGraphicFramePr>
          <p:nvPr/>
        </p:nvGraphicFramePr>
        <p:xfrm>
          <a:off x="1142999" y="3154680"/>
          <a:ext cx="1371600" cy="1112520"/>
        </p:xfrm>
        <a:graphic>
          <a:graphicData uri="http://schemas.openxmlformats.org/drawingml/2006/table">
            <a:tbl>
              <a:tblPr firstRow="1" bandRow="1">
                <a:tableStyleId>{3C2FFA5D-87B4-456A-9821-1D502468CF0F}</a:tableStyleId>
              </a:tblPr>
              <a:tblGrid>
                <a:gridCol w="685800">
                  <a:extLst>
                    <a:ext uri="{9D8B030D-6E8A-4147-A177-3AD203B41FA5}">
                      <a16:colId xmlns:a16="http://schemas.microsoft.com/office/drawing/2014/main" val="287580551"/>
                    </a:ext>
                  </a:extLst>
                </a:gridCol>
                <a:gridCol w="685800">
                  <a:extLst>
                    <a:ext uri="{9D8B030D-6E8A-4147-A177-3AD203B41FA5}">
                      <a16:colId xmlns:a16="http://schemas.microsoft.com/office/drawing/2014/main" val="3848652840"/>
                    </a:ext>
                  </a:extLst>
                </a:gridCol>
              </a:tblGrid>
              <a:tr h="370840">
                <a:tc>
                  <a:txBody>
                    <a:bodyPr/>
                    <a:lstStyle/>
                    <a:p>
                      <a:pPr algn="ctr"/>
                      <a:r>
                        <a:rPr lang="en-CA" dirty="0"/>
                        <a:t>A</a:t>
                      </a:r>
                    </a:p>
                  </a:txBody>
                  <a:tcPr/>
                </a:tc>
                <a:tc>
                  <a:txBody>
                    <a:bodyPr/>
                    <a:lstStyle/>
                    <a:p>
                      <a:pPr algn="ctr"/>
                      <a:r>
                        <a:rPr lang="en-CA" dirty="0"/>
                        <a:t>B</a:t>
                      </a:r>
                    </a:p>
                  </a:txBody>
                  <a:tcPr/>
                </a:tc>
                <a:extLst>
                  <a:ext uri="{0D108BD9-81ED-4DB2-BD59-A6C34878D82A}">
                    <a16:rowId xmlns:a16="http://schemas.microsoft.com/office/drawing/2014/main" val="2961602566"/>
                  </a:ext>
                </a:extLst>
              </a:tr>
              <a:tr h="370840">
                <a:tc>
                  <a:txBody>
                    <a:bodyPr/>
                    <a:lstStyle/>
                    <a:p>
                      <a:pPr algn="ctr"/>
                      <a:r>
                        <a:rPr lang="en-CA" dirty="0"/>
                        <a:t>0</a:t>
                      </a:r>
                    </a:p>
                  </a:txBody>
                  <a:tcPr/>
                </a:tc>
                <a:tc>
                  <a:txBody>
                    <a:bodyPr/>
                    <a:lstStyle/>
                    <a:p>
                      <a:pPr algn="ctr"/>
                      <a:r>
                        <a:rPr lang="en-CA" dirty="0"/>
                        <a:t>Z</a:t>
                      </a:r>
                    </a:p>
                  </a:txBody>
                  <a:tcPr/>
                </a:tc>
                <a:extLst>
                  <a:ext uri="{0D108BD9-81ED-4DB2-BD59-A6C34878D82A}">
                    <a16:rowId xmlns:a16="http://schemas.microsoft.com/office/drawing/2014/main" val="1965663002"/>
                  </a:ext>
                </a:extLst>
              </a:tr>
              <a:tr h="370840">
                <a:tc>
                  <a:txBody>
                    <a:bodyPr/>
                    <a:lstStyle/>
                    <a:p>
                      <a:pPr algn="ctr"/>
                      <a:r>
                        <a:rPr lang="en-CA" dirty="0"/>
                        <a:t>1</a:t>
                      </a:r>
                    </a:p>
                  </a:txBody>
                  <a:tcPr/>
                </a:tc>
                <a:tc>
                  <a:txBody>
                    <a:bodyPr/>
                    <a:lstStyle/>
                    <a:p>
                      <a:pPr algn="ctr"/>
                      <a:r>
                        <a:rPr lang="en-CA" dirty="0"/>
                        <a:t>1</a:t>
                      </a:r>
                    </a:p>
                  </a:txBody>
                  <a:tcPr/>
                </a:tc>
                <a:extLst>
                  <a:ext uri="{0D108BD9-81ED-4DB2-BD59-A6C34878D82A}">
                    <a16:rowId xmlns:a16="http://schemas.microsoft.com/office/drawing/2014/main" val="1482734216"/>
                  </a:ext>
                </a:extLst>
              </a:tr>
            </a:tbl>
          </a:graphicData>
        </a:graphic>
      </p:graphicFrame>
      <p:graphicFrame>
        <p:nvGraphicFramePr>
          <p:cNvPr id="16" name="Table 9">
            <a:extLst>
              <a:ext uri="{FF2B5EF4-FFF2-40B4-BE49-F238E27FC236}">
                <a16:creationId xmlns:a16="http://schemas.microsoft.com/office/drawing/2014/main" id="{516CA843-B430-4B1A-B5CC-B5C9BE7DD817}"/>
              </a:ext>
            </a:extLst>
          </p:cNvPr>
          <p:cNvGraphicFramePr>
            <a:graphicFrameLocks noGrp="1"/>
          </p:cNvGraphicFramePr>
          <p:nvPr/>
        </p:nvGraphicFramePr>
        <p:xfrm>
          <a:off x="3886199" y="3154680"/>
          <a:ext cx="1371600" cy="1112520"/>
        </p:xfrm>
        <a:graphic>
          <a:graphicData uri="http://schemas.openxmlformats.org/drawingml/2006/table">
            <a:tbl>
              <a:tblPr firstRow="1" bandRow="1">
                <a:tableStyleId>{3C2FFA5D-87B4-456A-9821-1D502468CF0F}</a:tableStyleId>
              </a:tblPr>
              <a:tblGrid>
                <a:gridCol w="685800">
                  <a:extLst>
                    <a:ext uri="{9D8B030D-6E8A-4147-A177-3AD203B41FA5}">
                      <a16:colId xmlns:a16="http://schemas.microsoft.com/office/drawing/2014/main" val="287580551"/>
                    </a:ext>
                  </a:extLst>
                </a:gridCol>
                <a:gridCol w="685800">
                  <a:extLst>
                    <a:ext uri="{9D8B030D-6E8A-4147-A177-3AD203B41FA5}">
                      <a16:colId xmlns:a16="http://schemas.microsoft.com/office/drawing/2014/main" val="3848652840"/>
                    </a:ext>
                  </a:extLst>
                </a:gridCol>
              </a:tblGrid>
              <a:tr h="370840">
                <a:tc>
                  <a:txBody>
                    <a:bodyPr/>
                    <a:lstStyle/>
                    <a:p>
                      <a:pPr algn="ctr"/>
                      <a:r>
                        <a:rPr lang="en-CA" dirty="0"/>
                        <a:t>A</a:t>
                      </a:r>
                    </a:p>
                  </a:txBody>
                  <a:tcPr/>
                </a:tc>
                <a:tc>
                  <a:txBody>
                    <a:bodyPr/>
                    <a:lstStyle/>
                    <a:p>
                      <a:pPr algn="ctr"/>
                      <a:r>
                        <a:rPr lang="en-CA" dirty="0"/>
                        <a:t>B</a:t>
                      </a:r>
                    </a:p>
                  </a:txBody>
                  <a:tcPr/>
                </a:tc>
                <a:extLst>
                  <a:ext uri="{0D108BD9-81ED-4DB2-BD59-A6C34878D82A}">
                    <a16:rowId xmlns:a16="http://schemas.microsoft.com/office/drawing/2014/main" val="2961602566"/>
                  </a:ext>
                </a:extLst>
              </a:tr>
              <a:tr h="370840">
                <a:tc>
                  <a:txBody>
                    <a:bodyPr/>
                    <a:lstStyle/>
                    <a:p>
                      <a:pPr algn="ctr"/>
                      <a:r>
                        <a:rPr lang="en-CA" dirty="0"/>
                        <a:t>0</a:t>
                      </a:r>
                    </a:p>
                  </a:txBody>
                  <a:tcPr/>
                </a:tc>
                <a:tc>
                  <a:txBody>
                    <a:bodyPr/>
                    <a:lstStyle/>
                    <a:p>
                      <a:pPr algn="ctr"/>
                      <a:r>
                        <a:rPr lang="en-CA" dirty="0"/>
                        <a:t>1</a:t>
                      </a:r>
                    </a:p>
                  </a:txBody>
                  <a:tcPr/>
                </a:tc>
                <a:extLst>
                  <a:ext uri="{0D108BD9-81ED-4DB2-BD59-A6C34878D82A}">
                    <a16:rowId xmlns:a16="http://schemas.microsoft.com/office/drawing/2014/main" val="1965663002"/>
                  </a:ext>
                </a:extLst>
              </a:tr>
              <a:tr h="370840">
                <a:tc>
                  <a:txBody>
                    <a:bodyPr/>
                    <a:lstStyle/>
                    <a:p>
                      <a:pPr algn="ctr"/>
                      <a:r>
                        <a:rPr lang="en-CA" dirty="0"/>
                        <a:t>1</a:t>
                      </a:r>
                    </a:p>
                  </a:txBody>
                  <a:tcPr/>
                </a:tc>
                <a:tc>
                  <a:txBody>
                    <a:bodyPr/>
                    <a:lstStyle/>
                    <a:p>
                      <a:pPr algn="ctr"/>
                      <a:r>
                        <a:rPr lang="en-CA" dirty="0"/>
                        <a:t>Z</a:t>
                      </a:r>
                    </a:p>
                  </a:txBody>
                  <a:tcPr/>
                </a:tc>
                <a:extLst>
                  <a:ext uri="{0D108BD9-81ED-4DB2-BD59-A6C34878D82A}">
                    <a16:rowId xmlns:a16="http://schemas.microsoft.com/office/drawing/2014/main" val="1482734216"/>
                  </a:ext>
                </a:extLst>
              </a:tr>
            </a:tbl>
          </a:graphicData>
        </a:graphic>
      </p:graphicFrame>
      <p:pic>
        <p:nvPicPr>
          <p:cNvPr id="9" name="Picture 8" descr="A picture containing drawing&#10;&#10;Description automatically generated">
            <a:extLst>
              <a:ext uri="{FF2B5EF4-FFF2-40B4-BE49-F238E27FC236}">
                <a16:creationId xmlns:a16="http://schemas.microsoft.com/office/drawing/2014/main" id="{60C15CBD-98AB-4EF7-9726-78BE761858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844" y="1886629"/>
            <a:ext cx="2267909" cy="963251"/>
          </a:xfrm>
          <a:prstGeom prst="rect">
            <a:avLst/>
          </a:prstGeom>
        </p:spPr>
      </p:pic>
      <p:pic>
        <p:nvPicPr>
          <p:cNvPr id="13" name="Picture 12" descr="A close up of a sign&#10;&#10;Description automatically generated">
            <a:extLst>
              <a:ext uri="{FF2B5EF4-FFF2-40B4-BE49-F238E27FC236}">
                <a16:creationId xmlns:a16="http://schemas.microsoft.com/office/drawing/2014/main" id="{847F2240-B3E1-431A-BBB9-9376F0F0BC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95494" y="1886628"/>
            <a:ext cx="2267909" cy="963251"/>
          </a:xfrm>
          <a:prstGeom prst="rect">
            <a:avLst/>
          </a:prstGeom>
        </p:spPr>
      </p:pic>
      <p:pic>
        <p:nvPicPr>
          <p:cNvPr id="17" name="Picture 16" descr="A picture containing drawing, clock&#10;&#10;Description automatically generated">
            <a:extLst>
              <a:ext uri="{FF2B5EF4-FFF2-40B4-BE49-F238E27FC236}">
                <a16:creationId xmlns:a16="http://schemas.microsoft.com/office/drawing/2014/main" id="{4C30EBD9-95C3-4C14-8D69-13903858751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144" y="1886628"/>
            <a:ext cx="2261812" cy="951058"/>
          </a:xfrm>
          <a:prstGeom prst="rect">
            <a:avLst/>
          </a:prstGeom>
        </p:spPr>
      </p:pic>
    </p:spTree>
    <p:extLst>
      <p:ext uri="{BB962C8B-B14F-4D97-AF65-F5344CB8AC3E}">
        <p14:creationId xmlns:p14="http://schemas.microsoft.com/office/powerpoint/2010/main" val="146872520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A1C26-062B-438D-9E11-0985B2480B27}"/>
              </a:ext>
            </a:extLst>
          </p:cNvPr>
          <p:cNvSpPr>
            <a:spLocks noGrp="1"/>
          </p:cNvSpPr>
          <p:nvPr>
            <p:ph type="title"/>
          </p:nvPr>
        </p:nvSpPr>
        <p:spPr/>
        <p:txBody>
          <a:bodyPr/>
          <a:lstStyle/>
          <a:p>
            <a:r>
              <a:rPr lang="en-CA" dirty="0"/>
              <a:t>Open Source Digital Logic Gate Examples</a:t>
            </a:r>
          </a:p>
        </p:txBody>
      </p:sp>
      <p:sp>
        <p:nvSpPr>
          <p:cNvPr id="3" name="Content Placeholder 2">
            <a:extLst>
              <a:ext uri="{FF2B5EF4-FFF2-40B4-BE49-F238E27FC236}">
                <a16:creationId xmlns:a16="http://schemas.microsoft.com/office/drawing/2014/main" id="{5213B1E4-6889-428F-BCC8-7F0021D3DB65}"/>
              </a:ext>
            </a:extLst>
          </p:cNvPr>
          <p:cNvSpPr>
            <a:spLocks noGrp="1"/>
          </p:cNvSpPr>
          <p:nvPr>
            <p:ph idx="1"/>
          </p:nvPr>
        </p:nvSpPr>
        <p:spPr/>
        <p:txBody>
          <a:bodyPr/>
          <a:lstStyle/>
          <a:p>
            <a:r>
              <a:rPr lang="en-CA" dirty="0"/>
              <a:t>Open source output drivers are denoted using the symbol shown on the digital logic gates below:</a:t>
            </a:r>
          </a:p>
        </p:txBody>
      </p:sp>
      <p:sp>
        <p:nvSpPr>
          <p:cNvPr id="4" name="Footer Placeholder 3">
            <a:extLst>
              <a:ext uri="{FF2B5EF4-FFF2-40B4-BE49-F238E27FC236}">
                <a16:creationId xmlns:a16="http://schemas.microsoft.com/office/drawing/2014/main" id="{49379FE6-D7F2-40C3-A374-2E68469E7BA7}"/>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6A8A6885-18AB-4EF5-B29B-3259345677D0}"/>
              </a:ext>
            </a:extLst>
          </p:cNvPr>
          <p:cNvSpPr>
            <a:spLocks noGrp="1"/>
          </p:cNvSpPr>
          <p:nvPr>
            <p:ph type="sldNum" sz="quarter" idx="11"/>
          </p:nvPr>
        </p:nvSpPr>
        <p:spPr/>
        <p:txBody>
          <a:bodyPr/>
          <a:lstStyle/>
          <a:p>
            <a:pPr>
              <a:defRPr/>
            </a:pPr>
            <a:fld id="{72682330-DDB7-47C0-8BEC-295D3A41AB1F}" type="slidenum">
              <a:rPr lang="en-US" smtClean="0"/>
              <a:pPr>
                <a:defRPr/>
              </a:pPr>
              <a:t>55</a:t>
            </a:fld>
            <a:endParaRPr lang="en-US" dirty="0"/>
          </a:p>
        </p:txBody>
      </p:sp>
      <p:sp>
        <p:nvSpPr>
          <p:cNvPr id="6" name="Date Placeholder 5">
            <a:extLst>
              <a:ext uri="{FF2B5EF4-FFF2-40B4-BE49-F238E27FC236}">
                <a16:creationId xmlns:a16="http://schemas.microsoft.com/office/drawing/2014/main" id="{C68A7A63-4951-40BE-9AE9-C5F41E344BED}"/>
              </a:ext>
            </a:extLst>
          </p:cNvPr>
          <p:cNvSpPr>
            <a:spLocks noGrp="1"/>
          </p:cNvSpPr>
          <p:nvPr>
            <p:ph type="dt" sz="half" idx="12"/>
          </p:nvPr>
        </p:nvSpPr>
        <p:spPr/>
        <p:txBody>
          <a:bodyPr/>
          <a:lstStyle/>
          <a:p>
            <a:pPr>
              <a:defRPr/>
            </a:pPr>
            <a:r>
              <a:rPr lang="en-US"/>
              <a:t>Fall 2021</a:t>
            </a:r>
            <a:endParaRPr lang="en-CA" dirty="0"/>
          </a:p>
        </p:txBody>
      </p:sp>
      <p:graphicFrame>
        <p:nvGraphicFramePr>
          <p:cNvPr id="14" name="Table 9">
            <a:extLst>
              <a:ext uri="{FF2B5EF4-FFF2-40B4-BE49-F238E27FC236}">
                <a16:creationId xmlns:a16="http://schemas.microsoft.com/office/drawing/2014/main" id="{4700F032-1429-4C63-8298-1535F6239ADB}"/>
              </a:ext>
            </a:extLst>
          </p:cNvPr>
          <p:cNvGraphicFramePr>
            <a:graphicFrameLocks noGrp="1"/>
          </p:cNvGraphicFramePr>
          <p:nvPr/>
        </p:nvGraphicFramePr>
        <p:xfrm>
          <a:off x="1142999" y="3154680"/>
          <a:ext cx="1371600" cy="1112520"/>
        </p:xfrm>
        <a:graphic>
          <a:graphicData uri="http://schemas.openxmlformats.org/drawingml/2006/table">
            <a:tbl>
              <a:tblPr firstRow="1" bandRow="1">
                <a:tableStyleId>{3C2FFA5D-87B4-456A-9821-1D502468CF0F}</a:tableStyleId>
              </a:tblPr>
              <a:tblGrid>
                <a:gridCol w="685800">
                  <a:extLst>
                    <a:ext uri="{9D8B030D-6E8A-4147-A177-3AD203B41FA5}">
                      <a16:colId xmlns:a16="http://schemas.microsoft.com/office/drawing/2014/main" val="287580551"/>
                    </a:ext>
                  </a:extLst>
                </a:gridCol>
                <a:gridCol w="685800">
                  <a:extLst>
                    <a:ext uri="{9D8B030D-6E8A-4147-A177-3AD203B41FA5}">
                      <a16:colId xmlns:a16="http://schemas.microsoft.com/office/drawing/2014/main" val="3848652840"/>
                    </a:ext>
                  </a:extLst>
                </a:gridCol>
              </a:tblGrid>
              <a:tr h="370840">
                <a:tc>
                  <a:txBody>
                    <a:bodyPr/>
                    <a:lstStyle/>
                    <a:p>
                      <a:pPr algn="ctr"/>
                      <a:r>
                        <a:rPr lang="en-CA" dirty="0"/>
                        <a:t>A</a:t>
                      </a:r>
                    </a:p>
                  </a:txBody>
                  <a:tcPr/>
                </a:tc>
                <a:tc>
                  <a:txBody>
                    <a:bodyPr/>
                    <a:lstStyle/>
                    <a:p>
                      <a:pPr algn="ctr"/>
                      <a:r>
                        <a:rPr lang="en-CA" dirty="0"/>
                        <a:t>B</a:t>
                      </a:r>
                    </a:p>
                  </a:txBody>
                  <a:tcPr/>
                </a:tc>
                <a:extLst>
                  <a:ext uri="{0D108BD9-81ED-4DB2-BD59-A6C34878D82A}">
                    <a16:rowId xmlns:a16="http://schemas.microsoft.com/office/drawing/2014/main" val="2961602566"/>
                  </a:ext>
                </a:extLst>
              </a:tr>
              <a:tr h="370840">
                <a:tc>
                  <a:txBody>
                    <a:bodyPr/>
                    <a:lstStyle/>
                    <a:p>
                      <a:pPr algn="ctr"/>
                      <a:r>
                        <a:rPr lang="en-CA" dirty="0"/>
                        <a:t>0</a:t>
                      </a:r>
                    </a:p>
                  </a:txBody>
                  <a:tcPr/>
                </a:tc>
                <a:tc>
                  <a:txBody>
                    <a:bodyPr/>
                    <a:lstStyle/>
                    <a:p>
                      <a:pPr algn="ctr"/>
                      <a:r>
                        <a:rPr lang="en-CA" dirty="0"/>
                        <a:t>Z</a:t>
                      </a:r>
                    </a:p>
                  </a:txBody>
                  <a:tcPr/>
                </a:tc>
                <a:extLst>
                  <a:ext uri="{0D108BD9-81ED-4DB2-BD59-A6C34878D82A}">
                    <a16:rowId xmlns:a16="http://schemas.microsoft.com/office/drawing/2014/main" val="1965663002"/>
                  </a:ext>
                </a:extLst>
              </a:tr>
              <a:tr h="370840">
                <a:tc>
                  <a:txBody>
                    <a:bodyPr/>
                    <a:lstStyle/>
                    <a:p>
                      <a:pPr algn="ctr"/>
                      <a:r>
                        <a:rPr lang="en-CA" dirty="0"/>
                        <a:t>1</a:t>
                      </a:r>
                    </a:p>
                  </a:txBody>
                  <a:tcPr/>
                </a:tc>
                <a:tc>
                  <a:txBody>
                    <a:bodyPr/>
                    <a:lstStyle/>
                    <a:p>
                      <a:pPr algn="ctr"/>
                      <a:r>
                        <a:rPr lang="en-CA" dirty="0"/>
                        <a:t>1</a:t>
                      </a:r>
                    </a:p>
                  </a:txBody>
                  <a:tcPr/>
                </a:tc>
                <a:extLst>
                  <a:ext uri="{0D108BD9-81ED-4DB2-BD59-A6C34878D82A}">
                    <a16:rowId xmlns:a16="http://schemas.microsoft.com/office/drawing/2014/main" val="1482734216"/>
                  </a:ext>
                </a:extLst>
              </a:tr>
            </a:tbl>
          </a:graphicData>
        </a:graphic>
      </p:graphicFrame>
      <p:graphicFrame>
        <p:nvGraphicFramePr>
          <p:cNvPr id="16" name="Table 9">
            <a:extLst>
              <a:ext uri="{FF2B5EF4-FFF2-40B4-BE49-F238E27FC236}">
                <a16:creationId xmlns:a16="http://schemas.microsoft.com/office/drawing/2014/main" id="{516CA843-B430-4B1A-B5CC-B5C9BE7DD817}"/>
              </a:ext>
            </a:extLst>
          </p:cNvPr>
          <p:cNvGraphicFramePr>
            <a:graphicFrameLocks noGrp="1"/>
          </p:cNvGraphicFramePr>
          <p:nvPr/>
        </p:nvGraphicFramePr>
        <p:xfrm>
          <a:off x="3886199" y="3154680"/>
          <a:ext cx="1371600" cy="1112520"/>
        </p:xfrm>
        <a:graphic>
          <a:graphicData uri="http://schemas.openxmlformats.org/drawingml/2006/table">
            <a:tbl>
              <a:tblPr firstRow="1" bandRow="1">
                <a:tableStyleId>{3C2FFA5D-87B4-456A-9821-1D502468CF0F}</a:tableStyleId>
              </a:tblPr>
              <a:tblGrid>
                <a:gridCol w="685800">
                  <a:extLst>
                    <a:ext uri="{9D8B030D-6E8A-4147-A177-3AD203B41FA5}">
                      <a16:colId xmlns:a16="http://schemas.microsoft.com/office/drawing/2014/main" val="287580551"/>
                    </a:ext>
                  </a:extLst>
                </a:gridCol>
                <a:gridCol w="685800">
                  <a:extLst>
                    <a:ext uri="{9D8B030D-6E8A-4147-A177-3AD203B41FA5}">
                      <a16:colId xmlns:a16="http://schemas.microsoft.com/office/drawing/2014/main" val="3848652840"/>
                    </a:ext>
                  </a:extLst>
                </a:gridCol>
              </a:tblGrid>
              <a:tr h="370840">
                <a:tc>
                  <a:txBody>
                    <a:bodyPr/>
                    <a:lstStyle/>
                    <a:p>
                      <a:pPr algn="ctr"/>
                      <a:r>
                        <a:rPr lang="en-CA" dirty="0"/>
                        <a:t>A</a:t>
                      </a:r>
                    </a:p>
                  </a:txBody>
                  <a:tcPr/>
                </a:tc>
                <a:tc>
                  <a:txBody>
                    <a:bodyPr/>
                    <a:lstStyle/>
                    <a:p>
                      <a:pPr algn="ctr"/>
                      <a:r>
                        <a:rPr lang="en-CA" dirty="0"/>
                        <a:t>B</a:t>
                      </a:r>
                    </a:p>
                  </a:txBody>
                  <a:tcPr/>
                </a:tc>
                <a:extLst>
                  <a:ext uri="{0D108BD9-81ED-4DB2-BD59-A6C34878D82A}">
                    <a16:rowId xmlns:a16="http://schemas.microsoft.com/office/drawing/2014/main" val="2961602566"/>
                  </a:ext>
                </a:extLst>
              </a:tr>
              <a:tr h="370840">
                <a:tc>
                  <a:txBody>
                    <a:bodyPr/>
                    <a:lstStyle/>
                    <a:p>
                      <a:pPr algn="ctr"/>
                      <a:r>
                        <a:rPr lang="en-CA" dirty="0"/>
                        <a:t>0</a:t>
                      </a:r>
                    </a:p>
                  </a:txBody>
                  <a:tcPr/>
                </a:tc>
                <a:tc>
                  <a:txBody>
                    <a:bodyPr/>
                    <a:lstStyle/>
                    <a:p>
                      <a:pPr algn="ctr"/>
                      <a:r>
                        <a:rPr lang="en-CA" dirty="0"/>
                        <a:t>1</a:t>
                      </a:r>
                    </a:p>
                  </a:txBody>
                  <a:tcPr/>
                </a:tc>
                <a:extLst>
                  <a:ext uri="{0D108BD9-81ED-4DB2-BD59-A6C34878D82A}">
                    <a16:rowId xmlns:a16="http://schemas.microsoft.com/office/drawing/2014/main" val="1965663002"/>
                  </a:ext>
                </a:extLst>
              </a:tr>
              <a:tr h="370840">
                <a:tc>
                  <a:txBody>
                    <a:bodyPr/>
                    <a:lstStyle/>
                    <a:p>
                      <a:pPr algn="ctr"/>
                      <a:r>
                        <a:rPr lang="en-CA" dirty="0"/>
                        <a:t>1</a:t>
                      </a:r>
                    </a:p>
                  </a:txBody>
                  <a:tcPr/>
                </a:tc>
                <a:tc>
                  <a:txBody>
                    <a:bodyPr/>
                    <a:lstStyle/>
                    <a:p>
                      <a:pPr algn="ctr"/>
                      <a:r>
                        <a:rPr lang="en-CA" dirty="0"/>
                        <a:t>Z</a:t>
                      </a:r>
                    </a:p>
                  </a:txBody>
                  <a:tcPr/>
                </a:tc>
                <a:extLst>
                  <a:ext uri="{0D108BD9-81ED-4DB2-BD59-A6C34878D82A}">
                    <a16:rowId xmlns:a16="http://schemas.microsoft.com/office/drawing/2014/main" val="1482734216"/>
                  </a:ext>
                </a:extLst>
              </a:tr>
            </a:tbl>
          </a:graphicData>
        </a:graphic>
      </p:graphicFrame>
      <p:graphicFrame>
        <p:nvGraphicFramePr>
          <p:cNvPr id="18" name="Table 9">
            <a:extLst>
              <a:ext uri="{FF2B5EF4-FFF2-40B4-BE49-F238E27FC236}">
                <a16:creationId xmlns:a16="http://schemas.microsoft.com/office/drawing/2014/main" id="{19063DEA-3086-4C77-A7C7-A56DBFC0C149}"/>
              </a:ext>
            </a:extLst>
          </p:cNvPr>
          <p:cNvGraphicFramePr>
            <a:graphicFrameLocks noGrp="1"/>
          </p:cNvGraphicFramePr>
          <p:nvPr/>
        </p:nvGraphicFramePr>
        <p:xfrm>
          <a:off x="6541250" y="3154680"/>
          <a:ext cx="1371600" cy="1854200"/>
        </p:xfrm>
        <a:graphic>
          <a:graphicData uri="http://schemas.openxmlformats.org/drawingml/2006/table">
            <a:tbl>
              <a:tblPr firstRow="1" bandRow="1">
                <a:tableStyleId>{3C2FFA5D-87B4-456A-9821-1D502468CF0F}</a:tableStyleId>
              </a:tblPr>
              <a:tblGrid>
                <a:gridCol w="457200">
                  <a:extLst>
                    <a:ext uri="{9D8B030D-6E8A-4147-A177-3AD203B41FA5}">
                      <a16:colId xmlns:a16="http://schemas.microsoft.com/office/drawing/2014/main" val="287580551"/>
                    </a:ext>
                  </a:extLst>
                </a:gridCol>
                <a:gridCol w="457200">
                  <a:extLst>
                    <a:ext uri="{9D8B030D-6E8A-4147-A177-3AD203B41FA5}">
                      <a16:colId xmlns:a16="http://schemas.microsoft.com/office/drawing/2014/main" val="3848652840"/>
                    </a:ext>
                  </a:extLst>
                </a:gridCol>
                <a:gridCol w="457200">
                  <a:extLst>
                    <a:ext uri="{9D8B030D-6E8A-4147-A177-3AD203B41FA5}">
                      <a16:colId xmlns:a16="http://schemas.microsoft.com/office/drawing/2014/main" val="3262824179"/>
                    </a:ext>
                  </a:extLst>
                </a:gridCol>
              </a:tblGrid>
              <a:tr h="370840">
                <a:tc>
                  <a:txBody>
                    <a:bodyPr/>
                    <a:lstStyle/>
                    <a:p>
                      <a:pPr algn="ctr"/>
                      <a:r>
                        <a:rPr lang="en-CA" dirty="0"/>
                        <a:t>A</a:t>
                      </a:r>
                    </a:p>
                  </a:txBody>
                  <a:tcPr/>
                </a:tc>
                <a:tc>
                  <a:txBody>
                    <a:bodyPr/>
                    <a:lstStyle/>
                    <a:p>
                      <a:pPr algn="ctr"/>
                      <a:r>
                        <a:rPr lang="en-CA" dirty="0"/>
                        <a:t>B</a:t>
                      </a:r>
                    </a:p>
                  </a:txBody>
                  <a:tcPr/>
                </a:tc>
                <a:tc>
                  <a:txBody>
                    <a:bodyPr/>
                    <a:lstStyle/>
                    <a:p>
                      <a:pPr algn="ctr"/>
                      <a:r>
                        <a:rPr lang="en-CA" dirty="0"/>
                        <a:t>C</a:t>
                      </a:r>
                    </a:p>
                  </a:txBody>
                  <a:tcPr/>
                </a:tc>
                <a:extLst>
                  <a:ext uri="{0D108BD9-81ED-4DB2-BD59-A6C34878D82A}">
                    <a16:rowId xmlns:a16="http://schemas.microsoft.com/office/drawing/2014/main" val="2961602566"/>
                  </a:ext>
                </a:extLst>
              </a:tr>
              <a:tr h="370840">
                <a:tc>
                  <a:txBody>
                    <a:bodyPr/>
                    <a:lstStyle/>
                    <a:p>
                      <a:pPr algn="ctr"/>
                      <a:r>
                        <a:rPr lang="en-CA" dirty="0"/>
                        <a:t>0</a:t>
                      </a:r>
                    </a:p>
                  </a:txBody>
                  <a:tcPr/>
                </a:tc>
                <a:tc>
                  <a:txBody>
                    <a:bodyPr/>
                    <a:lstStyle/>
                    <a:p>
                      <a:pPr algn="ctr"/>
                      <a:r>
                        <a:rPr lang="en-CA" dirty="0"/>
                        <a:t>0</a:t>
                      </a:r>
                    </a:p>
                  </a:txBody>
                  <a:tcPr/>
                </a:tc>
                <a:tc>
                  <a:txBody>
                    <a:bodyPr/>
                    <a:lstStyle/>
                    <a:p>
                      <a:pPr algn="ctr"/>
                      <a:r>
                        <a:rPr lang="en-CA" dirty="0"/>
                        <a:t>1</a:t>
                      </a:r>
                    </a:p>
                  </a:txBody>
                  <a:tcPr/>
                </a:tc>
                <a:extLst>
                  <a:ext uri="{0D108BD9-81ED-4DB2-BD59-A6C34878D82A}">
                    <a16:rowId xmlns:a16="http://schemas.microsoft.com/office/drawing/2014/main" val="1965663002"/>
                  </a:ext>
                </a:extLst>
              </a:tr>
              <a:tr h="370840">
                <a:tc>
                  <a:txBody>
                    <a:bodyPr/>
                    <a:lstStyle/>
                    <a:p>
                      <a:pPr algn="ctr"/>
                      <a:r>
                        <a:rPr lang="en-CA" dirty="0"/>
                        <a:t>0</a:t>
                      </a:r>
                    </a:p>
                  </a:txBody>
                  <a:tcPr/>
                </a:tc>
                <a:tc>
                  <a:txBody>
                    <a:bodyPr/>
                    <a:lstStyle/>
                    <a:p>
                      <a:pPr algn="ctr"/>
                      <a:r>
                        <a:rPr lang="en-CA" dirty="0"/>
                        <a:t>1</a:t>
                      </a:r>
                    </a:p>
                  </a:txBody>
                  <a:tcPr/>
                </a:tc>
                <a:tc>
                  <a:txBody>
                    <a:bodyPr/>
                    <a:lstStyle/>
                    <a:p>
                      <a:pPr algn="ctr"/>
                      <a:r>
                        <a:rPr lang="en-CA" dirty="0"/>
                        <a:t>1</a:t>
                      </a:r>
                    </a:p>
                  </a:txBody>
                  <a:tcPr/>
                </a:tc>
                <a:extLst>
                  <a:ext uri="{0D108BD9-81ED-4DB2-BD59-A6C34878D82A}">
                    <a16:rowId xmlns:a16="http://schemas.microsoft.com/office/drawing/2014/main" val="1482734216"/>
                  </a:ext>
                </a:extLst>
              </a:tr>
              <a:tr h="370840">
                <a:tc>
                  <a:txBody>
                    <a:bodyPr/>
                    <a:lstStyle/>
                    <a:p>
                      <a:pPr algn="ctr"/>
                      <a:r>
                        <a:rPr lang="en-CA" dirty="0"/>
                        <a:t>1</a:t>
                      </a:r>
                    </a:p>
                  </a:txBody>
                  <a:tcPr/>
                </a:tc>
                <a:tc>
                  <a:txBody>
                    <a:bodyPr/>
                    <a:lstStyle/>
                    <a:p>
                      <a:pPr algn="ctr"/>
                      <a:r>
                        <a:rPr lang="en-CA" dirty="0"/>
                        <a:t>0</a:t>
                      </a:r>
                    </a:p>
                  </a:txBody>
                  <a:tcPr/>
                </a:tc>
                <a:tc>
                  <a:txBody>
                    <a:bodyPr/>
                    <a:lstStyle/>
                    <a:p>
                      <a:pPr algn="ctr"/>
                      <a:r>
                        <a:rPr lang="en-CA" dirty="0"/>
                        <a:t>1</a:t>
                      </a:r>
                    </a:p>
                  </a:txBody>
                  <a:tcPr/>
                </a:tc>
                <a:extLst>
                  <a:ext uri="{0D108BD9-81ED-4DB2-BD59-A6C34878D82A}">
                    <a16:rowId xmlns:a16="http://schemas.microsoft.com/office/drawing/2014/main" val="1849887607"/>
                  </a:ext>
                </a:extLst>
              </a:tr>
              <a:tr h="370840">
                <a:tc>
                  <a:txBody>
                    <a:bodyPr/>
                    <a:lstStyle/>
                    <a:p>
                      <a:pPr algn="ctr"/>
                      <a:r>
                        <a:rPr lang="en-CA" dirty="0"/>
                        <a:t>1</a:t>
                      </a:r>
                    </a:p>
                  </a:txBody>
                  <a:tcPr/>
                </a:tc>
                <a:tc>
                  <a:txBody>
                    <a:bodyPr/>
                    <a:lstStyle/>
                    <a:p>
                      <a:pPr algn="ctr"/>
                      <a:r>
                        <a:rPr lang="en-CA" dirty="0"/>
                        <a:t>1</a:t>
                      </a:r>
                    </a:p>
                  </a:txBody>
                  <a:tcPr/>
                </a:tc>
                <a:tc>
                  <a:txBody>
                    <a:bodyPr/>
                    <a:lstStyle/>
                    <a:p>
                      <a:pPr algn="ctr"/>
                      <a:r>
                        <a:rPr lang="en-CA" dirty="0"/>
                        <a:t>Z</a:t>
                      </a:r>
                    </a:p>
                  </a:txBody>
                  <a:tcPr/>
                </a:tc>
                <a:extLst>
                  <a:ext uri="{0D108BD9-81ED-4DB2-BD59-A6C34878D82A}">
                    <a16:rowId xmlns:a16="http://schemas.microsoft.com/office/drawing/2014/main" val="3078186550"/>
                  </a:ext>
                </a:extLst>
              </a:tr>
            </a:tbl>
          </a:graphicData>
        </a:graphic>
      </p:graphicFrame>
      <p:pic>
        <p:nvPicPr>
          <p:cNvPr id="9" name="Picture 8" descr="A picture containing drawing&#10;&#10;Description automatically generated">
            <a:extLst>
              <a:ext uri="{FF2B5EF4-FFF2-40B4-BE49-F238E27FC236}">
                <a16:creationId xmlns:a16="http://schemas.microsoft.com/office/drawing/2014/main" id="{60C15CBD-98AB-4EF7-9726-78BE761858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844" y="1886629"/>
            <a:ext cx="2267909" cy="963251"/>
          </a:xfrm>
          <a:prstGeom prst="rect">
            <a:avLst/>
          </a:prstGeom>
        </p:spPr>
      </p:pic>
      <p:pic>
        <p:nvPicPr>
          <p:cNvPr id="13" name="Picture 12" descr="A close up of a sign&#10;&#10;Description automatically generated">
            <a:extLst>
              <a:ext uri="{FF2B5EF4-FFF2-40B4-BE49-F238E27FC236}">
                <a16:creationId xmlns:a16="http://schemas.microsoft.com/office/drawing/2014/main" id="{847F2240-B3E1-431A-BBB9-9376F0F0BC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95494" y="1886628"/>
            <a:ext cx="2267909" cy="963251"/>
          </a:xfrm>
          <a:prstGeom prst="rect">
            <a:avLst/>
          </a:prstGeom>
        </p:spPr>
      </p:pic>
      <p:pic>
        <p:nvPicPr>
          <p:cNvPr id="17" name="Picture 16" descr="A picture containing drawing, clock&#10;&#10;Description automatically generated">
            <a:extLst>
              <a:ext uri="{FF2B5EF4-FFF2-40B4-BE49-F238E27FC236}">
                <a16:creationId xmlns:a16="http://schemas.microsoft.com/office/drawing/2014/main" id="{4C30EBD9-95C3-4C14-8D69-13903858751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144" y="1886628"/>
            <a:ext cx="2261812" cy="951058"/>
          </a:xfrm>
          <a:prstGeom prst="rect">
            <a:avLst/>
          </a:prstGeom>
        </p:spPr>
      </p:pic>
    </p:spTree>
    <p:extLst>
      <p:ext uri="{BB962C8B-B14F-4D97-AF65-F5344CB8AC3E}">
        <p14:creationId xmlns:p14="http://schemas.microsoft.com/office/powerpoint/2010/main" val="229580819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A1C26-062B-438D-9E11-0985B2480B27}"/>
              </a:ext>
            </a:extLst>
          </p:cNvPr>
          <p:cNvSpPr>
            <a:spLocks noGrp="1"/>
          </p:cNvSpPr>
          <p:nvPr>
            <p:ph type="title"/>
          </p:nvPr>
        </p:nvSpPr>
        <p:spPr/>
        <p:txBody>
          <a:bodyPr/>
          <a:lstStyle/>
          <a:p>
            <a:r>
              <a:rPr lang="en-CA" dirty="0"/>
              <a:t>Open Source Digital Logic Gate Examples</a:t>
            </a:r>
          </a:p>
        </p:txBody>
      </p:sp>
      <p:sp>
        <p:nvSpPr>
          <p:cNvPr id="3" name="Content Placeholder 2">
            <a:extLst>
              <a:ext uri="{FF2B5EF4-FFF2-40B4-BE49-F238E27FC236}">
                <a16:creationId xmlns:a16="http://schemas.microsoft.com/office/drawing/2014/main" id="{5213B1E4-6889-428F-BCC8-7F0021D3DB65}"/>
              </a:ext>
            </a:extLst>
          </p:cNvPr>
          <p:cNvSpPr>
            <a:spLocks noGrp="1"/>
          </p:cNvSpPr>
          <p:nvPr>
            <p:ph idx="1"/>
          </p:nvPr>
        </p:nvSpPr>
        <p:spPr/>
        <p:txBody>
          <a:bodyPr/>
          <a:lstStyle/>
          <a:p>
            <a:r>
              <a:rPr lang="en-CA" dirty="0"/>
              <a:t>Open source output drivers are denoted using the symbol shown on the digital logic gates below:</a:t>
            </a:r>
          </a:p>
          <a:p>
            <a:endParaRPr lang="en-CA" dirty="0"/>
          </a:p>
          <a:p>
            <a:endParaRPr lang="en-CA" dirty="0"/>
          </a:p>
          <a:p>
            <a:endParaRPr lang="en-CA" dirty="0"/>
          </a:p>
          <a:p>
            <a:endParaRPr lang="en-CA" dirty="0"/>
          </a:p>
          <a:p>
            <a:endParaRPr lang="en-CA" dirty="0"/>
          </a:p>
          <a:p>
            <a:endParaRPr lang="en-CA" dirty="0"/>
          </a:p>
          <a:p>
            <a:r>
              <a:rPr lang="en-CA" dirty="0"/>
              <a:t>When producing the truth tables, you simply replace outputs of 0 with Z</a:t>
            </a:r>
          </a:p>
        </p:txBody>
      </p:sp>
      <p:sp>
        <p:nvSpPr>
          <p:cNvPr id="4" name="Footer Placeholder 3">
            <a:extLst>
              <a:ext uri="{FF2B5EF4-FFF2-40B4-BE49-F238E27FC236}">
                <a16:creationId xmlns:a16="http://schemas.microsoft.com/office/drawing/2014/main" id="{49379FE6-D7F2-40C3-A374-2E68469E7BA7}"/>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6A8A6885-18AB-4EF5-B29B-3259345677D0}"/>
              </a:ext>
            </a:extLst>
          </p:cNvPr>
          <p:cNvSpPr>
            <a:spLocks noGrp="1"/>
          </p:cNvSpPr>
          <p:nvPr>
            <p:ph type="sldNum" sz="quarter" idx="11"/>
          </p:nvPr>
        </p:nvSpPr>
        <p:spPr/>
        <p:txBody>
          <a:bodyPr/>
          <a:lstStyle/>
          <a:p>
            <a:pPr>
              <a:defRPr/>
            </a:pPr>
            <a:fld id="{72682330-DDB7-47C0-8BEC-295D3A41AB1F}" type="slidenum">
              <a:rPr lang="en-US" smtClean="0"/>
              <a:pPr>
                <a:defRPr/>
              </a:pPr>
              <a:t>56</a:t>
            </a:fld>
            <a:endParaRPr lang="en-US" dirty="0"/>
          </a:p>
        </p:txBody>
      </p:sp>
      <p:sp>
        <p:nvSpPr>
          <p:cNvPr id="6" name="Date Placeholder 5">
            <a:extLst>
              <a:ext uri="{FF2B5EF4-FFF2-40B4-BE49-F238E27FC236}">
                <a16:creationId xmlns:a16="http://schemas.microsoft.com/office/drawing/2014/main" id="{C68A7A63-4951-40BE-9AE9-C5F41E344BED}"/>
              </a:ext>
            </a:extLst>
          </p:cNvPr>
          <p:cNvSpPr>
            <a:spLocks noGrp="1"/>
          </p:cNvSpPr>
          <p:nvPr>
            <p:ph type="dt" sz="half" idx="12"/>
          </p:nvPr>
        </p:nvSpPr>
        <p:spPr/>
        <p:txBody>
          <a:bodyPr/>
          <a:lstStyle/>
          <a:p>
            <a:pPr>
              <a:defRPr/>
            </a:pPr>
            <a:r>
              <a:rPr lang="en-US"/>
              <a:t>Fall 2021</a:t>
            </a:r>
            <a:endParaRPr lang="en-CA" dirty="0"/>
          </a:p>
        </p:txBody>
      </p:sp>
      <p:graphicFrame>
        <p:nvGraphicFramePr>
          <p:cNvPr id="14" name="Table 9">
            <a:extLst>
              <a:ext uri="{FF2B5EF4-FFF2-40B4-BE49-F238E27FC236}">
                <a16:creationId xmlns:a16="http://schemas.microsoft.com/office/drawing/2014/main" id="{4700F032-1429-4C63-8298-1535F6239ADB}"/>
              </a:ext>
            </a:extLst>
          </p:cNvPr>
          <p:cNvGraphicFramePr>
            <a:graphicFrameLocks noGrp="1"/>
          </p:cNvGraphicFramePr>
          <p:nvPr/>
        </p:nvGraphicFramePr>
        <p:xfrm>
          <a:off x="1142999" y="3154680"/>
          <a:ext cx="1371600" cy="1112520"/>
        </p:xfrm>
        <a:graphic>
          <a:graphicData uri="http://schemas.openxmlformats.org/drawingml/2006/table">
            <a:tbl>
              <a:tblPr firstRow="1" bandRow="1">
                <a:tableStyleId>{3C2FFA5D-87B4-456A-9821-1D502468CF0F}</a:tableStyleId>
              </a:tblPr>
              <a:tblGrid>
                <a:gridCol w="685800">
                  <a:extLst>
                    <a:ext uri="{9D8B030D-6E8A-4147-A177-3AD203B41FA5}">
                      <a16:colId xmlns:a16="http://schemas.microsoft.com/office/drawing/2014/main" val="287580551"/>
                    </a:ext>
                  </a:extLst>
                </a:gridCol>
                <a:gridCol w="685800">
                  <a:extLst>
                    <a:ext uri="{9D8B030D-6E8A-4147-A177-3AD203B41FA5}">
                      <a16:colId xmlns:a16="http://schemas.microsoft.com/office/drawing/2014/main" val="3848652840"/>
                    </a:ext>
                  </a:extLst>
                </a:gridCol>
              </a:tblGrid>
              <a:tr h="370840">
                <a:tc>
                  <a:txBody>
                    <a:bodyPr/>
                    <a:lstStyle/>
                    <a:p>
                      <a:pPr algn="ctr"/>
                      <a:r>
                        <a:rPr lang="en-CA" dirty="0"/>
                        <a:t>A</a:t>
                      </a:r>
                    </a:p>
                  </a:txBody>
                  <a:tcPr/>
                </a:tc>
                <a:tc>
                  <a:txBody>
                    <a:bodyPr/>
                    <a:lstStyle/>
                    <a:p>
                      <a:pPr algn="ctr"/>
                      <a:r>
                        <a:rPr lang="en-CA" dirty="0"/>
                        <a:t>B</a:t>
                      </a:r>
                    </a:p>
                  </a:txBody>
                  <a:tcPr/>
                </a:tc>
                <a:extLst>
                  <a:ext uri="{0D108BD9-81ED-4DB2-BD59-A6C34878D82A}">
                    <a16:rowId xmlns:a16="http://schemas.microsoft.com/office/drawing/2014/main" val="2961602566"/>
                  </a:ext>
                </a:extLst>
              </a:tr>
              <a:tr h="370840">
                <a:tc>
                  <a:txBody>
                    <a:bodyPr/>
                    <a:lstStyle/>
                    <a:p>
                      <a:pPr algn="ctr"/>
                      <a:r>
                        <a:rPr lang="en-CA" dirty="0"/>
                        <a:t>0</a:t>
                      </a:r>
                    </a:p>
                  </a:txBody>
                  <a:tcPr/>
                </a:tc>
                <a:tc>
                  <a:txBody>
                    <a:bodyPr/>
                    <a:lstStyle/>
                    <a:p>
                      <a:pPr algn="ctr"/>
                      <a:r>
                        <a:rPr lang="en-CA" dirty="0"/>
                        <a:t>Z</a:t>
                      </a:r>
                    </a:p>
                  </a:txBody>
                  <a:tcPr/>
                </a:tc>
                <a:extLst>
                  <a:ext uri="{0D108BD9-81ED-4DB2-BD59-A6C34878D82A}">
                    <a16:rowId xmlns:a16="http://schemas.microsoft.com/office/drawing/2014/main" val="1965663002"/>
                  </a:ext>
                </a:extLst>
              </a:tr>
              <a:tr h="370840">
                <a:tc>
                  <a:txBody>
                    <a:bodyPr/>
                    <a:lstStyle/>
                    <a:p>
                      <a:pPr algn="ctr"/>
                      <a:r>
                        <a:rPr lang="en-CA" dirty="0"/>
                        <a:t>1</a:t>
                      </a:r>
                    </a:p>
                  </a:txBody>
                  <a:tcPr/>
                </a:tc>
                <a:tc>
                  <a:txBody>
                    <a:bodyPr/>
                    <a:lstStyle/>
                    <a:p>
                      <a:pPr algn="ctr"/>
                      <a:r>
                        <a:rPr lang="en-CA" dirty="0"/>
                        <a:t>1</a:t>
                      </a:r>
                    </a:p>
                  </a:txBody>
                  <a:tcPr/>
                </a:tc>
                <a:extLst>
                  <a:ext uri="{0D108BD9-81ED-4DB2-BD59-A6C34878D82A}">
                    <a16:rowId xmlns:a16="http://schemas.microsoft.com/office/drawing/2014/main" val="1482734216"/>
                  </a:ext>
                </a:extLst>
              </a:tr>
            </a:tbl>
          </a:graphicData>
        </a:graphic>
      </p:graphicFrame>
      <p:graphicFrame>
        <p:nvGraphicFramePr>
          <p:cNvPr id="16" name="Table 9">
            <a:extLst>
              <a:ext uri="{FF2B5EF4-FFF2-40B4-BE49-F238E27FC236}">
                <a16:creationId xmlns:a16="http://schemas.microsoft.com/office/drawing/2014/main" id="{516CA843-B430-4B1A-B5CC-B5C9BE7DD817}"/>
              </a:ext>
            </a:extLst>
          </p:cNvPr>
          <p:cNvGraphicFramePr>
            <a:graphicFrameLocks noGrp="1"/>
          </p:cNvGraphicFramePr>
          <p:nvPr/>
        </p:nvGraphicFramePr>
        <p:xfrm>
          <a:off x="3886199" y="3154680"/>
          <a:ext cx="1371600" cy="1112520"/>
        </p:xfrm>
        <a:graphic>
          <a:graphicData uri="http://schemas.openxmlformats.org/drawingml/2006/table">
            <a:tbl>
              <a:tblPr firstRow="1" bandRow="1">
                <a:tableStyleId>{3C2FFA5D-87B4-456A-9821-1D502468CF0F}</a:tableStyleId>
              </a:tblPr>
              <a:tblGrid>
                <a:gridCol w="685800">
                  <a:extLst>
                    <a:ext uri="{9D8B030D-6E8A-4147-A177-3AD203B41FA5}">
                      <a16:colId xmlns:a16="http://schemas.microsoft.com/office/drawing/2014/main" val="287580551"/>
                    </a:ext>
                  </a:extLst>
                </a:gridCol>
                <a:gridCol w="685800">
                  <a:extLst>
                    <a:ext uri="{9D8B030D-6E8A-4147-A177-3AD203B41FA5}">
                      <a16:colId xmlns:a16="http://schemas.microsoft.com/office/drawing/2014/main" val="3848652840"/>
                    </a:ext>
                  </a:extLst>
                </a:gridCol>
              </a:tblGrid>
              <a:tr h="370840">
                <a:tc>
                  <a:txBody>
                    <a:bodyPr/>
                    <a:lstStyle/>
                    <a:p>
                      <a:pPr algn="ctr"/>
                      <a:r>
                        <a:rPr lang="en-CA" dirty="0"/>
                        <a:t>A</a:t>
                      </a:r>
                    </a:p>
                  </a:txBody>
                  <a:tcPr/>
                </a:tc>
                <a:tc>
                  <a:txBody>
                    <a:bodyPr/>
                    <a:lstStyle/>
                    <a:p>
                      <a:pPr algn="ctr"/>
                      <a:r>
                        <a:rPr lang="en-CA" dirty="0"/>
                        <a:t>B</a:t>
                      </a:r>
                    </a:p>
                  </a:txBody>
                  <a:tcPr/>
                </a:tc>
                <a:extLst>
                  <a:ext uri="{0D108BD9-81ED-4DB2-BD59-A6C34878D82A}">
                    <a16:rowId xmlns:a16="http://schemas.microsoft.com/office/drawing/2014/main" val="2961602566"/>
                  </a:ext>
                </a:extLst>
              </a:tr>
              <a:tr h="370840">
                <a:tc>
                  <a:txBody>
                    <a:bodyPr/>
                    <a:lstStyle/>
                    <a:p>
                      <a:pPr algn="ctr"/>
                      <a:r>
                        <a:rPr lang="en-CA" dirty="0"/>
                        <a:t>0</a:t>
                      </a:r>
                    </a:p>
                  </a:txBody>
                  <a:tcPr/>
                </a:tc>
                <a:tc>
                  <a:txBody>
                    <a:bodyPr/>
                    <a:lstStyle/>
                    <a:p>
                      <a:pPr algn="ctr"/>
                      <a:r>
                        <a:rPr lang="en-CA" dirty="0"/>
                        <a:t>1</a:t>
                      </a:r>
                    </a:p>
                  </a:txBody>
                  <a:tcPr/>
                </a:tc>
                <a:extLst>
                  <a:ext uri="{0D108BD9-81ED-4DB2-BD59-A6C34878D82A}">
                    <a16:rowId xmlns:a16="http://schemas.microsoft.com/office/drawing/2014/main" val="1965663002"/>
                  </a:ext>
                </a:extLst>
              </a:tr>
              <a:tr h="370840">
                <a:tc>
                  <a:txBody>
                    <a:bodyPr/>
                    <a:lstStyle/>
                    <a:p>
                      <a:pPr algn="ctr"/>
                      <a:r>
                        <a:rPr lang="en-CA" dirty="0"/>
                        <a:t>1</a:t>
                      </a:r>
                    </a:p>
                  </a:txBody>
                  <a:tcPr/>
                </a:tc>
                <a:tc>
                  <a:txBody>
                    <a:bodyPr/>
                    <a:lstStyle/>
                    <a:p>
                      <a:pPr algn="ctr"/>
                      <a:r>
                        <a:rPr lang="en-CA" dirty="0"/>
                        <a:t>Z</a:t>
                      </a:r>
                    </a:p>
                  </a:txBody>
                  <a:tcPr/>
                </a:tc>
                <a:extLst>
                  <a:ext uri="{0D108BD9-81ED-4DB2-BD59-A6C34878D82A}">
                    <a16:rowId xmlns:a16="http://schemas.microsoft.com/office/drawing/2014/main" val="1482734216"/>
                  </a:ext>
                </a:extLst>
              </a:tr>
            </a:tbl>
          </a:graphicData>
        </a:graphic>
      </p:graphicFrame>
      <p:graphicFrame>
        <p:nvGraphicFramePr>
          <p:cNvPr id="18" name="Table 9">
            <a:extLst>
              <a:ext uri="{FF2B5EF4-FFF2-40B4-BE49-F238E27FC236}">
                <a16:creationId xmlns:a16="http://schemas.microsoft.com/office/drawing/2014/main" id="{19063DEA-3086-4C77-A7C7-A56DBFC0C149}"/>
              </a:ext>
            </a:extLst>
          </p:cNvPr>
          <p:cNvGraphicFramePr>
            <a:graphicFrameLocks noGrp="1"/>
          </p:cNvGraphicFramePr>
          <p:nvPr/>
        </p:nvGraphicFramePr>
        <p:xfrm>
          <a:off x="6541250" y="3154680"/>
          <a:ext cx="1371600" cy="1854200"/>
        </p:xfrm>
        <a:graphic>
          <a:graphicData uri="http://schemas.openxmlformats.org/drawingml/2006/table">
            <a:tbl>
              <a:tblPr firstRow="1" bandRow="1">
                <a:tableStyleId>{3C2FFA5D-87B4-456A-9821-1D502468CF0F}</a:tableStyleId>
              </a:tblPr>
              <a:tblGrid>
                <a:gridCol w="457200">
                  <a:extLst>
                    <a:ext uri="{9D8B030D-6E8A-4147-A177-3AD203B41FA5}">
                      <a16:colId xmlns:a16="http://schemas.microsoft.com/office/drawing/2014/main" val="287580551"/>
                    </a:ext>
                  </a:extLst>
                </a:gridCol>
                <a:gridCol w="457200">
                  <a:extLst>
                    <a:ext uri="{9D8B030D-6E8A-4147-A177-3AD203B41FA5}">
                      <a16:colId xmlns:a16="http://schemas.microsoft.com/office/drawing/2014/main" val="3848652840"/>
                    </a:ext>
                  </a:extLst>
                </a:gridCol>
                <a:gridCol w="457200">
                  <a:extLst>
                    <a:ext uri="{9D8B030D-6E8A-4147-A177-3AD203B41FA5}">
                      <a16:colId xmlns:a16="http://schemas.microsoft.com/office/drawing/2014/main" val="3262824179"/>
                    </a:ext>
                  </a:extLst>
                </a:gridCol>
              </a:tblGrid>
              <a:tr h="370840">
                <a:tc>
                  <a:txBody>
                    <a:bodyPr/>
                    <a:lstStyle/>
                    <a:p>
                      <a:pPr algn="ctr"/>
                      <a:r>
                        <a:rPr lang="en-CA" dirty="0"/>
                        <a:t>A</a:t>
                      </a:r>
                    </a:p>
                  </a:txBody>
                  <a:tcPr/>
                </a:tc>
                <a:tc>
                  <a:txBody>
                    <a:bodyPr/>
                    <a:lstStyle/>
                    <a:p>
                      <a:pPr algn="ctr"/>
                      <a:r>
                        <a:rPr lang="en-CA" dirty="0"/>
                        <a:t>B</a:t>
                      </a:r>
                    </a:p>
                  </a:txBody>
                  <a:tcPr/>
                </a:tc>
                <a:tc>
                  <a:txBody>
                    <a:bodyPr/>
                    <a:lstStyle/>
                    <a:p>
                      <a:pPr algn="ctr"/>
                      <a:r>
                        <a:rPr lang="en-CA" dirty="0"/>
                        <a:t>C</a:t>
                      </a:r>
                    </a:p>
                  </a:txBody>
                  <a:tcPr/>
                </a:tc>
                <a:extLst>
                  <a:ext uri="{0D108BD9-81ED-4DB2-BD59-A6C34878D82A}">
                    <a16:rowId xmlns:a16="http://schemas.microsoft.com/office/drawing/2014/main" val="2961602566"/>
                  </a:ext>
                </a:extLst>
              </a:tr>
              <a:tr h="370840">
                <a:tc>
                  <a:txBody>
                    <a:bodyPr/>
                    <a:lstStyle/>
                    <a:p>
                      <a:pPr algn="ctr"/>
                      <a:r>
                        <a:rPr lang="en-CA" dirty="0"/>
                        <a:t>0</a:t>
                      </a:r>
                    </a:p>
                  </a:txBody>
                  <a:tcPr/>
                </a:tc>
                <a:tc>
                  <a:txBody>
                    <a:bodyPr/>
                    <a:lstStyle/>
                    <a:p>
                      <a:pPr algn="ctr"/>
                      <a:r>
                        <a:rPr lang="en-CA" dirty="0"/>
                        <a:t>0</a:t>
                      </a:r>
                    </a:p>
                  </a:txBody>
                  <a:tcPr/>
                </a:tc>
                <a:tc>
                  <a:txBody>
                    <a:bodyPr/>
                    <a:lstStyle/>
                    <a:p>
                      <a:pPr algn="ctr"/>
                      <a:r>
                        <a:rPr lang="en-CA" dirty="0"/>
                        <a:t>1</a:t>
                      </a:r>
                    </a:p>
                  </a:txBody>
                  <a:tcPr/>
                </a:tc>
                <a:extLst>
                  <a:ext uri="{0D108BD9-81ED-4DB2-BD59-A6C34878D82A}">
                    <a16:rowId xmlns:a16="http://schemas.microsoft.com/office/drawing/2014/main" val="1965663002"/>
                  </a:ext>
                </a:extLst>
              </a:tr>
              <a:tr h="370840">
                <a:tc>
                  <a:txBody>
                    <a:bodyPr/>
                    <a:lstStyle/>
                    <a:p>
                      <a:pPr algn="ctr"/>
                      <a:r>
                        <a:rPr lang="en-CA" dirty="0"/>
                        <a:t>0</a:t>
                      </a:r>
                    </a:p>
                  </a:txBody>
                  <a:tcPr/>
                </a:tc>
                <a:tc>
                  <a:txBody>
                    <a:bodyPr/>
                    <a:lstStyle/>
                    <a:p>
                      <a:pPr algn="ctr"/>
                      <a:r>
                        <a:rPr lang="en-CA" dirty="0"/>
                        <a:t>1</a:t>
                      </a:r>
                    </a:p>
                  </a:txBody>
                  <a:tcPr/>
                </a:tc>
                <a:tc>
                  <a:txBody>
                    <a:bodyPr/>
                    <a:lstStyle/>
                    <a:p>
                      <a:pPr algn="ctr"/>
                      <a:r>
                        <a:rPr lang="en-CA" dirty="0"/>
                        <a:t>1</a:t>
                      </a:r>
                    </a:p>
                  </a:txBody>
                  <a:tcPr/>
                </a:tc>
                <a:extLst>
                  <a:ext uri="{0D108BD9-81ED-4DB2-BD59-A6C34878D82A}">
                    <a16:rowId xmlns:a16="http://schemas.microsoft.com/office/drawing/2014/main" val="1482734216"/>
                  </a:ext>
                </a:extLst>
              </a:tr>
              <a:tr h="370840">
                <a:tc>
                  <a:txBody>
                    <a:bodyPr/>
                    <a:lstStyle/>
                    <a:p>
                      <a:pPr algn="ctr"/>
                      <a:r>
                        <a:rPr lang="en-CA" dirty="0"/>
                        <a:t>1</a:t>
                      </a:r>
                    </a:p>
                  </a:txBody>
                  <a:tcPr/>
                </a:tc>
                <a:tc>
                  <a:txBody>
                    <a:bodyPr/>
                    <a:lstStyle/>
                    <a:p>
                      <a:pPr algn="ctr"/>
                      <a:r>
                        <a:rPr lang="en-CA" dirty="0"/>
                        <a:t>0</a:t>
                      </a:r>
                    </a:p>
                  </a:txBody>
                  <a:tcPr/>
                </a:tc>
                <a:tc>
                  <a:txBody>
                    <a:bodyPr/>
                    <a:lstStyle/>
                    <a:p>
                      <a:pPr algn="ctr"/>
                      <a:r>
                        <a:rPr lang="en-CA" dirty="0"/>
                        <a:t>1</a:t>
                      </a:r>
                    </a:p>
                  </a:txBody>
                  <a:tcPr/>
                </a:tc>
                <a:extLst>
                  <a:ext uri="{0D108BD9-81ED-4DB2-BD59-A6C34878D82A}">
                    <a16:rowId xmlns:a16="http://schemas.microsoft.com/office/drawing/2014/main" val="1849887607"/>
                  </a:ext>
                </a:extLst>
              </a:tr>
              <a:tr h="370840">
                <a:tc>
                  <a:txBody>
                    <a:bodyPr/>
                    <a:lstStyle/>
                    <a:p>
                      <a:pPr algn="ctr"/>
                      <a:r>
                        <a:rPr lang="en-CA" dirty="0"/>
                        <a:t>1</a:t>
                      </a:r>
                    </a:p>
                  </a:txBody>
                  <a:tcPr/>
                </a:tc>
                <a:tc>
                  <a:txBody>
                    <a:bodyPr/>
                    <a:lstStyle/>
                    <a:p>
                      <a:pPr algn="ctr"/>
                      <a:r>
                        <a:rPr lang="en-CA" dirty="0"/>
                        <a:t>1</a:t>
                      </a:r>
                    </a:p>
                  </a:txBody>
                  <a:tcPr/>
                </a:tc>
                <a:tc>
                  <a:txBody>
                    <a:bodyPr/>
                    <a:lstStyle/>
                    <a:p>
                      <a:pPr algn="ctr"/>
                      <a:r>
                        <a:rPr lang="en-CA" dirty="0"/>
                        <a:t>Z</a:t>
                      </a:r>
                    </a:p>
                  </a:txBody>
                  <a:tcPr/>
                </a:tc>
                <a:extLst>
                  <a:ext uri="{0D108BD9-81ED-4DB2-BD59-A6C34878D82A}">
                    <a16:rowId xmlns:a16="http://schemas.microsoft.com/office/drawing/2014/main" val="3078186550"/>
                  </a:ext>
                </a:extLst>
              </a:tr>
            </a:tbl>
          </a:graphicData>
        </a:graphic>
      </p:graphicFrame>
      <p:pic>
        <p:nvPicPr>
          <p:cNvPr id="9" name="Picture 8" descr="A picture containing drawing&#10;&#10;Description automatically generated">
            <a:extLst>
              <a:ext uri="{FF2B5EF4-FFF2-40B4-BE49-F238E27FC236}">
                <a16:creationId xmlns:a16="http://schemas.microsoft.com/office/drawing/2014/main" id="{60C15CBD-98AB-4EF7-9726-78BE761858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844" y="1886629"/>
            <a:ext cx="2267909" cy="963251"/>
          </a:xfrm>
          <a:prstGeom prst="rect">
            <a:avLst/>
          </a:prstGeom>
        </p:spPr>
      </p:pic>
      <p:pic>
        <p:nvPicPr>
          <p:cNvPr id="13" name="Picture 12" descr="A close up of a sign&#10;&#10;Description automatically generated">
            <a:extLst>
              <a:ext uri="{FF2B5EF4-FFF2-40B4-BE49-F238E27FC236}">
                <a16:creationId xmlns:a16="http://schemas.microsoft.com/office/drawing/2014/main" id="{847F2240-B3E1-431A-BBB9-9376F0F0BC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95494" y="1886628"/>
            <a:ext cx="2267909" cy="963251"/>
          </a:xfrm>
          <a:prstGeom prst="rect">
            <a:avLst/>
          </a:prstGeom>
        </p:spPr>
      </p:pic>
      <p:pic>
        <p:nvPicPr>
          <p:cNvPr id="17" name="Picture 16" descr="A picture containing drawing, clock&#10;&#10;Description automatically generated">
            <a:extLst>
              <a:ext uri="{FF2B5EF4-FFF2-40B4-BE49-F238E27FC236}">
                <a16:creationId xmlns:a16="http://schemas.microsoft.com/office/drawing/2014/main" id="{4C30EBD9-95C3-4C14-8D69-13903858751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144" y="1886628"/>
            <a:ext cx="2261812" cy="951058"/>
          </a:xfrm>
          <a:prstGeom prst="rect">
            <a:avLst/>
          </a:prstGeom>
        </p:spPr>
      </p:pic>
    </p:spTree>
    <p:extLst>
      <p:ext uri="{BB962C8B-B14F-4D97-AF65-F5344CB8AC3E}">
        <p14:creationId xmlns:p14="http://schemas.microsoft.com/office/powerpoint/2010/main" val="93696794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CE3C8-4F9B-4B33-81DA-2AA724175590}"/>
              </a:ext>
            </a:extLst>
          </p:cNvPr>
          <p:cNvSpPr>
            <a:spLocks noGrp="1"/>
          </p:cNvSpPr>
          <p:nvPr>
            <p:ph type="title"/>
          </p:nvPr>
        </p:nvSpPr>
        <p:spPr/>
        <p:txBody>
          <a:bodyPr/>
          <a:lstStyle/>
          <a:p>
            <a:r>
              <a:rPr lang="en-CA" dirty="0"/>
              <a:t>Tri-State Output Drivers</a:t>
            </a:r>
          </a:p>
        </p:txBody>
      </p:sp>
      <p:sp>
        <p:nvSpPr>
          <p:cNvPr id="3" name="Content Placeholder 2">
            <a:extLst>
              <a:ext uri="{FF2B5EF4-FFF2-40B4-BE49-F238E27FC236}">
                <a16:creationId xmlns:a16="http://schemas.microsoft.com/office/drawing/2014/main" id="{2844779D-5991-4465-9B8D-AB5696784A96}"/>
              </a:ext>
            </a:extLst>
          </p:cNvPr>
          <p:cNvSpPr>
            <a:spLocks noGrp="1"/>
          </p:cNvSpPr>
          <p:nvPr>
            <p:ph idx="1"/>
          </p:nvPr>
        </p:nvSpPr>
        <p:spPr/>
        <p:txBody>
          <a:bodyPr/>
          <a:lstStyle/>
          <a:p>
            <a:r>
              <a:rPr lang="en-CA" dirty="0"/>
              <a:t>A tri-state output driver can be used to implement three possible output values (0, 1, or Z)</a:t>
            </a:r>
          </a:p>
        </p:txBody>
      </p:sp>
      <p:sp>
        <p:nvSpPr>
          <p:cNvPr id="4" name="Footer Placeholder 3">
            <a:extLst>
              <a:ext uri="{FF2B5EF4-FFF2-40B4-BE49-F238E27FC236}">
                <a16:creationId xmlns:a16="http://schemas.microsoft.com/office/drawing/2014/main" id="{36D8B757-94F3-4C81-B269-DA1E5F4AC61B}"/>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2CE680FF-F7D3-47D4-B346-6B01BCEFC663}"/>
              </a:ext>
            </a:extLst>
          </p:cNvPr>
          <p:cNvSpPr>
            <a:spLocks noGrp="1"/>
          </p:cNvSpPr>
          <p:nvPr>
            <p:ph type="sldNum" sz="quarter" idx="11"/>
          </p:nvPr>
        </p:nvSpPr>
        <p:spPr/>
        <p:txBody>
          <a:bodyPr/>
          <a:lstStyle/>
          <a:p>
            <a:pPr>
              <a:defRPr/>
            </a:pPr>
            <a:fld id="{72682330-DDB7-47C0-8BEC-295D3A41AB1F}" type="slidenum">
              <a:rPr lang="en-US" smtClean="0"/>
              <a:pPr>
                <a:defRPr/>
              </a:pPr>
              <a:t>57</a:t>
            </a:fld>
            <a:endParaRPr lang="en-US" dirty="0"/>
          </a:p>
        </p:txBody>
      </p:sp>
      <p:sp>
        <p:nvSpPr>
          <p:cNvPr id="6" name="Date Placeholder 5">
            <a:extLst>
              <a:ext uri="{FF2B5EF4-FFF2-40B4-BE49-F238E27FC236}">
                <a16:creationId xmlns:a16="http://schemas.microsoft.com/office/drawing/2014/main" id="{20E51EE4-8A92-4B74-A655-198624CDD0DC}"/>
              </a:ext>
            </a:extLst>
          </p:cNvPr>
          <p:cNvSpPr>
            <a:spLocks noGrp="1"/>
          </p:cNvSpPr>
          <p:nvPr>
            <p:ph type="dt" sz="half" idx="12"/>
          </p:nvPr>
        </p:nvSpPr>
        <p:spPr/>
        <p:txBody>
          <a:bodyPr/>
          <a:lstStyle/>
          <a:p>
            <a:pPr>
              <a:defRPr/>
            </a:pPr>
            <a:r>
              <a:rPr lang="en-US"/>
              <a:t>Fall 2021</a:t>
            </a:r>
            <a:endParaRPr lang="en-CA" dirty="0"/>
          </a:p>
        </p:txBody>
      </p:sp>
    </p:spTree>
    <p:extLst>
      <p:ext uri="{BB962C8B-B14F-4D97-AF65-F5344CB8AC3E}">
        <p14:creationId xmlns:p14="http://schemas.microsoft.com/office/powerpoint/2010/main" val="106078507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CE3C8-4F9B-4B33-81DA-2AA724175590}"/>
              </a:ext>
            </a:extLst>
          </p:cNvPr>
          <p:cNvSpPr>
            <a:spLocks noGrp="1"/>
          </p:cNvSpPr>
          <p:nvPr>
            <p:ph type="title"/>
          </p:nvPr>
        </p:nvSpPr>
        <p:spPr/>
        <p:txBody>
          <a:bodyPr/>
          <a:lstStyle/>
          <a:p>
            <a:r>
              <a:rPr lang="en-CA" dirty="0"/>
              <a:t>Tri-State Output Drivers</a:t>
            </a:r>
          </a:p>
        </p:txBody>
      </p:sp>
      <p:sp>
        <p:nvSpPr>
          <p:cNvPr id="3" name="Content Placeholder 2">
            <a:extLst>
              <a:ext uri="{FF2B5EF4-FFF2-40B4-BE49-F238E27FC236}">
                <a16:creationId xmlns:a16="http://schemas.microsoft.com/office/drawing/2014/main" id="{2844779D-5991-4465-9B8D-AB5696784A96}"/>
              </a:ext>
            </a:extLst>
          </p:cNvPr>
          <p:cNvSpPr>
            <a:spLocks noGrp="1"/>
          </p:cNvSpPr>
          <p:nvPr>
            <p:ph idx="1"/>
          </p:nvPr>
        </p:nvSpPr>
        <p:spPr/>
        <p:txBody>
          <a:bodyPr/>
          <a:lstStyle/>
          <a:p>
            <a:r>
              <a:rPr lang="en-CA" dirty="0"/>
              <a:t>A tri-state output driver can be used to implement three possible output values (0, 1, or Z)</a:t>
            </a:r>
          </a:p>
          <a:p>
            <a:r>
              <a:rPr lang="en-CA" dirty="0"/>
              <a:t>Most often, tri-state output drivers are implemented on buffers but they can be implemented on any digital logic gate</a:t>
            </a:r>
          </a:p>
        </p:txBody>
      </p:sp>
      <p:sp>
        <p:nvSpPr>
          <p:cNvPr id="4" name="Footer Placeholder 3">
            <a:extLst>
              <a:ext uri="{FF2B5EF4-FFF2-40B4-BE49-F238E27FC236}">
                <a16:creationId xmlns:a16="http://schemas.microsoft.com/office/drawing/2014/main" id="{36D8B757-94F3-4C81-B269-DA1E5F4AC61B}"/>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2CE680FF-F7D3-47D4-B346-6B01BCEFC663}"/>
              </a:ext>
            </a:extLst>
          </p:cNvPr>
          <p:cNvSpPr>
            <a:spLocks noGrp="1"/>
          </p:cNvSpPr>
          <p:nvPr>
            <p:ph type="sldNum" sz="quarter" idx="11"/>
          </p:nvPr>
        </p:nvSpPr>
        <p:spPr/>
        <p:txBody>
          <a:bodyPr/>
          <a:lstStyle/>
          <a:p>
            <a:pPr>
              <a:defRPr/>
            </a:pPr>
            <a:fld id="{72682330-DDB7-47C0-8BEC-295D3A41AB1F}" type="slidenum">
              <a:rPr lang="en-US" smtClean="0"/>
              <a:pPr>
                <a:defRPr/>
              </a:pPr>
              <a:t>58</a:t>
            </a:fld>
            <a:endParaRPr lang="en-US" dirty="0"/>
          </a:p>
        </p:txBody>
      </p:sp>
      <p:sp>
        <p:nvSpPr>
          <p:cNvPr id="6" name="Date Placeholder 5">
            <a:extLst>
              <a:ext uri="{FF2B5EF4-FFF2-40B4-BE49-F238E27FC236}">
                <a16:creationId xmlns:a16="http://schemas.microsoft.com/office/drawing/2014/main" id="{20E51EE4-8A92-4B74-A655-198624CDD0DC}"/>
              </a:ext>
            </a:extLst>
          </p:cNvPr>
          <p:cNvSpPr>
            <a:spLocks noGrp="1"/>
          </p:cNvSpPr>
          <p:nvPr>
            <p:ph type="dt" sz="half" idx="12"/>
          </p:nvPr>
        </p:nvSpPr>
        <p:spPr/>
        <p:txBody>
          <a:bodyPr/>
          <a:lstStyle/>
          <a:p>
            <a:pPr>
              <a:defRPr/>
            </a:pPr>
            <a:r>
              <a:rPr lang="en-US"/>
              <a:t>Fall 2021</a:t>
            </a:r>
            <a:endParaRPr lang="en-CA" dirty="0"/>
          </a:p>
        </p:txBody>
      </p:sp>
    </p:spTree>
    <p:extLst>
      <p:ext uri="{BB962C8B-B14F-4D97-AF65-F5344CB8AC3E}">
        <p14:creationId xmlns:p14="http://schemas.microsoft.com/office/powerpoint/2010/main" val="278008492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CE3C8-4F9B-4B33-81DA-2AA724175590}"/>
              </a:ext>
            </a:extLst>
          </p:cNvPr>
          <p:cNvSpPr>
            <a:spLocks noGrp="1"/>
          </p:cNvSpPr>
          <p:nvPr>
            <p:ph type="title"/>
          </p:nvPr>
        </p:nvSpPr>
        <p:spPr/>
        <p:txBody>
          <a:bodyPr/>
          <a:lstStyle/>
          <a:p>
            <a:r>
              <a:rPr lang="en-CA" dirty="0"/>
              <a:t>Tri-State Output Drivers</a:t>
            </a:r>
          </a:p>
        </p:txBody>
      </p:sp>
      <p:sp>
        <p:nvSpPr>
          <p:cNvPr id="3" name="Content Placeholder 2">
            <a:extLst>
              <a:ext uri="{FF2B5EF4-FFF2-40B4-BE49-F238E27FC236}">
                <a16:creationId xmlns:a16="http://schemas.microsoft.com/office/drawing/2014/main" id="{2844779D-5991-4465-9B8D-AB5696784A96}"/>
              </a:ext>
            </a:extLst>
          </p:cNvPr>
          <p:cNvSpPr>
            <a:spLocks noGrp="1"/>
          </p:cNvSpPr>
          <p:nvPr>
            <p:ph idx="1"/>
          </p:nvPr>
        </p:nvSpPr>
        <p:spPr/>
        <p:txBody>
          <a:bodyPr/>
          <a:lstStyle/>
          <a:p>
            <a:r>
              <a:rPr lang="en-CA" dirty="0"/>
              <a:t>A tri-state output driver can be used to implement three possible output values (0, 1, or Z)</a:t>
            </a:r>
          </a:p>
          <a:p>
            <a:r>
              <a:rPr lang="en-CA" dirty="0"/>
              <a:t>Most often, tri-state output drivers are implemented on buffers but they can be implemented on any digital logic gate</a:t>
            </a:r>
          </a:p>
          <a:p>
            <a:r>
              <a:rPr lang="en-CA" dirty="0"/>
              <a:t>A control input entering the bottom of the gate is typically a sign that the gate uses a tri-state output (</a:t>
            </a:r>
            <a:r>
              <a:rPr lang="en-CA" i="1" dirty="0"/>
              <a:t>but not always</a:t>
            </a:r>
            <a:r>
              <a:rPr lang="en-CA" dirty="0"/>
              <a:t>)</a:t>
            </a:r>
          </a:p>
        </p:txBody>
      </p:sp>
      <p:sp>
        <p:nvSpPr>
          <p:cNvPr id="4" name="Footer Placeholder 3">
            <a:extLst>
              <a:ext uri="{FF2B5EF4-FFF2-40B4-BE49-F238E27FC236}">
                <a16:creationId xmlns:a16="http://schemas.microsoft.com/office/drawing/2014/main" id="{36D8B757-94F3-4C81-B269-DA1E5F4AC61B}"/>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2CE680FF-F7D3-47D4-B346-6B01BCEFC663}"/>
              </a:ext>
            </a:extLst>
          </p:cNvPr>
          <p:cNvSpPr>
            <a:spLocks noGrp="1"/>
          </p:cNvSpPr>
          <p:nvPr>
            <p:ph type="sldNum" sz="quarter" idx="11"/>
          </p:nvPr>
        </p:nvSpPr>
        <p:spPr/>
        <p:txBody>
          <a:bodyPr/>
          <a:lstStyle/>
          <a:p>
            <a:pPr>
              <a:defRPr/>
            </a:pPr>
            <a:fld id="{72682330-DDB7-47C0-8BEC-295D3A41AB1F}" type="slidenum">
              <a:rPr lang="en-US" smtClean="0"/>
              <a:pPr>
                <a:defRPr/>
              </a:pPr>
              <a:t>59</a:t>
            </a:fld>
            <a:endParaRPr lang="en-US" dirty="0"/>
          </a:p>
        </p:txBody>
      </p:sp>
      <p:sp>
        <p:nvSpPr>
          <p:cNvPr id="6" name="Date Placeholder 5">
            <a:extLst>
              <a:ext uri="{FF2B5EF4-FFF2-40B4-BE49-F238E27FC236}">
                <a16:creationId xmlns:a16="http://schemas.microsoft.com/office/drawing/2014/main" id="{20E51EE4-8A92-4B74-A655-198624CDD0DC}"/>
              </a:ext>
            </a:extLst>
          </p:cNvPr>
          <p:cNvSpPr>
            <a:spLocks noGrp="1"/>
          </p:cNvSpPr>
          <p:nvPr>
            <p:ph type="dt" sz="half" idx="12"/>
          </p:nvPr>
        </p:nvSpPr>
        <p:spPr/>
        <p:txBody>
          <a:bodyPr/>
          <a:lstStyle/>
          <a:p>
            <a:pPr>
              <a:defRPr/>
            </a:pPr>
            <a:r>
              <a:rPr lang="en-US"/>
              <a:t>Fall 2021</a:t>
            </a:r>
            <a:endParaRPr lang="en-CA" dirty="0"/>
          </a:p>
        </p:txBody>
      </p:sp>
      <p:pic>
        <p:nvPicPr>
          <p:cNvPr id="8" name="Picture 7" descr="A picture containing drawing&#10;&#10;Description automatically generated">
            <a:extLst>
              <a:ext uri="{FF2B5EF4-FFF2-40B4-BE49-F238E27FC236}">
                <a16:creationId xmlns:a16="http://schemas.microsoft.com/office/drawing/2014/main" id="{891629C5-106E-42AE-9F5F-02D689DA14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 y="3962400"/>
            <a:ext cx="2261812" cy="1353429"/>
          </a:xfrm>
          <a:prstGeom prst="rect">
            <a:avLst/>
          </a:prstGeom>
        </p:spPr>
      </p:pic>
    </p:spTree>
    <p:extLst>
      <p:ext uri="{BB962C8B-B14F-4D97-AF65-F5344CB8AC3E}">
        <p14:creationId xmlns:p14="http://schemas.microsoft.com/office/powerpoint/2010/main" val="200648112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CE3C8-4F9B-4B33-81DA-2AA724175590}"/>
              </a:ext>
            </a:extLst>
          </p:cNvPr>
          <p:cNvSpPr>
            <a:spLocks noGrp="1"/>
          </p:cNvSpPr>
          <p:nvPr>
            <p:ph type="title"/>
          </p:nvPr>
        </p:nvSpPr>
        <p:spPr/>
        <p:txBody>
          <a:bodyPr/>
          <a:lstStyle/>
          <a:p>
            <a:r>
              <a:rPr lang="en-CA" dirty="0"/>
              <a:t>Tri-State Output Drivers</a:t>
            </a:r>
          </a:p>
        </p:txBody>
      </p:sp>
      <p:sp>
        <p:nvSpPr>
          <p:cNvPr id="3" name="Content Placeholder 2">
            <a:extLst>
              <a:ext uri="{FF2B5EF4-FFF2-40B4-BE49-F238E27FC236}">
                <a16:creationId xmlns:a16="http://schemas.microsoft.com/office/drawing/2014/main" id="{2844779D-5991-4465-9B8D-AB5696784A96}"/>
              </a:ext>
            </a:extLst>
          </p:cNvPr>
          <p:cNvSpPr>
            <a:spLocks noGrp="1"/>
          </p:cNvSpPr>
          <p:nvPr>
            <p:ph idx="1"/>
          </p:nvPr>
        </p:nvSpPr>
        <p:spPr/>
        <p:txBody>
          <a:bodyPr/>
          <a:lstStyle/>
          <a:p>
            <a:r>
              <a:rPr lang="en-CA" dirty="0"/>
              <a:t>A tri-state output driver can be used to implement three possible output values (0, 1, or Z)</a:t>
            </a:r>
          </a:p>
          <a:p>
            <a:r>
              <a:rPr lang="en-CA" dirty="0"/>
              <a:t>Most often, tri-state output drivers are implemented on buffers but they can be implemented on any digital logic gate</a:t>
            </a:r>
          </a:p>
          <a:p>
            <a:r>
              <a:rPr lang="en-CA" dirty="0"/>
              <a:t>A control input entering the bottom of the gate is typically a sign that the gate uses a tri-state output (</a:t>
            </a:r>
            <a:r>
              <a:rPr lang="en-CA" i="1" dirty="0"/>
              <a:t>but not always</a:t>
            </a:r>
            <a:r>
              <a:rPr lang="en-CA" dirty="0"/>
              <a:t>)</a:t>
            </a:r>
          </a:p>
        </p:txBody>
      </p:sp>
      <p:sp>
        <p:nvSpPr>
          <p:cNvPr id="4" name="Footer Placeholder 3">
            <a:extLst>
              <a:ext uri="{FF2B5EF4-FFF2-40B4-BE49-F238E27FC236}">
                <a16:creationId xmlns:a16="http://schemas.microsoft.com/office/drawing/2014/main" id="{36D8B757-94F3-4C81-B269-DA1E5F4AC61B}"/>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2CE680FF-F7D3-47D4-B346-6B01BCEFC663}"/>
              </a:ext>
            </a:extLst>
          </p:cNvPr>
          <p:cNvSpPr>
            <a:spLocks noGrp="1"/>
          </p:cNvSpPr>
          <p:nvPr>
            <p:ph type="sldNum" sz="quarter" idx="11"/>
          </p:nvPr>
        </p:nvSpPr>
        <p:spPr/>
        <p:txBody>
          <a:bodyPr/>
          <a:lstStyle/>
          <a:p>
            <a:pPr>
              <a:defRPr/>
            </a:pPr>
            <a:fld id="{72682330-DDB7-47C0-8BEC-295D3A41AB1F}" type="slidenum">
              <a:rPr lang="en-US" smtClean="0"/>
              <a:pPr>
                <a:defRPr/>
              </a:pPr>
              <a:t>60</a:t>
            </a:fld>
            <a:endParaRPr lang="en-US" dirty="0"/>
          </a:p>
        </p:txBody>
      </p:sp>
      <p:sp>
        <p:nvSpPr>
          <p:cNvPr id="6" name="Date Placeholder 5">
            <a:extLst>
              <a:ext uri="{FF2B5EF4-FFF2-40B4-BE49-F238E27FC236}">
                <a16:creationId xmlns:a16="http://schemas.microsoft.com/office/drawing/2014/main" id="{20E51EE4-8A92-4B74-A655-198624CDD0DC}"/>
              </a:ext>
            </a:extLst>
          </p:cNvPr>
          <p:cNvSpPr>
            <a:spLocks noGrp="1"/>
          </p:cNvSpPr>
          <p:nvPr>
            <p:ph type="dt" sz="half" idx="12"/>
          </p:nvPr>
        </p:nvSpPr>
        <p:spPr/>
        <p:txBody>
          <a:bodyPr/>
          <a:lstStyle/>
          <a:p>
            <a:pPr>
              <a:defRPr/>
            </a:pPr>
            <a:r>
              <a:rPr lang="en-US"/>
              <a:t>Fall 2021</a:t>
            </a:r>
            <a:endParaRPr lang="en-CA" dirty="0"/>
          </a:p>
        </p:txBody>
      </p:sp>
      <p:pic>
        <p:nvPicPr>
          <p:cNvPr id="8" name="Picture 7" descr="A picture containing drawing&#10;&#10;Description automatically generated">
            <a:extLst>
              <a:ext uri="{FF2B5EF4-FFF2-40B4-BE49-F238E27FC236}">
                <a16:creationId xmlns:a16="http://schemas.microsoft.com/office/drawing/2014/main" id="{891629C5-106E-42AE-9F5F-02D689DA14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 y="3962400"/>
            <a:ext cx="2261812" cy="1353429"/>
          </a:xfrm>
          <a:prstGeom prst="rect">
            <a:avLst/>
          </a:prstGeom>
        </p:spPr>
      </p:pic>
      <p:graphicFrame>
        <p:nvGraphicFramePr>
          <p:cNvPr id="10" name="Table 9">
            <a:extLst>
              <a:ext uri="{FF2B5EF4-FFF2-40B4-BE49-F238E27FC236}">
                <a16:creationId xmlns:a16="http://schemas.microsoft.com/office/drawing/2014/main" id="{2AD91516-DB4D-4294-8967-1F9B56856EAA}"/>
              </a:ext>
            </a:extLst>
          </p:cNvPr>
          <p:cNvGraphicFramePr>
            <a:graphicFrameLocks noGrp="1"/>
          </p:cNvGraphicFramePr>
          <p:nvPr/>
        </p:nvGraphicFramePr>
        <p:xfrm>
          <a:off x="3848953" y="3712014"/>
          <a:ext cx="1371600" cy="1854200"/>
        </p:xfrm>
        <a:graphic>
          <a:graphicData uri="http://schemas.openxmlformats.org/drawingml/2006/table">
            <a:tbl>
              <a:tblPr firstRow="1" bandRow="1">
                <a:tableStyleId>{3C2FFA5D-87B4-456A-9821-1D502468CF0F}</a:tableStyleId>
              </a:tblPr>
              <a:tblGrid>
                <a:gridCol w="457200">
                  <a:extLst>
                    <a:ext uri="{9D8B030D-6E8A-4147-A177-3AD203B41FA5}">
                      <a16:colId xmlns:a16="http://schemas.microsoft.com/office/drawing/2014/main" val="287580551"/>
                    </a:ext>
                  </a:extLst>
                </a:gridCol>
                <a:gridCol w="457200">
                  <a:extLst>
                    <a:ext uri="{9D8B030D-6E8A-4147-A177-3AD203B41FA5}">
                      <a16:colId xmlns:a16="http://schemas.microsoft.com/office/drawing/2014/main" val="3848652840"/>
                    </a:ext>
                  </a:extLst>
                </a:gridCol>
                <a:gridCol w="457200">
                  <a:extLst>
                    <a:ext uri="{9D8B030D-6E8A-4147-A177-3AD203B41FA5}">
                      <a16:colId xmlns:a16="http://schemas.microsoft.com/office/drawing/2014/main" val="3262824179"/>
                    </a:ext>
                  </a:extLst>
                </a:gridCol>
              </a:tblGrid>
              <a:tr h="370840">
                <a:tc>
                  <a:txBody>
                    <a:bodyPr/>
                    <a:lstStyle/>
                    <a:p>
                      <a:pPr algn="ctr"/>
                      <a:r>
                        <a:rPr lang="en-CA" dirty="0"/>
                        <a:t>A</a:t>
                      </a:r>
                    </a:p>
                  </a:txBody>
                  <a:tcPr/>
                </a:tc>
                <a:tc>
                  <a:txBody>
                    <a:bodyPr/>
                    <a:lstStyle/>
                    <a:p>
                      <a:pPr algn="ctr"/>
                      <a:r>
                        <a:rPr lang="en-CA" dirty="0"/>
                        <a:t>B</a:t>
                      </a:r>
                    </a:p>
                  </a:txBody>
                  <a:tcPr/>
                </a:tc>
                <a:tc>
                  <a:txBody>
                    <a:bodyPr/>
                    <a:lstStyle/>
                    <a:p>
                      <a:pPr algn="ctr"/>
                      <a:r>
                        <a:rPr lang="en-CA" dirty="0"/>
                        <a:t>C</a:t>
                      </a:r>
                    </a:p>
                  </a:txBody>
                  <a:tcPr/>
                </a:tc>
                <a:extLst>
                  <a:ext uri="{0D108BD9-81ED-4DB2-BD59-A6C34878D82A}">
                    <a16:rowId xmlns:a16="http://schemas.microsoft.com/office/drawing/2014/main" val="2961602566"/>
                  </a:ext>
                </a:extLst>
              </a:tr>
              <a:tr h="370840">
                <a:tc>
                  <a:txBody>
                    <a:bodyPr/>
                    <a:lstStyle/>
                    <a:p>
                      <a:pPr algn="ctr"/>
                      <a:r>
                        <a:rPr lang="en-CA" dirty="0"/>
                        <a:t>0</a:t>
                      </a:r>
                    </a:p>
                  </a:txBody>
                  <a:tcPr/>
                </a:tc>
                <a:tc>
                  <a:txBody>
                    <a:bodyPr/>
                    <a:lstStyle/>
                    <a:p>
                      <a:pPr algn="ctr"/>
                      <a:r>
                        <a:rPr lang="en-CA" dirty="0"/>
                        <a:t>0</a:t>
                      </a:r>
                    </a:p>
                  </a:txBody>
                  <a:tcPr/>
                </a:tc>
                <a:tc>
                  <a:txBody>
                    <a:bodyPr/>
                    <a:lstStyle/>
                    <a:p>
                      <a:pPr algn="ctr"/>
                      <a:r>
                        <a:rPr lang="en-CA" dirty="0"/>
                        <a:t>Z</a:t>
                      </a:r>
                    </a:p>
                  </a:txBody>
                  <a:tcPr/>
                </a:tc>
                <a:extLst>
                  <a:ext uri="{0D108BD9-81ED-4DB2-BD59-A6C34878D82A}">
                    <a16:rowId xmlns:a16="http://schemas.microsoft.com/office/drawing/2014/main" val="1965663002"/>
                  </a:ext>
                </a:extLst>
              </a:tr>
              <a:tr h="370840">
                <a:tc>
                  <a:txBody>
                    <a:bodyPr/>
                    <a:lstStyle/>
                    <a:p>
                      <a:pPr algn="ctr"/>
                      <a:r>
                        <a:rPr lang="en-CA" dirty="0"/>
                        <a:t>0</a:t>
                      </a:r>
                    </a:p>
                  </a:txBody>
                  <a:tcPr/>
                </a:tc>
                <a:tc>
                  <a:txBody>
                    <a:bodyPr/>
                    <a:lstStyle/>
                    <a:p>
                      <a:pPr algn="ctr"/>
                      <a:r>
                        <a:rPr lang="en-CA" dirty="0"/>
                        <a:t>1</a:t>
                      </a:r>
                    </a:p>
                  </a:txBody>
                  <a:tcPr/>
                </a:tc>
                <a:tc>
                  <a:txBody>
                    <a:bodyPr/>
                    <a:lstStyle/>
                    <a:p>
                      <a:pPr algn="ctr"/>
                      <a:r>
                        <a:rPr lang="en-CA" dirty="0"/>
                        <a:t>0</a:t>
                      </a:r>
                    </a:p>
                  </a:txBody>
                  <a:tcPr/>
                </a:tc>
                <a:extLst>
                  <a:ext uri="{0D108BD9-81ED-4DB2-BD59-A6C34878D82A}">
                    <a16:rowId xmlns:a16="http://schemas.microsoft.com/office/drawing/2014/main" val="1482734216"/>
                  </a:ext>
                </a:extLst>
              </a:tr>
              <a:tr h="370840">
                <a:tc>
                  <a:txBody>
                    <a:bodyPr/>
                    <a:lstStyle/>
                    <a:p>
                      <a:pPr algn="ctr"/>
                      <a:r>
                        <a:rPr lang="en-CA" dirty="0"/>
                        <a:t>1</a:t>
                      </a:r>
                    </a:p>
                  </a:txBody>
                  <a:tcPr/>
                </a:tc>
                <a:tc>
                  <a:txBody>
                    <a:bodyPr/>
                    <a:lstStyle/>
                    <a:p>
                      <a:pPr algn="ctr"/>
                      <a:r>
                        <a:rPr lang="en-CA" dirty="0"/>
                        <a:t>0</a:t>
                      </a:r>
                    </a:p>
                  </a:txBody>
                  <a:tcPr/>
                </a:tc>
                <a:tc>
                  <a:txBody>
                    <a:bodyPr/>
                    <a:lstStyle/>
                    <a:p>
                      <a:pPr algn="ctr"/>
                      <a:r>
                        <a:rPr lang="en-CA" dirty="0"/>
                        <a:t>Z</a:t>
                      </a:r>
                    </a:p>
                  </a:txBody>
                  <a:tcPr/>
                </a:tc>
                <a:extLst>
                  <a:ext uri="{0D108BD9-81ED-4DB2-BD59-A6C34878D82A}">
                    <a16:rowId xmlns:a16="http://schemas.microsoft.com/office/drawing/2014/main" val="1849887607"/>
                  </a:ext>
                </a:extLst>
              </a:tr>
              <a:tr h="370840">
                <a:tc>
                  <a:txBody>
                    <a:bodyPr/>
                    <a:lstStyle/>
                    <a:p>
                      <a:pPr algn="ctr"/>
                      <a:r>
                        <a:rPr lang="en-CA" dirty="0"/>
                        <a:t>1</a:t>
                      </a:r>
                    </a:p>
                  </a:txBody>
                  <a:tcPr/>
                </a:tc>
                <a:tc>
                  <a:txBody>
                    <a:bodyPr/>
                    <a:lstStyle/>
                    <a:p>
                      <a:pPr algn="ctr"/>
                      <a:r>
                        <a:rPr lang="en-CA" dirty="0"/>
                        <a:t>1</a:t>
                      </a:r>
                    </a:p>
                  </a:txBody>
                  <a:tcPr/>
                </a:tc>
                <a:tc>
                  <a:txBody>
                    <a:bodyPr/>
                    <a:lstStyle/>
                    <a:p>
                      <a:pPr algn="ctr"/>
                      <a:r>
                        <a:rPr lang="en-CA" dirty="0"/>
                        <a:t>1</a:t>
                      </a:r>
                    </a:p>
                  </a:txBody>
                  <a:tcPr/>
                </a:tc>
                <a:extLst>
                  <a:ext uri="{0D108BD9-81ED-4DB2-BD59-A6C34878D82A}">
                    <a16:rowId xmlns:a16="http://schemas.microsoft.com/office/drawing/2014/main" val="3078186550"/>
                  </a:ext>
                </a:extLst>
              </a:tr>
            </a:tbl>
          </a:graphicData>
        </a:graphic>
      </p:graphicFrame>
    </p:spTree>
    <p:extLst>
      <p:ext uri="{BB962C8B-B14F-4D97-AF65-F5344CB8AC3E}">
        <p14:creationId xmlns:p14="http://schemas.microsoft.com/office/powerpoint/2010/main" val="140340189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CE3C8-4F9B-4B33-81DA-2AA724175590}"/>
              </a:ext>
            </a:extLst>
          </p:cNvPr>
          <p:cNvSpPr>
            <a:spLocks noGrp="1"/>
          </p:cNvSpPr>
          <p:nvPr>
            <p:ph type="title"/>
          </p:nvPr>
        </p:nvSpPr>
        <p:spPr/>
        <p:txBody>
          <a:bodyPr/>
          <a:lstStyle/>
          <a:p>
            <a:r>
              <a:rPr lang="en-CA" dirty="0"/>
              <a:t>Tri-State Output Drivers</a:t>
            </a:r>
          </a:p>
        </p:txBody>
      </p:sp>
      <p:sp>
        <p:nvSpPr>
          <p:cNvPr id="3" name="Content Placeholder 2">
            <a:extLst>
              <a:ext uri="{FF2B5EF4-FFF2-40B4-BE49-F238E27FC236}">
                <a16:creationId xmlns:a16="http://schemas.microsoft.com/office/drawing/2014/main" id="{2844779D-5991-4465-9B8D-AB5696784A96}"/>
              </a:ext>
            </a:extLst>
          </p:cNvPr>
          <p:cNvSpPr>
            <a:spLocks noGrp="1"/>
          </p:cNvSpPr>
          <p:nvPr>
            <p:ph idx="1"/>
          </p:nvPr>
        </p:nvSpPr>
        <p:spPr/>
        <p:txBody>
          <a:bodyPr/>
          <a:lstStyle/>
          <a:p>
            <a:r>
              <a:rPr lang="en-CA" dirty="0"/>
              <a:t>A tri-state output driver can be used to implement three possible output values (0, 1, or Z)</a:t>
            </a:r>
          </a:p>
          <a:p>
            <a:r>
              <a:rPr lang="en-CA" dirty="0"/>
              <a:t>Most often, tri-state output drivers are implemented on buffers but they can be implemented on any digital logic gate</a:t>
            </a:r>
          </a:p>
          <a:p>
            <a:r>
              <a:rPr lang="en-CA" dirty="0"/>
              <a:t>A control input entering the bottom of the gate is typically a sign that the gate uses a tri-state output (</a:t>
            </a:r>
            <a:r>
              <a:rPr lang="en-CA" i="1" dirty="0"/>
              <a:t>but not always</a:t>
            </a:r>
            <a:r>
              <a:rPr lang="en-CA" dirty="0"/>
              <a:t>)</a:t>
            </a:r>
          </a:p>
        </p:txBody>
      </p:sp>
      <p:sp>
        <p:nvSpPr>
          <p:cNvPr id="4" name="Footer Placeholder 3">
            <a:extLst>
              <a:ext uri="{FF2B5EF4-FFF2-40B4-BE49-F238E27FC236}">
                <a16:creationId xmlns:a16="http://schemas.microsoft.com/office/drawing/2014/main" id="{36D8B757-94F3-4C81-B269-DA1E5F4AC61B}"/>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2CE680FF-F7D3-47D4-B346-6B01BCEFC663}"/>
              </a:ext>
            </a:extLst>
          </p:cNvPr>
          <p:cNvSpPr>
            <a:spLocks noGrp="1"/>
          </p:cNvSpPr>
          <p:nvPr>
            <p:ph type="sldNum" sz="quarter" idx="11"/>
          </p:nvPr>
        </p:nvSpPr>
        <p:spPr/>
        <p:txBody>
          <a:bodyPr/>
          <a:lstStyle/>
          <a:p>
            <a:pPr>
              <a:defRPr/>
            </a:pPr>
            <a:fld id="{72682330-DDB7-47C0-8BEC-295D3A41AB1F}" type="slidenum">
              <a:rPr lang="en-US" smtClean="0"/>
              <a:pPr>
                <a:defRPr/>
              </a:pPr>
              <a:t>61</a:t>
            </a:fld>
            <a:endParaRPr lang="en-US" dirty="0"/>
          </a:p>
        </p:txBody>
      </p:sp>
      <p:sp>
        <p:nvSpPr>
          <p:cNvPr id="6" name="Date Placeholder 5">
            <a:extLst>
              <a:ext uri="{FF2B5EF4-FFF2-40B4-BE49-F238E27FC236}">
                <a16:creationId xmlns:a16="http://schemas.microsoft.com/office/drawing/2014/main" id="{20E51EE4-8A92-4B74-A655-198624CDD0DC}"/>
              </a:ext>
            </a:extLst>
          </p:cNvPr>
          <p:cNvSpPr>
            <a:spLocks noGrp="1"/>
          </p:cNvSpPr>
          <p:nvPr>
            <p:ph type="dt" sz="half" idx="12"/>
          </p:nvPr>
        </p:nvSpPr>
        <p:spPr/>
        <p:txBody>
          <a:bodyPr/>
          <a:lstStyle/>
          <a:p>
            <a:pPr>
              <a:defRPr/>
            </a:pPr>
            <a:r>
              <a:rPr lang="en-US"/>
              <a:t>Fall 2021</a:t>
            </a:r>
            <a:endParaRPr lang="en-CA" dirty="0"/>
          </a:p>
        </p:txBody>
      </p:sp>
      <p:pic>
        <p:nvPicPr>
          <p:cNvPr id="8" name="Picture 7" descr="A picture containing drawing&#10;&#10;Description automatically generated">
            <a:extLst>
              <a:ext uri="{FF2B5EF4-FFF2-40B4-BE49-F238E27FC236}">
                <a16:creationId xmlns:a16="http://schemas.microsoft.com/office/drawing/2014/main" id="{891629C5-106E-42AE-9F5F-02D689DA14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 y="3962400"/>
            <a:ext cx="2261812" cy="1353429"/>
          </a:xfrm>
          <a:prstGeom prst="rect">
            <a:avLst/>
          </a:prstGeom>
        </p:spPr>
      </p:pic>
      <p:graphicFrame>
        <p:nvGraphicFramePr>
          <p:cNvPr id="10" name="Table 9">
            <a:extLst>
              <a:ext uri="{FF2B5EF4-FFF2-40B4-BE49-F238E27FC236}">
                <a16:creationId xmlns:a16="http://schemas.microsoft.com/office/drawing/2014/main" id="{2AD91516-DB4D-4294-8967-1F9B56856EAA}"/>
              </a:ext>
            </a:extLst>
          </p:cNvPr>
          <p:cNvGraphicFramePr>
            <a:graphicFrameLocks noGrp="1"/>
          </p:cNvGraphicFramePr>
          <p:nvPr/>
        </p:nvGraphicFramePr>
        <p:xfrm>
          <a:off x="3848953" y="3712014"/>
          <a:ext cx="1371600" cy="1854200"/>
        </p:xfrm>
        <a:graphic>
          <a:graphicData uri="http://schemas.openxmlformats.org/drawingml/2006/table">
            <a:tbl>
              <a:tblPr firstRow="1" bandRow="1">
                <a:tableStyleId>{3C2FFA5D-87B4-456A-9821-1D502468CF0F}</a:tableStyleId>
              </a:tblPr>
              <a:tblGrid>
                <a:gridCol w="457200">
                  <a:extLst>
                    <a:ext uri="{9D8B030D-6E8A-4147-A177-3AD203B41FA5}">
                      <a16:colId xmlns:a16="http://schemas.microsoft.com/office/drawing/2014/main" val="287580551"/>
                    </a:ext>
                  </a:extLst>
                </a:gridCol>
                <a:gridCol w="457200">
                  <a:extLst>
                    <a:ext uri="{9D8B030D-6E8A-4147-A177-3AD203B41FA5}">
                      <a16:colId xmlns:a16="http://schemas.microsoft.com/office/drawing/2014/main" val="3848652840"/>
                    </a:ext>
                  </a:extLst>
                </a:gridCol>
                <a:gridCol w="457200">
                  <a:extLst>
                    <a:ext uri="{9D8B030D-6E8A-4147-A177-3AD203B41FA5}">
                      <a16:colId xmlns:a16="http://schemas.microsoft.com/office/drawing/2014/main" val="3262824179"/>
                    </a:ext>
                  </a:extLst>
                </a:gridCol>
              </a:tblGrid>
              <a:tr h="370840">
                <a:tc>
                  <a:txBody>
                    <a:bodyPr/>
                    <a:lstStyle/>
                    <a:p>
                      <a:pPr algn="ctr"/>
                      <a:r>
                        <a:rPr lang="en-CA" dirty="0"/>
                        <a:t>A</a:t>
                      </a:r>
                    </a:p>
                  </a:txBody>
                  <a:tcPr/>
                </a:tc>
                <a:tc>
                  <a:txBody>
                    <a:bodyPr/>
                    <a:lstStyle/>
                    <a:p>
                      <a:pPr algn="ctr"/>
                      <a:r>
                        <a:rPr lang="en-CA" dirty="0"/>
                        <a:t>B</a:t>
                      </a:r>
                    </a:p>
                  </a:txBody>
                  <a:tcPr/>
                </a:tc>
                <a:tc>
                  <a:txBody>
                    <a:bodyPr/>
                    <a:lstStyle/>
                    <a:p>
                      <a:pPr algn="ctr"/>
                      <a:r>
                        <a:rPr lang="en-CA" dirty="0"/>
                        <a:t>C</a:t>
                      </a:r>
                    </a:p>
                  </a:txBody>
                  <a:tcPr/>
                </a:tc>
                <a:extLst>
                  <a:ext uri="{0D108BD9-81ED-4DB2-BD59-A6C34878D82A}">
                    <a16:rowId xmlns:a16="http://schemas.microsoft.com/office/drawing/2014/main" val="2961602566"/>
                  </a:ext>
                </a:extLst>
              </a:tr>
              <a:tr h="370840">
                <a:tc>
                  <a:txBody>
                    <a:bodyPr/>
                    <a:lstStyle/>
                    <a:p>
                      <a:pPr algn="ctr"/>
                      <a:r>
                        <a:rPr lang="en-CA" dirty="0"/>
                        <a:t>0</a:t>
                      </a:r>
                    </a:p>
                  </a:txBody>
                  <a:tcPr/>
                </a:tc>
                <a:tc>
                  <a:txBody>
                    <a:bodyPr/>
                    <a:lstStyle/>
                    <a:p>
                      <a:pPr algn="ctr"/>
                      <a:r>
                        <a:rPr lang="en-CA" dirty="0"/>
                        <a:t>0</a:t>
                      </a:r>
                    </a:p>
                  </a:txBody>
                  <a:tcPr/>
                </a:tc>
                <a:tc>
                  <a:txBody>
                    <a:bodyPr/>
                    <a:lstStyle/>
                    <a:p>
                      <a:pPr algn="ctr"/>
                      <a:r>
                        <a:rPr lang="en-CA" dirty="0"/>
                        <a:t>Z</a:t>
                      </a:r>
                    </a:p>
                  </a:txBody>
                  <a:tcPr/>
                </a:tc>
                <a:extLst>
                  <a:ext uri="{0D108BD9-81ED-4DB2-BD59-A6C34878D82A}">
                    <a16:rowId xmlns:a16="http://schemas.microsoft.com/office/drawing/2014/main" val="1965663002"/>
                  </a:ext>
                </a:extLst>
              </a:tr>
              <a:tr h="370840">
                <a:tc>
                  <a:txBody>
                    <a:bodyPr/>
                    <a:lstStyle/>
                    <a:p>
                      <a:pPr algn="ctr"/>
                      <a:r>
                        <a:rPr lang="en-CA" dirty="0"/>
                        <a:t>0</a:t>
                      </a:r>
                    </a:p>
                  </a:txBody>
                  <a:tcPr/>
                </a:tc>
                <a:tc>
                  <a:txBody>
                    <a:bodyPr/>
                    <a:lstStyle/>
                    <a:p>
                      <a:pPr algn="ctr"/>
                      <a:r>
                        <a:rPr lang="en-CA" dirty="0"/>
                        <a:t>1</a:t>
                      </a:r>
                    </a:p>
                  </a:txBody>
                  <a:tcPr/>
                </a:tc>
                <a:tc>
                  <a:txBody>
                    <a:bodyPr/>
                    <a:lstStyle/>
                    <a:p>
                      <a:pPr algn="ctr"/>
                      <a:r>
                        <a:rPr lang="en-CA" dirty="0"/>
                        <a:t>0</a:t>
                      </a:r>
                    </a:p>
                  </a:txBody>
                  <a:tcPr/>
                </a:tc>
                <a:extLst>
                  <a:ext uri="{0D108BD9-81ED-4DB2-BD59-A6C34878D82A}">
                    <a16:rowId xmlns:a16="http://schemas.microsoft.com/office/drawing/2014/main" val="1482734216"/>
                  </a:ext>
                </a:extLst>
              </a:tr>
              <a:tr h="370840">
                <a:tc>
                  <a:txBody>
                    <a:bodyPr/>
                    <a:lstStyle/>
                    <a:p>
                      <a:pPr algn="ctr"/>
                      <a:r>
                        <a:rPr lang="en-CA" dirty="0"/>
                        <a:t>1</a:t>
                      </a:r>
                    </a:p>
                  </a:txBody>
                  <a:tcPr/>
                </a:tc>
                <a:tc>
                  <a:txBody>
                    <a:bodyPr/>
                    <a:lstStyle/>
                    <a:p>
                      <a:pPr algn="ctr"/>
                      <a:r>
                        <a:rPr lang="en-CA" dirty="0"/>
                        <a:t>0</a:t>
                      </a:r>
                    </a:p>
                  </a:txBody>
                  <a:tcPr/>
                </a:tc>
                <a:tc>
                  <a:txBody>
                    <a:bodyPr/>
                    <a:lstStyle/>
                    <a:p>
                      <a:pPr algn="ctr"/>
                      <a:r>
                        <a:rPr lang="en-CA" dirty="0"/>
                        <a:t>Z</a:t>
                      </a:r>
                    </a:p>
                  </a:txBody>
                  <a:tcPr/>
                </a:tc>
                <a:extLst>
                  <a:ext uri="{0D108BD9-81ED-4DB2-BD59-A6C34878D82A}">
                    <a16:rowId xmlns:a16="http://schemas.microsoft.com/office/drawing/2014/main" val="1849887607"/>
                  </a:ext>
                </a:extLst>
              </a:tr>
              <a:tr h="370840">
                <a:tc>
                  <a:txBody>
                    <a:bodyPr/>
                    <a:lstStyle/>
                    <a:p>
                      <a:pPr algn="ctr"/>
                      <a:r>
                        <a:rPr lang="en-CA" dirty="0"/>
                        <a:t>1</a:t>
                      </a:r>
                    </a:p>
                  </a:txBody>
                  <a:tcPr/>
                </a:tc>
                <a:tc>
                  <a:txBody>
                    <a:bodyPr/>
                    <a:lstStyle/>
                    <a:p>
                      <a:pPr algn="ctr"/>
                      <a:r>
                        <a:rPr lang="en-CA" dirty="0"/>
                        <a:t>1</a:t>
                      </a:r>
                    </a:p>
                  </a:txBody>
                  <a:tcPr/>
                </a:tc>
                <a:tc>
                  <a:txBody>
                    <a:bodyPr/>
                    <a:lstStyle/>
                    <a:p>
                      <a:pPr algn="ctr"/>
                      <a:r>
                        <a:rPr lang="en-CA" dirty="0"/>
                        <a:t>1</a:t>
                      </a:r>
                    </a:p>
                  </a:txBody>
                  <a:tcPr/>
                </a:tc>
                <a:extLst>
                  <a:ext uri="{0D108BD9-81ED-4DB2-BD59-A6C34878D82A}">
                    <a16:rowId xmlns:a16="http://schemas.microsoft.com/office/drawing/2014/main" val="3078186550"/>
                  </a:ext>
                </a:extLst>
              </a:tr>
            </a:tbl>
          </a:graphicData>
        </a:graphic>
      </p:graphicFrame>
      <p:graphicFrame>
        <p:nvGraphicFramePr>
          <p:cNvPr id="14" name="Table 13">
            <a:extLst>
              <a:ext uri="{FF2B5EF4-FFF2-40B4-BE49-F238E27FC236}">
                <a16:creationId xmlns:a16="http://schemas.microsoft.com/office/drawing/2014/main" id="{DAFDAA93-C36E-4B78-896C-610D88FEFFD2}"/>
              </a:ext>
            </a:extLst>
          </p:cNvPr>
          <p:cNvGraphicFramePr>
            <a:graphicFrameLocks noGrp="1"/>
          </p:cNvGraphicFramePr>
          <p:nvPr/>
        </p:nvGraphicFramePr>
        <p:xfrm>
          <a:off x="5582076" y="3712014"/>
          <a:ext cx="1371600" cy="1483360"/>
        </p:xfrm>
        <a:graphic>
          <a:graphicData uri="http://schemas.openxmlformats.org/drawingml/2006/table">
            <a:tbl>
              <a:tblPr firstRow="1" bandRow="1">
                <a:tableStyleId>{3C2FFA5D-87B4-456A-9821-1D502468CF0F}</a:tableStyleId>
              </a:tblPr>
              <a:tblGrid>
                <a:gridCol w="457200">
                  <a:extLst>
                    <a:ext uri="{9D8B030D-6E8A-4147-A177-3AD203B41FA5}">
                      <a16:colId xmlns:a16="http://schemas.microsoft.com/office/drawing/2014/main" val="287580551"/>
                    </a:ext>
                  </a:extLst>
                </a:gridCol>
                <a:gridCol w="457200">
                  <a:extLst>
                    <a:ext uri="{9D8B030D-6E8A-4147-A177-3AD203B41FA5}">
                      <a16:colId xmlns:a16="http://schemas.microsoft.com/office/drawing/2014/main" val="3848652840"/>
                    </a:ext>
                  </a:extLst>
                </a:gridCol>
                <a:gridCol w="457200">
                  <a:extLst>
                    <a:ext uri="{9D8B030D-6E8A-4147-A177-3AD203B41FA5}">
                      <a16:colId xmlns:a16="http://schemas.microsoft.com/office/drawing/2014/main" val="3262824179"/>
                    </a:ext>
                  </a:extLst>
                </a:gridCol>
              </a:tblGrid>
              <a:tr h="370840">
                <a:tc>
                  <a:txBody>
                    <a:bodyPr/>
                    <a:lstStyle/>
                    <a:p>
                      <a:pPr algn="ctr"/>
                      <a:r>
                        <a:rPr lang="en-CA" dirty="0"/>
                        <a:t>A</a:t>
                      </a:r>
                    </a:p>
                  </a:txBody>
                  <a:tcPr/>
                </a:tc>
                <a:tc>
                  <a:txBody>
                    <a:bodyPr/>
                    <a:lstStyle/>
                    <a:p>
                      <a:pPr algn="ctr"/>
                      <a:r>
                        <a:rPr lang="en-CA" dirty="0"/>
                        <a:t>B</a:t>
                      </a:r>
                    </a:p>
                  </a:txBody>
                  <a:tcPr/>
                </a:tc>
                <a:tc>
                  <a:txBody>
                    <a:bodyPr/>
                    <a:lstStyle/>
                    <a:p>
                      <a:pPr algn="ctr"/>
                      <a:r>
                        <a:rPr lang="en-CA" dirty="0"/>
                        <a:t>C</a:t>
                      </a:r>
                    </a:p>
                  </a:txBody>
                  <a:tcPr/>
                </a:tc>
                <a:extLst>
                  <a:ext uri="{0D108BD9-81ED-4DB2-BD59-A6C34878D82A}">
                    <a16:rowId xmlns:a16="http://schemas.microsoft.com/office/drawing/2014/main" val="2961602566"/>
                  </a:ext>
                </a:extLst>
              </a:tr>
              <a:tr h="370840">
                <a:tc>
                  <a:txBody>
                    <a:bodyPr/>
                    <a:lstStyle/>
                    <a:p>
                      <a:pPr algn="ctr"/>
                      <a:r>
                        <a:rPr lang="en-CA" dirty="0"/>
                        <a:t>-</a:t>
                      </a:r>
                    </a:p>
                  </a:txBody>
                  <a:tcPr/>
                </a:tc>
                <a:tc>
                  <a:txBody>
                    <a:bodyPr/>
                    <a:lstStyle/>
                    <a:p>
                      <a:pPr algn="ctr"/>
                      <a:r>
                        <a:rPr lang="en-CA" dirty="0"/>
                        <a:t>0</a:t>
                      </a:r>
                    </a:p>
                  </a:txBody>
                  <a:tcPr/>
                </a:tc>
                <a:tc>
                  <a:txBody>
                    <a:bodyPr/>
                    <a:lstStyle/>
                    <a:p>
                      <a:pPr algn="ctr"/>
                      <a:r>
                        <a:rPr lang="en-CA" dirty="0"/>
                        <a:t>Z</a:t>
                      </a:r>
                    </a:p>
                  </a:txBody>
                  <a:tcPr/>
                </a:tc>
                <a:extLst>
                  <a:ext uri="{0D108BD9-81ED-4DB2-BD59-A6C34878D82A}">
                    <a16:rowId xmlns:a16="http://schemas.microsoft.com/office/drawing/2014/main" val="1965663002"/>
                  </a:ext>
                </a:extLst>
              </a:tr>
              <a:tr h="370840">
                <a:tc>
                  <a:txBody>
                    <a:bodyPr/>
                    <a:lstStyle/>
                    <a:p>
                      <a:pPr algn="ctr"/>
                      <a:r>
                        <a:rPr lang="en-CA" dirty="0"/>
                        <a:t>0</a:t>
                      </a:r>
                    </a:p>
                  </a:txBody>
                  <a:tcPr/>
                </a:tc>
                <a:tc>
                  <a:txBody>
                    <a:bodyPr/>
                    <a:lstStyle/>
                    <a:p>
                      <a:pPr algn="ctr"/>
                      <a:r>
                        <a:rPr lang="en-CA" dirty="0"/>
                        <a:t>1</a:t>
                      </a:r>
                    </a:p>
                  </a:txBody>
                  <a:tcPr/>
                </a:tc>
                <a:tc>
                  <a:txBody>
                    <a:bodyPr/>
                    <a:lstStyle/>
                    <a:p>
                      <a:pPr algn="ctr"/>
                      <a:r>
                        <a:rPr lang="en-CA" dirty="0"/>
                        <a:t>0</a:t>
                      </a:r>
                    </a:p>
                  </a:txBody>
                  <a:tcPr/>
                </a:tc>
                <a:extLst>
                  <a:ext uri="{0D108BD9-81ED-4DB2-BD59-A6C34878D82A}">
                    <a16:rowId xmlns:a16="http://schemas.microsoft.com/office/drawing/2014/main" val="1482734216"/>
                  </a:ext>
                </a:extLst>
              </a:tr>
              <a:tr h="370840">
                <a:tc>
                  <a:txBody>
                    <a:bodyPr/>
                    <a:lstStyle/>
                    <a:p>
                      <a:pPr algn="ctr"/>
                      <a:r>
                        <a:rPr lang="en-CA" dirty="0"/>
                        <a:t>1</a:t>
                      </a:r>
                    </a:p>
                  </a:txBody>
                  <a:tcPr/>
                </a:tc>
                <a:tc>
                  <a:txBody>
                    <a:bodyPr/>
                    <a:lstStyle/>
                    <a:p>
                      <a:pPr algn="ctr"/>
                      <a:r>
                        <a:rPr lang="en-CA" dirty="0"/>
                        <a:t>1</a:t>
                      </a:r>
                    </a:p>
                  </a:txBody>
                  <a:tcPr/>
                </a:tc>
                <a:tc>
                  <a:txBody>
                    <a:bodyPr/>
                    <a:lstStyle/>
                    <a:p>
                      <a:pPr algn="ctr"/>
                      <a:r>
                        <a:rPr lang="en-CA" dirty="0"/>
                        <a:t>1</a:t>
                      </a:r>
                    </a:p>
                  </a:txBody>
                  <a:tcPr/>
                </a:tc>
                <a:extLst>
                  <a:ext uri="{0D108BD9-81ED-4DB2-BD59-A6C34878D82A}">
                    <a16:rowId xmlns:a16="http://schemas.microsoft.com/office/drawing/2014/main" val="2641930820"/>
                  </a:ext>
                </a:extLst>
              </a:tr>
            </a:tbl>
          </a:graphicData>
        </a:graphic>
      </p:graphicFrame>
    </p:spTree>
    <p:extLst>
      <p:ext uri="{BB962C8B-B14F-4D97-AF65-F5344CB8AC3E}">
        <p14:creationId xmlns:p14="http://schemas.microsoft.com/office/powerpoint/2010/main" val="397443215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CE3C8-4F9B-4B33-81DA-2AA724175590}"/>
              </a:ext>
            </a:extLst>
          </p:cNvPr>
          <p:cNvSpPr>
            <a:spLocks noGrp="1"/>
          </p:cNvSpPr>
          <p:nvPr>
            <p:ph type="title"/>
          </p:nvPr>
        </p:nvSpPr>
        <p:spPr/>
        <p:txBody>
          <a:bodyPr/>
          <a:lstStyle/>
          <a:p>
            <a:r>
              <a:rPr lang="en-CA" dirty="0"/>
              <a:t>Tri-State Output Drivers</a:t>
            </a:r>
          </a:p>
        </p:txBody>
      </p:sp>
      <p:sp>
        <p:nvSpPr>
          <p:cNvPr id="3" name="Content Placeholder 2">
            <a:extLst>
              <a:ext uri="{FF2B5EF4-FFF2-40B4-BE49-F238E27FC236}">
                <a16:creationId xmlns:a16="http://schemas.microsoft.com/office/drawing/2014/main" id="{2844779D-5991-4465-9B8D-AB5696784A96}"/>
              </a:ext>
            </a:extLst>
          </p:cNvPr>
          <p:cNvSpPr>
            <a:spLocks noGrp="1"/>
          </p:cNvSpPr>
          <p:nvPr>
            <p:ph idx="1"/>
          </p:nvPr>
        </p:nvSpPr>
        <p:spPr/>
        <p:txBody>
          <a:bodyPr/>
          <a:lstStyle/>
          <a:p>
            <a:r>
              <a:rPr lang="en-CA" dirty="0"/>
              <a:t>A tri-state output driver can be used to implement three possible output values (0, 1, or Z)</a:t>
            </a:r>
          </a:p>
          <a:p>
            <a:r>
              <a:rPr lang="en-CA" dirty="0"/>
              <a:t>Most often, tri-state output drivers are implemented on buffers but they can be implemented on any digital logic gate</a:t>
            </a:r>
          </a:p>
          <a:p>
            <a:r>
              <a:rPr lang="en-CA" dirty="0"/>
              <a:t>A control input entering the bottom of the gate is typically a sign that the gate uses a tri-state output (</a:t>
            </a:r>
            <a:r>
              <a:rPr lang="en-CA" i="1" dirty="0"/>
              <a:t>but not always</a:t>
            </a:r>
            <a:r>
              <a:rPr lang="en-CA" dirty="0"/>
              <a:t>)</a:t>
            </a:r>
          </a:p>
        </p:txBody>
      </p:sp>
      <p:sp>
        <p:nvSpPr>
          <p:cNvPr id="4" name="Footer Placeholder 3">
            <a:extLst>
              <a:ext uri="{FF2B5EF4-FFF2-40B4-BE49-F238E27FC236}">
                <a16:creationId xmlns:a16="http://schemas.microsoft.com/office/drawing/2014/main" id="{36D8B757-94F3-4C81-B269-DA1E5F4AC61B}"/>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2CE680FF-F7D3-47D4-B346-6B01BCEFC663}"/>
              </a:ext>
            </a:extLst>
          </p:cNvPr>
          <p:cNvSpPr>
            <a:spLocks noGrp="1"/>
          </p:cNvSpPr>
          <p:nvPr>
            <p:ph type="sldNum" sz="quarter" idx="11"/>
          </p:nvPr>
        </p:nvSpPr>
        <p:spPr/>
        <p:txBody>
          <a:bodyPr/>
          <a:lstStyle/>
          <a:p>
            <a:pPr>
              <a:defRPr/>
            </a:pPr>
            <a:fld id="{72682330-DDB7-47C0-8BEC-295D3A41AB1F}" type="slidenum">
              <a:rPr lang="en-US" smtClean="0"/>
              <a:pPr>
                <a:defRPr/>
              </a:pPr>
              <a:t>62</a:t>
            </a:fld>
            <a:endParaRPr lang="en-US" dirty="0"/>
          </a:p>
        </p:txBody>
      </p:sp>
      <p:sp>
        <p:nvSpPr>
          <p:cNvPr id="6" name="Date Placeholder 5">
            <a:extLst>
              <a:ext uri="{FF2B5EF4-FFF2-40B4-BE49-F238E27FC236}">
                <a16:creationId xmlns:a16="http://schemas.microsoft.com/office/drawing/2014/main" id="{20E51EE4-8A92-4B74-A655-198624CDD0DC}"/>
              </a:ext>
            </a:extLst>
          </p:cNvPr>
          <p:cNvSpPr>
            <a:spLocks noGrp="1"/>
          </p:cNvSpPr>
          <p:nvPr>
            <p:ph type="dt" sz="half" idx="12"/>
          </p:nvPr>
        </p:nvSpPr>
        <p:spPr/>
        <p:txBody>
          <a:bodyPr/>
          <a:lstStyle/>
          <a:p>
            <a:pPr>
              <a:defRPr/>
            </a:pPr>
            <a:r>
              <a:rPr lang="en-US"/>
              <a:t>Fall 2021</a:t>
            </a:r>
            <a:endParaRPr lang="en-CA" dirty="0"/>
          </a:p>
        </p:txBody>
      </p:sp>
      <p:pic>
        <p:nvPicPr>
          <p:cNvPr id="8" name="Picture 7" descr="A picture containing drawing&#10;&#10;Description automatically generated">
            <a:extLst>
              <a:ext uri="{FF2B5EF4-FFF2-40B4-BE49-F238E27FC236}">
                <a16:creationId xmlns:a16="http://schemas.microsoft.com/office/drawing/2014/main" id="{891629C5-106E-42AE-9F5F-02D689DA14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 y="3962400"/>
            <a:ext cx="2261812" cy="1353429"/>
          </a:xfrm>
          <a:prstGeom prst="rect">
            <a:avLst/>
          </a:prstGeom>
        </p:spPr>
      </p:pic>
      <p:graphicFrame>
        <p:nvGraphicFramePr>
          <p:cNvPr id="10" name="Table 9">
            <a:extLst>
              <a:ext uri="{FF2B5EF4-FFF2-40B4-BE49-F238E27FC236}">
                <a16:creationId xmlns:a16="http://schemas.microsoft.com/office/drawing/2014/main" id="{2AD91516-DB4D-4294-8967-1F9B56856EAA}"/>
              </a:ext>
            </a:extLst>
          </p:cNvPr>
          <p:cNvGraphicFramePr>
            <a:graphicFrameLocks noGrp="1"/>
          </p:cNvGraphicFramePr>
          <p:nvPr/>
        </p:nvGraphicFramePr>
        <p:xfrm>
          <a:off x="3848953" y="3712014"/>
          <a:ext cx="1371600" cy="1854200"/>
        </p:xfrm>
        <a:graphic>
          <a:graphicData uri="http://schemas.openxmlformats.org/drawingml/2006/table">
            <a:tbl>
              <a:tblPr firstRow="1" bandRow="1">
                <a:tableStyleId>{3C2FFA5D-87B4-456A-9821-1D502468CF0F}</a:tableStyleId>
              </a:tblPr>
              <a:tblGrid>
                <a:gridCol w="457200">
                  <a:extLst>
                    <a:ext uri="{9D8B030D-6E8A-4147-A177-3AD203B41FA5}">
                      <a16:colId xmlns:a16="http://schemas.microsoft.com/office/drawing/2014/main" val="287580551"/>
                    </a:ext>
                  </a:extLst>
                </a:gridCol>
                <a:gridCol w="457200">
                  <a:extLst>
                    <a:ext uri="{9D8B030D-6E8A-4147-A177-3AD203B41FA5}">
                      <a16:colId xmlns:a16="http://schemas.microsoft.com/office/drawing/2014/main" val="3848652840"/>
                    </a:ext>
                  </a:extLst>
                </a:gridCol>
                <a:gridCol w="457200">
                  <a:extLst>
                    <a:ext uri="{9D8B030D-6E8A-4147-A177-3AD203B41FA5}">
                      <a16:colId xmlns:a16="http://schemas.microsoft.com/office/drawing/2014/main" val="3262824179"/>
                    </a:ext>
                  </a:extLst>
                </a:gridCol>
              </a:tblGrid>
              <a:tr h="370840">
                <a:tc>
                  <a:txBody>
                    <a:bodyPr/>
                    <a:lstStyle/>
                    <a:p>
                      <a:pPr algn="ctr"/>
                      <a:r>
                        <a:rPr lang="en-CA" dirty="0"/>
                        <a:t>A</a:t>
                      </a:r>
                    </a:p>
                  </a:txBody>
                  <a:tcPr/>
                </a:tc>
                <a:tc>
                  <a:txBody>
                    <a:bodyPr/>
                    <a:lstStyle/>
                    <a:p>
                      <a:pPr algn="ctr"/>
                      <a:r>
                        <a:rPr lang="en-CA" dirty="0"/>
                        <a:t>B</a:t>
                      </a:r>
                    </a:p>
                  </a:txBody>
                  <a:tcPr/>
                </a:tc>
                <a:tc>
                  <a:txBody>
                    <a:bodyPr/>
                    <a:lstStyle/>
                    <a:p>
                      <a:pPr algn="ctr"/>
                      <a:r>
                        <a:rPr lang="en-CA" dirty="0"/>
                        <a:t>C</a:t>
                      </a:r>
                    </a:p>
                  </a:txBody>
                  <a:tcPr/>
                </a:tc>
                <a:extLst>
                  <a:ext uri="{0D108BD9-81ED-4DB2-BD59-A6C34878D82A}">
                    <a16:rowId xmlns:a16="http://schemas.microsoft.com/office/drawing/2014/main" val="2961602566"/>
                  </a:ext>
                </a:extLst>
              </a:tr>
              <a:tr h="370840">
                <a:tc>
                  <a:txBody>
                    <a:bodyPr/>
                    <a:lstStyle/>
                    <a:p>
                      <a:pPr algn="ctr"/>
                      <a:r>
                        <a:rPr lang="en-CA" dirty="0"/>
                        <a:t>0</a:t>
                      </a:r>
                    </a:p>
                  </a:txBody>
                  <a:tcPr/>
                </a:tc>
                <a:tc>
                  <a:txBody>
                    <a:bodyPr/>
                    <a:lstStyle/>
                    <a:p>
                      <a:pPr algn="ctr"/>
                      <a:r>
                        <a:rPr lang="en-CA" dirty="0"/>
                        <a:t>0</a:t>
                      </a:r>
                    </a:p>
                  </a:txBody>
                  <a:tcPr/>
                </a:tc>
                <a:tc>
                  <a:txBody>
                    <a:bodyPr/>
                    <a:lstStyle/>
                    <a:p>
                      <a:pPr algn="ctr"/>
                      <a:r>
                        <a:rPr lang="en-CA" dirty="0"/>
                        <a:t>Z</a:t>
                      </a:r>
                    </a:p>
                  </a:txBody>
                  <a:tcPr/>
                </a:tc>
                <a:extLst>
                  <a:ext uri="{0D108BD9-81ED-4DB2-BD59-A6C34878D82A}">
                    <a16:rowId xmlns:a16="http://schemas.microsoft.com/office/drawing/2014/main" val="1965663002"/>
                  </a:ext>
                </a:extLst>
              </a:tr>
              <a:tr h="370840">
                <a:tc>
                  <a:txBody>
                    <a:bodyPr/>
                    <a:lstStyle/>
                    <a:p>
                      <a:pPr algn="ctr"/>
                      <a:r>
                        <a:rPr lang="en-CA" dirty="0"/>
                        <a:t>0</a:t>
                      </a:r>
                    </a:p>
                  </a:txBody>
                  <a:tcPr/>
                </a:tc>
                <a:tc>
                  <a:txBody>
                    <a:bodyPr/>
                    <a:lstStyle/>
                    <a:p>
                      <a:pPr algn="ctr"/>
                      <a:r>
                        <a:rPr lang="en-CA" dirty="0"/>
                        <a:t>1</a:t>
                      </a:r>
                    </a:p>
                  </a:txBody>
                  <a:tcPr/>
                </a:tc>
                <a:tc>
                  <a:txBody>
                    <a:bodyPr/>
                    <a:lstStyle/>
                    <a:p>
                      <a:pPr algn="ctr"/>
                      <a:r>
                        <a:rPr lang="en-CA" dirty="0"/>
                        <a:t>0</a:t>
                      </a:r>
                    </a:p>
                  </a:txBody>
                  <a:tcPr/>
                </a:tc>
                <a:extLst>
                  <a:ext uri="{0D108BD9-81ED-4DB2-BD59-A6C34878D82A}">
                    <a16:rowId xmlns:a16="http://schemas.microsoft.com/office/drawing/2014/main" val="1482734216"/>
                  </a:ext>
                </a:extLst>
              </a:tr>
              <a:tr h="370840">
                <a:tc>
                  <a:txBody>
                    <a:bodyPr/>
                    <a:lstStyle/>
                    <a:p>
                      <a:pPr algn="ctr"/>
                      <a:r>
                        <a:rPr lang="en-CA" dirty="0"/>
                        <a:t>1</a:t>
                      </a:r>
                    </a:p>
                  </a:txBody>
                  <a:tcPr/>
                </a:tc>
                <a:tc>
                  <a:txBody>
                    <a:bodyPr/>
                    <a:lstStyle/>
                    <a:p>
                      <a:pPr algn="ctr"/>
                      <a:r>
                        <a:rPr lang="en-CA" dirty="0"/>
                        <a:t>0</a:t>
                      </a:r>
                    </a:p>
                  </a:txBody>
                  <a:tcPr/>
                </a:tc>
                <a:tc>
                  <a:txBody>
                    <a:bodyPr/>
                    <a:lstStyle/>
                    <a:p>
                      <a:pPr algn="ctr"/>
                      <a:r>
                        <a:rPr lang="en-CA" dirty="0"/>
                        <a:t>Z</a:t>
                      </a:r>
                    </a:p>
                  </a:txBody>
                  <a:tcPr/>
                </a:tc>
                <a:extLst>
                  <a:ext uri="{0D108BD9-81ED-4DB2-BD59-A6C34878D82A}">
                    <a16:rowId xmlns:a16="http://schemas.microsoft.com/office/drawing/2014/main" val="1849887607"/>
                  </a:ext>
                </a:extLst>
              </a:tr>
              <a:tr h="370840">
                <a:tc>
                  <a:txBody>
                    <a:bodyPr/>
                    <a:lstStyle/>
                    <a:p>
                      <a:pPr algn="ctr"/>
                      <a:r>
                        <a:rPr lang="en-CA" dirty="0"/>
                        <a:t>1</a:t>
                      </a:r>
                    </a:p>
                  </a:txBody>
                  <a:tcPr/>
                </a:tc>
                <a:tc>
                  <a:txBody>
                    <a:bodyPr/>
                    <a:lstStyle/>
                    <a:p>
                      <a:pPr algn="ctr"/>
                      <a:r>
                        <a:rPr lang="en-CA" dirty="0"/>
                        <a:t>1</a:t>
                      </a:r>
                    </a:p>
                  </a:txBody>
                  <a:tcPr/>
                </a:tc>
                <a:tc>
                  <a:txBody>
                    <a:bodyPr/>
                    <a:lstStyle/>
                    <a:p>
                      <a:pPr algn="ctr"/>
                      <a:r>
                        <a:rPr lang="en-CA" dirty="0"/>
                        <a:t>1</a:t>
                      </a:r>
                    </a:p>
                  </a:txBody>
                  <a:tcPr/>
                </a:tc>
                <a:extLst>
                  <a:ext uri="{0D108BD9-81ED-4DB2-BD59-A6C34878D82A}">
                    <a16:rowId xmlns:a16="http://schemas.microsoft.com/office/drawing/2014/main" val="3078186550"/>
                  </a:ext>
                </a:extLst>
              </a:tr>
            </a:tbl>
          </a:graphicData>
        </a:graphic>
      </p:graphicFrame>
      <p:graphicFrame>
        <p:nvGraphicFramePr>
          <p:cNvPr id="12" name="Table 11">
            <a:extLst>
              <a:ext uri="{FF2B5EF4-FFF2-40B4-BE49-F238E27FC236}">
                <a16:creationId xmlns:a16="http://schemas.microsoft.com/office/drawing/2014/main" id="{CAFDBA8F-1C85-43FD-A1F5-BBC422ADC4D3}"/>
              </a:ext>
            </a:extLst>
          </p:cNvPr>
          <p:cNvGraphicFramePr>
            <a:graphicFrameLocks noGrp="1"/>
          </p:cNvGraphicFramePr>
          <p:nvPr/>
        </p:nvGraphicFramePr>
        <p:xfrm>
          <a:off x="7315200" y="3712014"/>
          <a:ext cx="1371600" cy="1112520"/>
        </p:xfrm>
        <a:graphic>
          <a:graphicData uri="http://schemas.openxmlformats.org/drawingml/2006/table">
            <a:tbl>
              <a:tblPr firstRow="1" bandRow="1">
                <a:tableStyleId>{3C2FFA5D-87B4-456A-9821-1D502468CF0F}</a:tableStyleId>
              </a:tblPr>
              <a:tblGrid>
                <a:gridCol w="457200">
                  <a:extLst>
                    <a:ext uri="{9D8B030D-6E8A-4147-A177-3AD203B41FA5}">
                      <a16:colId xmlns:a16="http://schemas.microsoft.com/office/drawing/2014/main" val="287580551"/>
                    </a:ext>
                  </a:extLst>
                </a:gridCol>
                <a:gridCol w="457200">
                  <a:extLst>
                    <a:ext uri="{9D8B030D-6E8A-4147-A177-3AD203B41FA5}">
                      <a16:colId xmlns:a16="http://schemas.microsoft.com/office/drawing/2014/main" val="3848652840"/>
                    </a:ext>
                  </a:extLst>
                </a:gridCol>
                <a:gridCol w="457200">
                  <a:extLst>
                    <a:ext uri="{9D8B030D-6E8A-4147-A177-3AD203B41FA5}">
                      <a16:colId xmlns:a16="http://schemas.microsoft.com/office/drawing/2014/main" val="3262824179"/>
                    </a:ext>
                  </a:extLst>
                </a:gridCol>
              </a:tblGrid>
              <a:tr h="370840">
                <a:tc>
                  <a:txBody>
                    <a:bodyPr/>
                    <a:lstStyle/>
                    <a:p>
                      <a:pPr algn="ctr"/>
                      <a:r>
                        <a:rPr lang="en-CA" dirty="0"/>
                        <a:t>A</a:t>
                      </a:r>
                    </a:p>
                  </a:txBody>
                  <a:tcPr/>
                </a:tc>
                <a:tc>
                  <a:txBody>
                    <a:bodyPr/>
                    <a:lstStyle/>
                    <a:p>
                      <a:pPr algn="ctr"/>
                      <a:r>
                        <a:rPr lang="en-CA" dirty="0"/>
                        <a:t>B</a:t>
                      </a:r>
                    </a:p>
                  </a:txBody>
                  <a:tcPr/>
                </a:tc>
                <a:tc>
                  <a:txBody>
                    <a:bodyPr/>
                    <a:lstStyle/>
                    <a:p>
                      <a:pPr algn="ctr"/>
                      <a:r>
                        <a:rPr lang="en-CA" dirty="0"/>
                        <a:t>C</a:t>
                      </a:r>
                    </a:p>
                  </a:txBody>
                  <a:tcPr/>
                </a:tc>
                <a:extLst>
                  <a:ext uri="{0D108BD9-81ED-4DB2-BD59-A6C34878D82A}">
                    <a16:rowId xmlns:a16="http://schemas.microsoft.com/office/drawing/2014/main" val="2961602566"/>
                  </a:ext>
                </a:extLst>
              </a:tr>
              <a:tr h="370840">
                <a:tc>
                  <a:txBody>
                    <a:bodyPr/>
                    <a:lstStyle/>
                    <a:p>
                      <a:pPr algn="ctr"/>
                      <a:r>
                        <a:rPr lang="en-CA" dirty="0"/>
                        <a:t>-</a:t>
                      </a:r>
                    </a:p>
                  </a:txBody>
                  <a:tcPr/>
                </a:tc>
                <a:tc>
                  <a:txBody>
                    <a:bodyPr/>
                    <a:lstStyle/>
                    <a:p>
                      <a:pPr algn="ctr"/>
                      <a:r>
                        <a:rPr lang="en-CA" dirty="0"/>
                        <a:t>0</a:t>
                      </a:r>
                    </a:p>
                  </a:txBody>
                  <a:tcPr/>
                </a:tc>
                <a:tc>
                  <a:txBody>
                    <a:bodyPr/>
                    <a:lstStyle/>
                    <a:p>
                      <a:pPr algn="ctr"/>
                      <a:r>
                        <a:rPr lang="en-CA" dirty="0"/>
                        <a:t>Z</a:t>
                      </a:r>
                    </a:p>
                  </a:txBody>
                  <a:tcPr/>
                </a:tc>
                <a:extLst>
                  <a:ext uri="{0D108BD9-81ED-4DB2-BD59-A6C34878D82A}">
                    <a16:rowId xmlns:a16="http://schemas.microsoft.com/office/drawing/2014/main" val="1965663002"/>
                  </a:ext>
                </a:extLst>
              </a:tr>
              <a:tr h="370840">
                <a:tc>
                  <a:txBody>
                    <a:bodyPr/>
                    <a:lstStyle/>
                    <a:p>
                      <a:pPr algn="ctr"/>
                      <a:r>
                        <a:rPr lang="en-CA" dirty="0"/>
                        <a:t>-</a:t>
                      </a:r>
                    </a:p>
                  </a:txBody>
                  <a:tcPr/>
                </a:tc>
                <a:tc>
                  <a:txBody>
                    <a:bodyPr/>
                    <a:lstStyle/>
                    <a:p>
                      <a:pPr algn="ctr"/>
                      <a:r>
                        <a:rPr lang="en-CA" dirty="0"/>
                        <a:t>1</a:t>
                      </a:r>
                    </a:p>
                  </a:txBody>
                  <a:tcPr/>
                </a:tc>
                <a:tc>
                  <a:txBody>
                    <a:bodyPr/>
                    <a:lstStyle/>
                    <a:p>
                      <a:pPr algn="ctr"/>
                      <a:r>
                        <a:rPr lang="en-CA" dirty="0"/>
                        <a:t>A</a:t>
                      </a:r>
                    </a:p>
                  </a:txBody>
                  <a:tcPr/>
                </a:tc>
                <a:extLst>
                  <a:ext uri="{0D108BD9-81ED-4DB2-BD59-A6C34878D82A}">
                    <a16:rowId xmlns:a16="http://schemas.microsoft.com/office/drawing/2014/main" val="1482734216"/>
                  </a:ext>
                </a:extLst>
              </a:tr>
            </a:tbl>
          </a:graphicData>
        </a:graphic>
      </p:graphicFrame>
      <p:graphicFrame>
        <p:nvGraphicFramePr>
          <p:cNvPr id="14" name="Table 13">
            <a:extLst>
              <a:ext uri="{FF2B5EF4-FFF2-40B4-BE49-F238E27FC236}">
                <a16:creationId xmlns:a16="http://schemas.microsoft.com/office/drawing/2014/main" id="{DAFDAA93-C36E-4B78-896C-610D88FEFFD2}"/>
              </a:ext>
            </a:extLst>
          </p:cNvPr>
          <p:cNvGraphicFramePr>
            <a:graphicFrameLocks noGrp="1"/>
          </p:cNvGraphicFramePr>
          <p:nvPr/>
        </p:nvGraphicFramePr>
        <p:xfrm>
          <a:off x="5582076" y="3712014"/>
          <a:ext cx="1371600" cy="1483360"/>
        </p:xfrm>
        <a:graphic>
          <a:graphicData uri="http://schemas.openxmlformats.org/drawingml/2006/table">
            <a:tbl>
              <a:tblPr firstRow="1" bandRow="1">
                <a:tableStyleId>{3C2FFA5D-87B4-456A-9821-1D502468CF0F}</a:tableStyleId>
              </a:tblPr>
              <a:tblGrid>
                <a:gridCol w="457200">
                  <a:extLst>
                    <a:ext uri="{9D8B030D-6E8A-4147-A177-3AD203B41FA5}">
                      <a16:colId xmlns:a16="http://schemas.microsoft.com/office/drawing/2014/main" val="287580551"/>
                    </a:ext>
                  </a:extLst>
                </a:gridCol>
                <a:gridCol w="457200">
                  <a:extLst>
                    <a:ext uri="{9D8B030D-6E8A-4147-A177-3AD203B41FA5}">
                      <a16:colId xmlns:a16="http://schemas.microsoft.com/office/drawing/2014/main" val="3848652840"/>
                    </a:ext>
                  </a:extLst>
                </a:gridCol>
                <a:gridCol w="457200">
                  <a:extLst>
                    <a:ext uri="{9D8B030D-6E8A-4147-A177-3AD203B41FA5}">
                      <a16:colId xmlns:a16="http://schemas.microsoft.com/office/drawing/2014/main" val="3262824179"/>
                    </a:ext>
                  </a:extLst>
                </a:gridCol>
              </a:tblGrid>
              <a:tr h="370840">
                <a:tc>
                  <a:txBody>
                    <a:bodyPr/>
                    <a:lstStyle/>
                    <a:p>
                      <a:pPr algn="ctr"/>
                      <a:r>
                        <a:rPr lang="en-CA" dirty="0"/>
                        <a:t>A</a:t>
                      </a:r>
                    </a:p>
                  </a:txBody>
                  <a:tcPr/>
                </a:tc>
                <a:tc>
                  <a:txBody>
                    <a:bodyPr/>
                    <a:lstStyle/>
                    <a:p>
                      <a:pPr algn="ctr"/>
                      <a:r>
                        <a:rPr lang="en-CA" dirty="0"/>
                        <a:t>B</a:t>
                      </a:r>
                    </a:p>
                  </a:txBody>
                  <a:tcPr/>
                </a:tc>
                <a:tc>
                  <a:txBody>
                    <a:bodyPr/>
                    <a:lstStyle/>
                    <a:p>
                      <a:pPr algn="ctr"/>
                      <a:r>
                        <a:rPr lang="en-CA" dirty="0"/>
                        <a:t>C</a:t>
                      </a:r>
                    </a:p>
                  </a:txBody>
                  <a:tcPr/>
                </a:tc>
                <a:extLst>
                  <a:ext uri="{0D108BD9-81ED-4DB2-BD59-A6C34878D82A}">
                    <a16:rowId xmlns:a16="http://schemas.microsoft.com/office/drawing/2014/main" val="2961602566"/>
                  </a:ext>
                </a:extLst>
              </a:tr>
              <a:tr h="370840">
                <a:tc>
                  <a:txBody>
                    <a:bodyPr/>
                    <a:lstStyle/>
                    <a:p>
                      <a:pPr algn="ctr"/>
                      <a:r>
                        <a:rPr lang="en-CA" dirty="0"/>
                        <a:t>-</a:t>
                      </a:r>
                    </a:p>
                  </a:txBody>
                  <a:tcPr/>
                </a:tc>
                <a:tc>
                  <a:txBody>
                    <a:bodyPr/>
                    <a:lstStyle/>
                    <a:p>
                      <a:pPr algn="ctr"/>
                      <a:r>
                        <a:rPr lang="en-CA" dirty="0"/>
                        <a:t>0</a:t>
                      </a:r>
                    </a:p>
                  </a:txBody>
                  <a:tcPr/>
                </a:tc>
                <a:tc>
                  <a:txBody>
                    <a:bodyPr/>
                    <a:lstStyle/>
                    <a:p>
                      <a:pPr algn="ctr"/>
                      <a:r>
                        <a:rPr lang="en-CA" dirty="0"/>
                        <a:t>Z</a:t>
                      </a:r>
                    </a:p>
                  </a:txBody>
                  <a:tcPr/>
                </a:tc>
                <a:extLst>
                  <a:ext uri="{0D108BD9-81ED-4DB2-BD59-A6C34878D82A}">
                    <a16:rowId xmlns:a16="http://schemas.microsoft.com/office/drawing/2014/main" val="1965663002"/>
                  </a:ext>
                </a:extLst>
              </a:tr>
              <a:tr h="370840">
                <a:tc>
                  <a:txBody>
                    <a:bodyPr/>
                    <a:lstStyle/>
                    <a:p>
                      <a:pPr algn="ctr"/>
                      <a:r>
                        <a:rPr lang="en-CA" dirty="0"/>
                        <a:t>0</a:t>
                      </a:r>
                    </a:p>
                  </a:txBody>
                  <a:tcPr/>
                </a:tc>
                <a:tc>
                  <a:txBody>
                    <a:bodyPr/>
                    <a:lstStyle/>
                    <a:p>
                      <a:pPr algn="ctr"/>
                      <a:r>
                        <a:rPr lang="en-CA" dirty="0"/>
                        <a:t>1</a:t>
                      </a:r>
                    </a:p>
                  </a:txBody>
                  <a:tcPr/>
                </a:tc>
                <a:tc>
                  <a:txBody>
                    <a:bodyPr/>
                    <a:lstStyle/>
                    <a:p>
                      <a:pPr algn="ctr"/>
                      <a:r>
                        <a:rPr lang="en-CA" dirty="0"/>
                        <a:t>0</a:t>
                      </a:r>
                    </a:p>
                  </a:txBody>
                  <a:tcPr/>
                </a:tc>
                <a:extLst>
                  <a:ext uri="{0D108BD9-81ED-4DB2-BD59-A6C34878D82A}">
                    <a16:rowId xmlns:a16="http://schemas.microsoft.com/office/drawing/2014/main" val="1482734216"/>
                  </a:ext>
                </a:extLst>
              </a:tr>
              <a:tr h="370840">
                <a:tc>
                  <a:txBody>
                    <a:bodyPr/>
                    <a:lstStyle/>
                    <a:p>
                      <a:pPr algn="ctr"/>
                      <a:r>
                        <a:rPr lang="en-CA" dirty="0"/>
                        <a:t>1</a:t>
                      </a:r>
                    </a:p>
                  </a:txBody>
                  <a:tcPr/>
                </a:tc>
                <a:tc>
                  <a:txBody>
                    <a:bodyPr/>
                    <a:lstStyle/>
                    <a:p>
                      <a:pPr algn="ctr"/>
                      <a:r>
                        <a:rPr lang="en-CA" dirty="0"/>
                        <a:t>1</a:t>
                      </a:r>
                    </a:p>
                  </a:txBody>
                  <a:tcPr/>
                </a:tc>
                <a:tc>
                  <a:txBody>
                    <a:bodyPr/>
                    <a:lstStyle/>
                    <a:p>
                      <a:pPr algn="ctr"/>
                      <a:r>
                        <a:rPr lang="en-CA" dirty="0"/>
                        <a:t>1</a:t>
                      </a:r>
                    </a:p>
                  </a:txBody>
                  <a:tcPr/>
                </a:tc>
                <a:extLst>
                  <a:ext uri="{0D108BD9-81ED-4DB2-BD59-A6C34878D82A}">
                    <a16:rowId xmlns:a16="http://schemas.microsoft.com/office/drawing/2014/main" val="2641930820"/>
                  </a:ext>
                </a:extLst>
              </a:tr>
            </a:tbl>
          </a:graphicData>
        </a:graphic>
      </p:graphicFrame>
    </p:spTree>
    <p:extLst>
      <p:ext uri="{BB962C8B-B14F-4D97-AF65-F5344CB8AC3E}">
        <p14:creationId xmlns:p14="http://schemas.microsoft.com/office/powerpoint/2010/main" val="67382955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8D7F1-B74A-4138-8609-C40D19068016}"/>
              </a:ext>
            </a:extLst>
          </p:cNvPr>
          <p:cNvSpPr>
            <a:spLocks noGrp="1"/>
          </p:cNvSpPr>
          <p:nvPr>
            <p:ph type="title"/>
          </p:nvPr>
        </p:nvSpPr>
        <p:spPr/>
        <p:txBody>
          <a:bodyPr/>
          <a:lstStyle/>
          <a:p>
            <a:r>
              <a:rPr lang="en-CA" dirty="0"/>
              <a:t>Signal Notations for Inversion</a:t>
            </a:r>
          </a:p>
        </p:txBody>
      </p:sp>
      <p:sp>
        <p:nvSpPr>
          <p:cNvPr id="3" name="Content Placeholder 2">
            <a:extLst>
              <a:ext uri="{FF2B5EF4-FFF2-40B4-BE49-F238E27FC236}">
                <a16:creationId xmlns:a16="http://schemas.microsoft.com/office/drawing/2014/main" id="{6E545103-02AC-4099-A9ED-FB2B3EEEF340}"/>
              </a:ext>
            </a:extLst>
          </p:cNvPr>
          <p:cNvSpPr>
            <a:spLocks noGrp="1"/>
          </p:cNvSpPr>
          <p:nvPr>
            <p:ph idx="1"/>
          </p:nvPr>
        </p:nvSpPr>
        <p:spPr/>
        <p:txBody>
          <a:bodyPr/>
          <a:lstStyle/>
          <a:p>
            <a:r>
              <a:rPr lang="en-CA" dirty="0"/>
              <a:t>There are many different signal notations that exist for indicating the inversion of a signal</a:t>
            </a:r>
          </a:p>
        </p:txBody>
      </p:sp>
      <p:sp>
        <p:nvSpPr>
          <p:cNvPr id="4" name="Footer Placeholder 3">
            <a:extLst>
              <a:ext uri="{FF2B5EF4-FFF2-40B4-BE49-F238E27FC236}">
                <a16:creationId xmlns:a16="http://schemas.microsoft.com/office/drawing/2014/main" id="{ABEE27BD-67CD-4F41-8C5E-2142451751DF}"/>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BA384677-C417-4EFC-A9A0-0CDFECA6FB07}"/>
              </a:ext>
            </a:extLst>
          </p:cNvPr>
          <p:cNvSpPr>
            <a:spLocks noGrp="1"/>
          </p:cNvSpPr>
          <p:nvPr>
            <p:ph type="sldNum" sz="quarter" idx="11"/>
          </p:nvPr>
        </p:nvSpPr>
        <p:spPr/>
        <p:txBody>
          <a:bodyPr/>
          <a:lstStyle/>
          <a:p>
            <a:pPr>
              <a:defRPr/>
            </a:pPr>
            <a:fld id="{72682330-DDB7-47C0-8BEC-295D3A41AB1F}" type="slidenum">
              <a:rPr lang="en-US" smtClean="0"/>
              <a:pPr>
                <a:defRPr/>
              </a:pPr>
              <a:t>63</a:t>
            </a:fld>
            <a:endParaRPr lang="en-US" dirty="0"/>
          </a:p>
        </p:txBody>
      </p:sp>
      <p:sp>
        <p:nvSpPr>
          <p:cNvPr id="6" name="Date Placeholder 5">
            <a:extLst>
              <a:ext uri="{FF2B5EF4-FFF2-40B4-BE49-F238E27FC236}">
                <a16:creationId xmlns:a16="http://schemas.microsoft.com/office/drawing/2014/main" id="{4F861647-8B97-46CB-A1C0-5FDF191BB8DD}"/>
              </a:ext>
            </a:extLst>
          </p:cNvPr>
          <p:cNvSpPr>
            <a:spLocks noGrp="1"/>
          </p:cNvSpPr>
          <p:nvPr>
            <p:ph type="dt" sz="half" idx="12"/>
          </p:nvPr>
        </p:nvSpPr>
        <p:spPr/>
        <p:txBody>
          <a:bodyPr/>
          <a:lstStyle/>
          <a:p>
            <a:pPr>
              <a:defRPr/>
            </a:pPr>
            <a:r>
              <a:rPr lang="en-US"/>
              <a:t>Fall 2021</a:t>
            </a:r>
            <a:endParaRPr lang="en-CA" dirty="0"/>
          </a:p>
        </p:txBody>
      </p:sp>
    </p:spTree>
    <p:extLst>
      <p:ext uri="{BB962C8B-B14F-4D97-AF65-F5344CB8AC3E}">
        <p14:creationId xmlns:p14="http://schemas.microsoft.com/office/powerpoint/2010/main" val="254220290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8D7F1-B74A-4138-8609-C40D19068016}"/>
              </a:ext>
            </a:extLst>
          </p:cNvPr>
          <p:cNvSpPr>
            <a:spLocks noGrp="1"/>
          </p:cNvSpPr>
          <p:nvPr>
            <p:ph type="title"/>
          </p:nvPr>
        </p:nvSpPr>
        <p:spPr/>
        <p:txBody>
          <a:bodyPr/>
          <a:lstStyle/>
          <a:p>
            <a:r>
              <a:rPr lang="en-CA" dirty="0"/>
              <a:t>Signal Notations for Inversion</a:t>
            </a:r>
          </a:p>
        </p:txBody>
      </p:sp>
      <p:sp>
        <p:nvSpPr>
          <p:cNvPr id="3" name="Content Placeholder 2">
            <a:extLst>
              <a:ext uri="{FF2B5EF4-FFF2-40B4-BE49-F238E27FC236}">
                <a16:creationId xmlns:a16="http://schemas.microsoft.com/office/drawing/2014/main" id="{6E545103-02AC-4099-A9ED-FB2B3EEEF340}"/>
              </a:ext>
            </a:extLst>
          </p:cNvPr>
          <p:cNvSpPr>
            <a:spLocks noGrp="1"/>
          </p:cNvSpPr>
          <p:nvPr>
            <p:ph idx="1"/>
          </p:nvPr>
        </p:nvSpPr>
        <p:spPr/>
        <p:txBody>
          <a:bodyPr/>
          <a:lstStyle/>
          <a:p>
            <a:r>
              <a:rPr lang="en-CA" dirty="0"/>
              <a:t>There are many different signal notations that exist for indicating the inversion of a signal</a:t>
            </a:r>
          </a:p>
          <a:p>
            <a:r>
              <a:rPr lang="en-CA" dirty="0"/>
              <a:t>What are some of the possible ways of indicating an inversion of a CLK signal? </a:t>
            </a:r>
          </a:p>
        </p:txBody>
      </p:sp>
      <p:sp>
        <p:nvSpPr>
          <p:cNvPr id="4" name="Footer Placeholder 3">
            <a:extLst>
              <a:ext uri="{FF2B5EF4-FFF2-40B4-BE49-F238E27FC236}">
                <a16:creationId xmlns:a16="http://schemas.microsoft.com/office/drawing/2014/main" id="{ABEE27BD-67CD-4F41-8C5E-2142451751DF}"/>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BA384677-C417-4EFC-A9A0-0CDFECA6FB07}"/>
              </a:ext>
            </a:extLst>
          </p:cNvPr>
          <p:cNvSpPr>
            <a:spLocks noGrp="1"/>
          </p:cNvSpPr>
          <p:nvPr>
            <p:ph type="sldNum" sz="quarter" idx="11"/>
          </p:nvPr>
        </p:nvSpPr>
        <p:spPr/>
        <p:txBody>
          <a:bodyPr/>
          <a:lstStyle/>
          <a:p>
            <a:pPr>
              <a:defRPr/>
            </a:pPr>
            <a:fld id="{72682330-DDB7-47C0-8BEC-295D3A41AB1F}" type="slidenum">
              <a:rPr lang="en-US" smtClean="0"/>
              <a:pPr>
                <a:defRPr/>
              </a:pPr>
              <a:t>64</a:t>
            </a:fld>
            <a:endParaRPr lang="en-US" dirty="0"/>
          </a:p>
        </p:txBody>
      </p:sp>
      <p:sp>
        <p:nvSpPr>
          <p:cNvPr id="6" name="Date Placeholder 5">
            <a:extLst>
              <a:ext uri="{FF2B5EF4-FFF2-40B4-BE49-F238E27FC236}">
                <a16:creationId xmlns:a16="http://schemas.microsoft.com/office/drawing/2014/main" id="{4F861647-8B97-46CB-A1C0-5FDF191BB8DD}"/>
              </a:ext>
            </a:extLst>
          </p:cNvPr>
          <p:cNvSpPr>
            <a:spLocks noGrp="1"/>
          </p:cNvSpPr>
          <p:nvPr>
            <p:ph type="dt" sz="half" idx="12"/>
          </p:nvPr>
        </p:nvSpPr>
        <p:spPr/>
        <p:txBody>
          <a:bodyPr/>
          <a:lstStyle/>
          <a:p>
            <a:pPr>
              <a:defRPr/>
            </a:pPr>
            <a:r>
              <a:rPr lang="en-US"/>
              <a:t>Fall 2021</a:t>
            </a:r>
            <a:endParaRPr lang="en-CA" dirty="0"/>
          </a:p>
        </p:txBody>
      </p:sp>
    </p:spTree>
    <p:extLst>
      <p:ext uri="{BB962C8B-B14F-4D97-AF65-F5344CB8AC3E}">
        <p14:creationId xmlns:p14="http://schemas.microsoft.com/office/powerpoint/2010/main" val="185961102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8D7F1-B74A-4138-8609-C40D19068016}"/>
              </a:ext>
            </a:extLst>
          </p:cNvPr>
          <p:cNvSpPr>
            <a:spLocks noGrp="1"/>
          </p:cNvSpPr>
          <p:nvPr>
            <p:ph type="title"/>
          </p:nvPr>
        </p:nvSpPr>
        <p:spPr/>
        <p:txBody>
          <a:bodyPr/>
          <a:lstStyle/>
          <a:p>
            <a:r>
              <a:rPr lang="en-CA" dirty="0"/>
              <a:t>Signal Notations for Inversion</a:t>
            </a:r>
          </a:p>
        </p:txBody>
      </p:sp>
      <p:sp>
        <p:nvSpPr>
          <p:cNvPr id="3" name="Content Placeholder 2">
            <a:extLst>
              <a:ext uri="{FF2B5EF4-FFF2-40B4-BE49-F238E27FC236}">
                <a16:creationId xmlns:a16="http://schemas.microsoft.com/office/drawing/2014/main" id="{6E545103-02AC-4099-A9ED-FB2B3EEEF340}"/>
              </a:ext>
            </a:extLst>
          </p:cNvPr>
          <p:cNvSpPr>
            <a:spLocks noGrp="1"/>
          </p:cNvSpPr>
          <p:nvPr>
            <p:ph idx="1"/>
          </p:nvPr>
        </p:nvSpPr>
        <p:spPr/>
        <p:txBody>
          <a:bodyPr/>
          <a:lstStyle/>
          <a:p>
            <a:r>
              <a:rPr lang="en-CA" dirty="0"/>
              <a:t>There are many different signal notations that exist for indicating the inversion of a signal</a:t>
            </a:r>
          </a:p>
          <a:p>
            <a:r>
              <a:rPr lang="en-CA" dirty="0"/>
              <a:t>What are some of the possible ways of indicating an inversion of a CLK signal? </a:t>
            </a:r>
          </a:p>
          <a:p>
            <a:r>
              <a:rPr lang="en-CA" dirty="0"/>
              <a:t>Some notations we can use for inverting a CLK signal are the following:</a:t>
            </a:r>
          </a:p>
        </p:txBody>
      </p:sp>
      <p:sp>
        <p:nvSpPr>
          <p:cNvPr id="4" name="Footer Placeholder 3">
            <a:extLst>
              <a:ext uri="{FF2B5EF4-FFF2-40B4-BE49-F238E27FC236}">
                <a16:creationId xmlns:a16="http://schemas.microsoft.com/office/drawing/2014/main" id="{ABEE27BD-67CD-4F41-8C5E-2142451751DF}"/>
              </a:ext>
            </a:extLst>
          </p:cNvPr>
          <p:cNvSpPr>
            <a:spLocks noGrp="1"/>
          </p:cNvSpPr>
          <p:nvPr>
            <p:ph type="ftr" sz="quarter" idx="10"/>
          </p:nvPr>
        </p:nvSpPr>
        <p:spPr/>
        <p:txBody>
          <a:bodyPr/>
          <a:lstStyle/>
          <a:p>
            <a:pPr>
              <a:defRPr/>
            </a:pPr>
            <a:r>
              <a:rPr lang="fr-FR"/>
              <a:t>ECE 224 Tutorial</a:t>
            </a:r>
            <a:endParaRPr lang="en-US" dirty="0"/>
          </a:p>
        </p:txBody>
      </p:sp>
      <p:sp>
        <p:nvSpPr>
          <p:cNvPr id="5" name="Slide Number Placeholder 4">
            <a:extLst>
              <a:ext uri="{FF2B5EF4-FFF2-40B4-BE49-F238E27FC236}">
                <a16:creationId xmlns:a16="http://schemas.microsoft.com/office/drawing/2014/main" id="{BA384677-C417-4EFC-A9A0-0CDFECA6FB07}"/>
              </a:ext>
            </a:extLst>
          </p:cNvPr>
          <p:cNvSpPr>
            <a:spLocks noGrp="1"/>
          </p:cNvSpPr>
          <p:nvPr>
            <p:ph type="sldNum" sz="quarter" idx="11"/>
          </p:nvPr>
        </p:nvSpPr>
        <p:spPr/>
        <p:txBody>
          <a:bodyPr/>
          <a:lstStyle/>
          <a:p>
            <a:pPr>
              <a:defRPr/>
            </a:pPr>
            <a:fld id="{72682330-DDB7-47C0-8BEC-295D3A41AB1F}" type="slidenum">
              <a:rPr lang="en-US" smtClean="0"/>
              <a:pPr>
                <a:defRPr/>
              </a:pPr>
              <a:t>65</a:t>
            </a:fld>
            <a:endParaRPr lang="en-US" dirty="0"/>
          </a:p>
        </p:txBody>
      </p:sp>
      <p:sp>
        <p:nvSpPr>
          <p:cNvPr id="6" name="Date Placeholder 5">
            <a:extLst>
              <a:ext uri="{FF2B5EF4-FFF2-40B4-BE49-F238E27FC236}">
                <a16:creationId xmlns:a16="http://schemas.microsoft.com/office/drawing/2014/main" id="{4F861647-8B97-46CB-A1C0-5FDF191BB8DD}"/>
              </a:ext>
            </a:extLst>
          </p:cNvPr>
          <p:cNvSpPr>
            <a:spLocks noGrp="1"/>
          </p:cNvSpPr>
          <p:nvPr>
            <p:ph type="dt" sz="half" idx="12"/>
          </p:nvPr>
        </p:nvSpPr>
        <p:spPr/>
        <p:txBody>
          <a:bodyPr/>
          <a:lstStyle/>
          <a:p>
            <a:pPr>
              <a:defRPr/>
            </a:pPr>
            <a:r>
              <a:rPr lang="en-US"/>
              <a:t>Fall 2021</a:t>
            </a:r>
            <a:endParaRPr lang="en-CA" dirty="0"/>
          </a:p>
        </p:txBody>
      </p:sp>
      <p:graphicFrame>
        <p:nvGraphicFramePr>
          <p:cNvPr id="7" name="Table 7">
            <a:extLst>
              <a:ext uri="{FF2B5EF4-FFF2-40B4-BE49-F238E27FC236}">
                <a16:creationId xmlns:a16="http://schemas.microsoft.com/office/drawing/2014/main" id="{09F5C44F-1B18-4EBB-AB17-24EC05D68240}"/>
              </a:ext>
            </a:extLst>
          </p:cNvPr>
          <p:cNvGraphicFramePr>
            <a:graphicFrameLocks noGrp="1"/>
          </p:cNvGraphicFramePr>
          <p:nvPr/>
        </p:nvGraphicFramePr>
        <p:xfrm>
          <a:off x="3124200" y="3276600"/>
          <a:ext cx="2895600" cy="1112520"/>
        </p:xfrm>
        <a:graphic>
          <a:graphicData uri="http://schemas.openxmlformats.org/drawingml/2006/table">
            <a:tbl>
              <a:tblPr>
                <a:tableStyleId>{BC89EF96-8CEA-46FF-86C4-4CE0E7609802}</a:tableStyleId>
              </a:tblPr>
              <a:tblGrid>
                <a:gridCol w="1447800">
                  <a:extLst>
                    <a:ext uri="{9D8B030D-6E8A-4147-A177-3AD203B41FA5}">
                      <a16:colId xmlns:a16="http://schemas.microsoft.com/office/drawing/2014/main" val="1982560229"/>
                    </a:ext>
                  </a:extLst>
                </a:gridCol>
                <a:gridCol w="1447800">
                  <a:extLst>
                    <a:ext uri="{9D8B030D-6E8A-4147-A177-3AD203B41FA5}">
                      <a16:colId xmlns:a16="http://schemas.microsoft.com/office/drawing/2014/main" val="3501577517"/>
                    </a:ext>
                  </a:extLst>
                </a:gridCol>
              </a:tblGrid>
              <a:tr h="370840">
                <a:tc>
                  <a:txBody>
                    <a:bodyPr/>
                    <a:lstStyle/>
                    <a:p>
                      <a:pPr algn="ctr"/>
                      <a:r>
                        <a:rPr lang="en-CA" dirty="0"/>
                        <a:t>CLK’</a:t>
                      </a:r>
                    </a:p>
                  </a:txBody>
                  <a:tcPr/>
                </a:tc>
                <a:tc>
                  <a:txBody>
                    <a:bodyPr/>
                    <a:lstStyle/>
                    <a:p>
                      <a:pPr algn="ctr"/>
                      <a:r>
                        <a:rPr lang="en-CA" dirty="0"/>
                        <a:t>/CLK</a:t>
                      </a:r>
                    </a:p>
                  </a:txBody>
                  <a:tcPr/>
                </a:tc>
                <a:extLst>
                  <a:ext uri="{0D108BD9-81ED-4DB2-BD59-A6C34878D82A}">
                    <a16:rowId xmlns:a16="http://schemas.microsoft.com/office/drawing/2014/main" val="1089766220"/>
                  </a:ext>
                </a:extLst>
              </a:tr>
              <a:tr h="370840">
                <a:tc>
                  <a:txBody>
                    <a:bodyPr/>
                    <a:lstStyle/>
                    <a:p>
                      <a:pPr algn="ctr"/>
                      <a:r>
                        <a:rPr lang="en-CA" dirty="0"/>
                        <a:t>!CLK</a:t>
                      </a:r>
                    </a:p>
                  </a:txBody>
                  <a:tcPr/>
                </a:tc>
                <a:tc>
                  <a:txBody>
                    <a:bodyPr/>
                    <a:lstStyle/>
                    <a:p>
                      <a:pPr algn="ctr"/>
                      <a:r>
                        <a:rPr lang="en-CA" dirty="0"/>
                        <a:t>~CLK</a:t>
                      </a:r>
                    </a:p>
                  </a:txBody>
                  <a:tcPr/>
                </a:tc>
                <a:extLst>
                  <a:ext uri="{0D108BD9-81ED-4DB2-BD59-A6C34878D82A}">
                    <a16:rowId xmlns:a16="http://schemas.microsoft.com/office/drawing/2014/main" val="2867538936"/>
                  </a:ext>
                </a:extLst>
              </a:tr>
              <a:tr h="370840">
                <a:tc>
                  <a:txBody>
                    <a:bodyPr/>
                    <a:lstStyle/>
                    <a:p>
                      <a:pPr algn="ctr"/>
                      <a:r>
                        <a:rPr lang="en-CA" dirty="0" err="1"/>
                        <a:t>CLK_n</a:t>
                      </a:r>
                      <a:endParaRPr lang="en-CA" dirty="0"/>
                    </a:p>
                  </a:txBody>
                  <a:tcPr/>
                </a:tc>
                <a:tc>
                  <a:txBody>
                    <a:bodyPr/>
                    <a:lstStyle/>
                    <a:p>
                      <a:pPr algn="ctr"/>
                      <a:r>
                        <a:rPr lang="en-CA" dirty="0"/>
                        <a:t>CLK</a:t>
                      </a:r>
                    </a:p>
                  </a:txBody>
                  <a:tcPr/>
                </a:tc>
                <a:extLst>
                  <a:ext uri="{0D108BD9-81ED-4DB2-BD59-A6C34878D82A}">
                    <a16:rowId xmlns:a16="http://schemas.microsoft.com/office/drawing/2014/main" val="1434831008"/>
                  </a:ext>
                </a:extLst>
              </a:tr>
            </a:tbl>
          </a:graphicData>
        </a:graphic>
      </p:graphicFrame>
      <p:cxnSp>
        <p:nvCxnSpPr>
          <p:cNvPr id="9" name="Straight Connector 8">
            <a:extLst>
              <a:ext uri="{FF2B5EF4-FFF2-40B4-BE49-F238E27FC236}">
                <a16:creationId xmlns:a16="http://schemas.microsoft.com/office/drawing/2014/main" id="{8C318E2D-7A77-484C-86C6-EE62CCD0D0A7}"/>
              </a:ext>
            </a:extLst>
          </p:cNvPr>
          <p:cNvCxnSpPr/>
          <p:nvPr/>
        </p:nvCxnSpPr>
        <p:spPr bwMode="auto">
          <a:xfrm>
            <a:off x="5105400" y="4097044"/>
            <a:ext cx="381000" cy="0"/>
          </a:xfrm>
          <a:prstGeom prst="line">
            <a:avLst/>
          </a:prstGeom>
          <a:noFill/>
          <a:ln w="9525"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56491077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WMTOOLS" val="&lt;WMTools ver=&quot;1.0&quot;&gt;&lt;Timings time=&quot;11/25/2003 11:58:35 AM&quot;&gt;&lt;Slide id=&quot;263&quot; dur=&quot;1.743&quot;/&gt;&lt;/Timings&gt;&lt;/WMTools&gt;"/>
</p:tagLst>
</file>

<file path=ppt/theme/theme1.xml><?xml version="1.0" encoding="utf-8"?>
<a:theme xmlns:a="http://schemas.openxmlformats.org/drawingml/2006/main" name="Default Design">
  <a:themeElements>
    <a:clrScheme name="NewsPrint">
      <a:dk1>
        <a:sysClr val="windowText" lastClr="000000"/>
      </a:dk1>
      <a:lt1>
        <a:sysClr val="window" lastClr="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Default Design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00"/>
        </a:hlink>
        <a:folHlink>
          <a:srgbClr val="003399"/>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1333</TotalTime>
  <Words>3131</Words>
  <Application>Microsoft Office PowerPoint</Application>
  <PresentationFormat>On-screen Show (4:3)</PresentationFormat>
  <Paragraphs>833</Paragraphs>
  <Slides>65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65</vt:i4>
      </vt:variant>
    </vt:vector>
  </HeadingPairs>
  <TitlesOfParts>
    <vt:vector size="70" baseType="lpstr">
      <vt:lpstr>Calibri</vt:lpstr>
      <vt:lpstr>Cambria Math</vt:lpstr>
      <vt:lpstr>Times New Roman</vt:lpstr>
      <vt:lpstr>Verdana</vt:lpstr>
      <vt:lpstr>Default Design</vt:lpstr>
      <vt:lpstr>Tutorial 01</vt:lpstr>
      <vt:lpstr>Welcome to the Course</vt:lpstr>
      <vt:lpstr>Welcome to the Course</vt:lpstr>
      <vt:lpstr>Welcome to the Course</vt:lpstr>
      <vt:lpstr>Welcome to the Course</vt:lpstr>
      <vt:lpstr>Course Update</vt:lpstr>
      <vt:lpstr>Course Update</vt:lpstr>
      <vt:lpstr>Course Update</vt:lpstr>
      <vt:lpstr>Course Update</vt:lpstr>
      <vt:lpstr>Course Update</vt:lpstr>
      <vt:lpstr>Course Update</vt:lpstr>
      <vt:lpstr>Course Update</vt:lpstr>
      <vt:lpstr>Tutorial Outline</vt:lpstr>
      <vt:lpstr>Tutorial Outline</vt:lpstr>
      <vt:lpstr>Tutorial Outline</vt:lpstr>
      <vt:lpstr>Tutorial Outline</vt:lpstr>
      <vt:lpstr>The Buffer</vt:lpstr>
      <vt:lpstr>The Buffer</vt:lpstr>
      <vt:lpstr>The Buffer</vt:lpstr>
      <vt:lpstr>The Buffer</vt:lpstr>
      <vt:lpstr>The Buffer</vt:lpstr>
      <vt:lpstr>The Inverter</vt:lpstr>
      <vt:lpstr>The Inverter</vt:lpstr>
      <vt:lpstr>The Inverter</vt:lpstr>
      <vt:lpstr>The AND Gate</vt:lpstr>
      <vt:lpstr>The AND Gate</vt:lpstr>
      <vt:lpstr>The AND Gate</vt:lpstr>
      <vt:lpstr>The OR Gate</vt:lpstr>
      <vt:lpstr>The OR Gate</vt:lpstr>
      <vt:lpstr>The OR Gate</vt:lpstr>
      <vt:lpstr>The XOR Gate</vt:lpstr>
      <vt:lpstr>The XOR Gate</vt:lpstr>
      <vt:lpstr>The XOR Gate</vt:lpstr>
      <vt:lpstr>Uses of the XOR Gate</vt:lpstr>
      <vt:lpstr>Uses of the XOR Gate</vt:lpstr>
      <vt:lpstr>Uses of the XOR Gate</vt:lpstr>
      <vt:lpstr>Uses of the XOR Gate</vt:lpstr>
      <vt:lpstr>Uses of the XOR Gate</vt:lpstr>
      <vt:lpstr>Totem Pole Output Drivers</vt:lpstr>
      <vt:lpstr>Totem Pole Output Drivers</vt:lpstr>
      <vt:lpstr>Totem Pole Output Drivers</vt:lpstr>
      <vt:lpstr>Open Drain Output Drivers</vt:lpstr>
      <vt:lpstr>Open Drain Output Drivers</vt:lpstr>
      <vt:lpstr>Open Drain Output Drivers</vt:lpstr>
      <vt:lpstr>Open Drain Digital Logic Gate Examples</vt:lpstr>
      <vt:lpstr>Open Drain Digital Logic Gate Examples</vt:lpstr>
      <vt:lpstr>Open Drain Digital Logic Gate Examples</vt:lpstr>
      <vt:lpstr>Open Drain Digital Logic Gate Examples</vt:lpstr>
      <vt:lpstr>Open Drain Digital Logic Gate Examples</vt:lpstr>
      <vt:lpstr>Open Source Output Drivers</vt:lpstr>
      <vt:lpstr>Open Source Output Drivers</vt:lpstr>
      <vt:lpstr>Open Source Digital Logic Gate Examples</vt:lpstr>
      <vt:lpstr>Open Source Digital Logic Gate Examples</vt:lpstr>
      <vt:lpstr>Open Source Digital Logic Gate Examples</vt:lpstr>
      <vt:lpstr>Open Source Digital Logic Gate Examples</vt:lpstr>
      <vt:lpstr>Open Source Digital Logic Gate Examples</vt:lpstr>
      <vt:lpstr>Tri-State Output Drivers</vt:lpstr>
      <vt:lpstr>Tri-State Output Drivers</vt:lpstr>
      <vt:lpstr>Tri-State Output Drivers</vt:lpstr>
      <vt:lpstr>Tri-State Output Drivers</vt:lpstr>
      <vt:lpstr>Tri-State Output Drivers</vt:lpstr>
      <vt:lpstr>Tri-State Output Drivers</vt:lpstr>
      <vt:lpstr>Signal Notations for Inversion</vt:lpstr>
      <vt:lpstr>Signal Notations for Inversion</vt:lpstr>
      <vt:lpstr>Signal Notations for Inversion</vt:lpstr>
    </vt:vector>
  </TitlesOfParts>
  <Company>University of Waterloo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Tutorial 01</dc:title>
  <dc:subject>ECE 224: Embedded Microprocessor Systems</dc:subject>
  <dc:creator>William Bishop</dc:creator>
  <cp:lastModifiedBy>William Bishop</cp:lastModifiedBy>
  <cp:revision>66</cp:revision>
  <dcterms:created xsi:type="dcterms:W3CDTF">2020-05-15T00:04:42Z</dcterms:created>
  <dcterms:modified xsi:type="dcterms:W3CDTF">2021-09-08T01:11:20Z</dcterms:modified>
</cp:coreProperties>
</file>